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9" r:id="rId4"/>
    <p:sldId id="260" r:id="rId5"/>
    <p:sldId id="261" r:id="rId6"/>
    <p:sldId id="263" r:id="rId7"/>
    <p:sldId id="264" r:id="rId8"/>
    <p:sldId id="258" r:id="rId9"/>
    <p:sldId id="262" r:id="rId10"/>
    <p:sldId id="265" r:id="rId11"/>
    <p:sldId id="266" r:id="rId12"/>
    <p:sldId id="267" r:id="rId13"/>
    <p:sldId id="268" r:id="rId14"/>
    <p:sldId id="269" r:id="rId15"/>
    <p:sldId id="270" r:id="rId16"/>
    <p:sldId id="273" r:id="rId17"/>
    <p:sldId id="274" r:id="rId18"/>
    <p:sldId id="271" r:id="rId19"/>
    <p:sldId id="272" r:id="rId20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288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D3C1EE-5750-4E00-67F4-1121EADE3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6B0888-0FF9-C3AF-76FD-5C4A2FC45B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367F62-C1CF-51CA-1F49-89A937BEC3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A26D0A-995F-0503-7858-35D0723C13CC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34740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B212F-0A71-1A94-5E8C-1577BBA82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EBF351-5524-F7B5-AB8A-78C1E41A9A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18CE9F-F31E-FA54-78BD-262B4006E7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72C8E5-A078-E366-E9DC-A76285FC91B8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4408096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jpe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jpeg"/><Relationship Id="rId9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E62B631-CA26-4ACE-B604-3DB81EDA2840}"/>
              </a:ext>
            </a:extLst>
          </p:cNvPr>
          <p:cNvSpPr>
            <a:spLocks noGrp="1"/>
          </p:cNvSpPr>
          <p:nvPr/>
        </p:nvSpPr>
        <p:spPr>
          <a:xfrm>
            <a:off x="11430000" y="0"/>
            <a:ext cx="762000" cy="6858000"/>
          </a:xfrm>
          <a:prstGeom prst="rect">
            <a:avLst/>
          </a:prstGeom>
          <a:solidFill>
            <a:srgbClr val="7A003C"/>
          </a:solidFill>
          <a:ln w="0">
            <a:solidFill>
              <a:srgbClr val="7A00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D1FD73D-AC85-416C-9B26-4FCFB847E01D}"/>
              </a:ext>
            </a:extLst>
          </p:cNvPr>
          <p:cNvSpPr>
            <a:spLocks noGrp="1"/>
          </p:cNvSpPr>
          <p:nvPr/>
        </p:nvSpPr>
        <p:spPr>
          <a:xfrm>
            <a:off x="552450" y="1619250"/>
            <a:ext cx="66675" cy="4333875"/>
          </a:xfrm>
          <a:prstGeom prst="rect">
            <a:avLst/>
          </a:prstGeom>
          <a:solidFill>
            <a:srgbClr val="7A003C"/>
          </a:solidFill>
          <a:ln w="0">
            <a:solidFill>
              <a:srgbClr val="7A00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1589C2A-30EF-4B2F-B119-CE9A7BFAE89F}"/>
              </a:ext>
            </a:extLst>
          </p:cNvPr>
          <p:cNvSpPr>
            <a:spLocks noGrp="1"/>
          </p:cNvSpPr>
          <p:nvPr/>
        </p:nvSpPr>
        <p:spPr>
          <a:xfrm>
            <a:off x="742950" y="1619250"/>
            <a:ext cx="38100" cy="4333875"/>
          </a:xfrm>
          <a:prstGeom prst="rect">
            <a:avLst/>
          </a:prstGeom>
          <a:solidFill>
            <a:srgbClr val="9A174D"/>
          </a:solidFill>
          <a:ln w="0">
            <a:solidFill>
              <a:srgbClr val="9A174D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8" name="Picture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66750" y="501079"/>
            <a:ext cx="952500" cy="674242"/>
          </a:xfrm>
          <a:prstGeom prst="rect">
            <a:avLst/>
          </a:prstGeom>
        </p:spPr>
      </p:pic>
      <p:pic>
        <p:nvPicPr>
          <p:cNvPr id="19" name="Picture 16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810750" y="333876"/>
            <a:ext cx="1095375" cy="98007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EE7DA14-3E8E-44A6-AADC-CC818CEEC804}"/>
              </a:ext>
            </a:extLst>
          </p:cNvPr>
          <p:cNvSpPr>
            <a:spLocks noGrp="1"/>
          </p:cNvSpPr>
          <p:nvPr/>
        </p:nvSpPr>
        <p:spPr>
          <a:xfrm>
            <a:off x="1952625" y="361950"/>
            <a:ext cx="74295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875" b="1" i="0">
                <a:solidFill>
                  <a:srgbClr val="13233A"/>
                </a:solidFill>
              </a:defRPr>
            </a:pPr>
            <a:r>
              <a:rPr sz="1875" b="1" i="0">
                <a:solidFill>
                  <a:srgbClr val="13233A"/>
                </a:solidFill>
              </a:rPr>
              <a:t>INSTITUTO POLITÉCNICO NACIONAL</a:t>
            </a:r>
          </a:p>
          <a:p>
            <a:pPr algn="ctr">
              <a:buNone/>
              <a:defRPr sz="1875" b="1" i="0">
                <a:solidFill>
                  <a:srgbClr val="13233A"/>
                </a:solidFill>
              </a:defRPr>
            </a:pPr>
            <a:r>
              <a:rPr sz="1875" b="1" i="0">
                <a:solidFill>
                  <a:srgbClr val="13233A"/>
                </a:solidFill>
              </a:rPr>
              <a:t>ESCUELA SUPERIOR DE INGENIERÍA MECÁNICA Y ELÉCTRICA</a:t>
            </a:r>
          </a:p>
          <a:p>
            <a:pPr algn="ctr">
              <a:buNone/>
              <a:defRPr sz="1875" b="1" i="0">
                <a:solidFill>
                  <a:srgbClr val="13233A"/>
                </a:solidFill>
              </a:defRPr>
            </a:pPr>
            <a:r>
              <a:rPr sz="1875" b="1" i="0">
                <a:solidFill>
                  <a:srgbClr val="13233A"/>
                </a:solidFill>
              </a:rPr>
              <a:t>UNIDAD CULHUACÁN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47A482E-76DB-4606-981D-37322B464C70}"/>
              </a:ext>
            </a:extLst>
          </p:cNvPr>
          <p:cNvSpPr>
            <a:spLocks noGrp="1"/>
          </p:cNvSpPr>
          <p:nvPr/>
        </p:nvSpPr>
        <p:spPr>
          <a:xfrm>
            <a:off x="2000250" y="1733550"/>
            <a:ext cx="2000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75" b="1" i="0">
                <a:solidFill>
                  <a:srgbClr val="7A003C"/>
                </a:solidFill>
              </a:defRPr>
            </a:pPr>
            <a:r>
              <a:rPr sz="1875" b="1" i="0">
                <a:solidFill>
                  <a:srgbClr val="7A003C"/>
                </a:solidFill>
              </a:rPr>
              <a:t>TESINA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77A5500-8A10-438E-9B2D-CF2577A39CEC}"/>
              </a:ext>
            </a:extLst>
          </p:cNvPr>
          <p:cNvSpPr>
            <a:spLocks noGrp="1"/>
          </p:cNvSpPr>
          <p:nvPr/>
        </p:nvSpPr>
        <p:spPr>
          <a:xfrm>
            <a:off x="2000250" y="2190750"/>
            <a:ext cx="762000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250" b="1" i="0">
                <a:solidFill>
                  <a:srgbClr val="13233A"/>
                </a:solidFill>
              </a:defRPr>
            </a:pPr>
            <a:r>
              <a:rPr sz="2250" b="1" i="0">
                <a:solidFill>
                  <a:srgbClr val="13233A"/>
                </a:solidFill>
              </a:rPr>
              <a:t>Ecosistema multiagente basado en LLM y aprendizaje por refuerzo para la generación y validación de circuitos analógicos CA/CD a partir de lenguaje natural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62CA780-EBB8-4034-96B7-FA3F2D5203FD}"/>
              </a:ext>
            </a:extLst>
          </p:cNvPr>
          <p:cNvSpPr>
            <a:spLocks noGrp="1"/>
          </p:cNvSpPr>
          <p:nvPr/>
        </p:nvSpPr>
        <p:spPr>
          <a:xfrm>
            <a:off x="2000250" y="3571875"/>
            <a:ext cx="552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 i="0">
                <a:solidFill>
                  <a:srgbClr val="667085"/>
                </a:solidFill>
              </a:defRPr>
            </a:pPr>
            <a:r>
              <a:rPr sz="1350" b="0" i="0">
                <a:solidFill>
                  <a:srgbClr val="667085"/>
                </a:solidFill>
              </a:rPr>
              <a:t>Para obtener el título de Ingeniero en Computación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6E35FC5-A66A-4ADD-9E47-B1CC6938A81A}"/>
              </a:ext>
            </a:extLst>
          </p:cNvPr>
          <p:cNvSpPr>
            <a:spLocks noGrp="1"/>
          </p:cNvSpPr>
          <p:nvPr/>
        </p:nvSpPr>
        <p:spPr>
          <a:xfrm>
            <a:off x="2000250" y="4095750"/>
            <a:ext cx="4953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1" i="0">
                <a:solidFill>
                  <a:srgbClr val="13233A"/>
                </a:solidFill>
              </a:defRPr>
            </a:pPr>
            <a:r>
              <a:rPr sz="1575" b="1" i="0">
                <a:solidFill>
                  <a:srgbClr val="13233A"/>
                </a:solidFill>
              </a:rPr>
              <a:t>Antonio de Jesus Torres Martínez</a:t>
            </a:r>
          </a:p>
          <a:p>
            <a:pPr algn="l">
              <a:buNone/>
              <a:defRPr sz="1575" b="1" i="0">
                <a:solidFill>
                  <a:srgbClr val="13233A"/>
                </a:solidFill>
              </a:defRPr>
            </a:pPr>
            <a:r>
              <a:rPr sz="1575" b="1" i="0">
                <a:solidFill>
                  <a:srgbClr val="13233A"/>
                </a:solidFill>
              </a:rPr>
              <a:t>Diego Jesus Gutierrez Delgado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39A83DD-4FF0-4F89-8C07-95957620F288}"/>
              </a:ext>
            </a:extLst>
          </p:cNvPr>
          <p:cNvSpPr>
            <a:spLocks noGrp="1"/>
          </p:cNvSpPr>
          <p:nvPr/>
        </p:nvSpPr>
        <p:spPr>
          <a:xfrm>
            <a:off x="2000250" y="5191125"/>
            <a:ext cx="5905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 i="0">
                <a:solidFill>
                  <a:srgbClr val="667085"/>
                </a:solidFill>
              </a:defRPr>
            </a:pPr>
            <a:r>
              <a:rPr sz="1350" b="0" i="0" dirty="0" err="1">
                <a:solidFill>
                  <a:srgbClr val="667085"/>
                </a:solidFill>
              </a:rPr>
              <a:t>Asesor</a:t>
            </a:r>
            <a:r>
              <a:rPr sz="1350" b="0" i="0" dirty="0">
                <a:solidFill>
                  <a:srgbClr val="667085"/>
                </a:solidFill>
              </a:rPr>
              <a:t>: Ricardo Israel Calzada Salas</a:t>
            </a:r>
          </a:p>
          <a:p>
            <a:pPr algn="l">
              <a:buNone/>
              <a:defRPr sz="1350" b="0" i="0">
                <a:solidFill>
                  <a:srgbClr val="667085"/>
                </a:solidFill>
              </a:defRPr>
            </a:pPr>
            <a:r>
              <a:rPr sz="1350" b="0" i="0" dirty="0">
                <a:solidFill>
                  <a:srgbClr val="667085"/>
                </a:solidFill>
              </a:rPr>
              <a:t>Ciudad de México · </a:t>
            </a:r>
            <a:r>
              <a:rPr lang="en-US" sz="1350" b="0" i="0" dirty="0" err="1">
                <a:solidFill>
                  <a:srgbClr val="667085"/>
                </a:solidFill>
              </a:rPr>
              <a:t>julio</a:t>
            </a:r>
            <a:r>
              <a:rPr sz="1350" b="0" i="0" dirty="0">
                <a:solidFill>
                  <a:srgbClr val="667085"/>
                </a:solidFill>
              </a:rPr>
              <a:t> 2026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0DA9AA1-0225-4539-B586-A34D4DDD01D1}"/>
              </a:ext>
            </a:extLst>
          </p:cNvPr>
          <p:cNvSpPr>
            <a:spLocks noGrp="1"/>
          </p:cNvSpPr>
          <p:nvPr/>
        </p:nvSpPr>
        <p:spPr>
          <a:xfrm>
            <a:off x="10572750" y="6286500"/>
            <a:ext cx="5524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0" i="0">
                <a:solidFill>
                  <a:srgbClr val="667085"/>
                </a:solidFill>
              </a:defRPr>
            </a:pPr>
            <a:r>
              <a:rPr sz="1050" b="0" i="0">
                <a:solidFill>
                  <a:srgbClr val="667085"/>
                </a:solidFill>
              </a:rPr>
              <a:t>1/17</a:t>
            </a:r>
          </a:p>
        </p:txBody>
      </p:sp>
    </p:spTree>
    <p:extLst>
      <p:ext uri="{BB962C8B-B14F-4D97-AF65-F5344CB8AC3E}">
        <p14:creationId xmlns:p14="http://schemas.microsoft.com/office/powerpoint/2010/main" val="6247765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130A058-F9DE-4350-957E-916D627C8B47}"/>
              </a:ext>
            </a:extLst>
          </p:cNvPr>
          <p:cNvSpPr>
            <a:spLocks noGrp="1"/>
          </p:cNvSpPr>
          <p:nvPr/>
        </p:nvSpPr>
        <p:spPr>
          <a:xfrm>
            <a:off x="438150" y="1066800"/>
            <a:ext cx="57150" cy="4953000"/>
          </a:xfrm>
          <a:prstGeom prst="rect">
            <a:avLst/>
          </a:prstGeom>
          <a:solidFill>
            <a:srgbClr val="7A003C"/>
          </a:solidFill>
          <a:ln w="0">
            <a:solidFill>
              <a:srgbClr val="7A00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5C298E-C5E8-4B97-9323-03A5EFD2AF32}"/>
              </a:ext>
            </a:extLst>
          </p:cNvPr>
          <p:cNvSpPr>
            <a:spLocks noGrp="1"/>
          </p:cNvSpPr>
          <p:nvPr/>
        </p:nvSpPr>
        <p:spPr>
          <a:xfrm>
            <a:off x="590550" y="1066800"/>
            <a:ext cx="28575" cy="4953000"/>
          </a:xfrm>
          <a:prstGeom prst="rect">
            <a:avLst/>
          </a:prstGeom>
          <a:solidFill>
            <a:srgbClr val="9A174D"/>
          </a:solidFill>
          <a:ln w="0">
            <a:solidFill>
              <a:srgbClr val="9A17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4CF7750-B1EF-4C08-A460-78CF196773F3}"/>
              </a:ext>
            </a:extLst>
          </p:cNvPr>
          <p:cNvSpPr>
            <a:spLocks noGrp="1"/>
          </p:cNvSpPr>
          <p:nvPr/>
        </p:nvSpPr>
        <p:spPr>
          <a:xfrm>
            <a:off x="857250" y="285750"/>
            <a:ext cx="723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 i="0">
                <a:solidFill>
                  <a:srgbClr val="667085"/>
                </a:solidFill>
              </a:defRPr>
            </a:pPr>
            <a:r>
              <a:rPr sz="1050" b="1" i="0">
                <a:solidFill>
                  <a:srgbClr val="667085"/>
                </a:solidFill>
              </a:rPr>
              <a:t>Instituto Politécnico Nacional · ESIME Culhuacán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211D02C-F9AB-45AA-9693-0921B61E5A1E}"/>
              </a:ext>
            </a:extLst>
          </p:cNvPr>
          <p:cNvSpPr>
            <a:spLocks noGrp="1"/>
          </p:cNvSpPr>
          <p:nvPr/>
        </p:nvSpPr>
        <p:spPr>
          <a:xfrm>
            <a:off x="857250" y="590550"/>
            <a:ext cx="9144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550" b="1" i="0">
                <a:solidFill>
                  <a:srgbClr val="13233A"/>
                </a:solidFill>
              </a:defRPr>
            </a:pPr>
            <a:r>
              <a:rPr sz="2550" b="1" i="0">
                <a:solidFill>
                  <a:srgbClr val="13233A"/>
                </a:solidFill>
              </a:rPr>
              <a:t>Ruta de la exposición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621E5E-C38A-405D-B87B-FBA06A038B20}"/>
              </a:ext>
            </a:extLst>
          </p:cNvPr>
          <p:cNvSpPr>
            <a:spLocks noGrp="1"/>
          </p:cNvSpPr>
          <p:nvPr/>
        </p:nvSpPr>
        <p:spPr>
          <a:xfrm>
            <a:off x="10572750" y="6286500"/>
            <a:ext cx="5524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0" i="0">
                <a:solidFill>
                  <a:srgbClr val="667085"/>
                </a:solidFill>
              </a:defRPr>
            </a:pPr>
            <a:r>
              <a:rPr sz="1050" b="0" i="0">
                <a:solidFill>
                  <a:srgbClr val="667085"/>
                </a:solidFill>
              </a:rPr>
              <a:t>2/17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E7803FE-CEC1-4C31-851A-78FF8BD7DEDC}"/>
              </a:ext>
            </a:extLst>
          </p:cNvPr>
          <p:cNvSpPr>
            <a:spLocks noGrp="1"/>
          </p:cNvSpPr>
          <p:nvPr/>
        </p:nvSpPr>
        <p:spPr>
          <a:xfrm>
            <a:off x="838200" y="2619375"/>
            <a:ext cx="1219200" cy="952500"/>
          </a:xfrm>
          <a:prstGeom prst="roundRect">
            <a:avLst>
              <a:gd name="adj" fmla="val 8000"/>
            </a:avLst>
          </a:prstGeom>
          <a:solidFill>
            <a:srgbClr val="7A003C"/>
          </a:solidFill>
          <a:ln w="9525">
            <a:solidFill>
              <a:srgbClr val="7A003C"/>
            </a:solidFill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lang="en-US" sz="1350" b="1" dirty="0">
                <a:solidFill>
                  <a:srgbClr val="FFFFFF"/>
                </a:solidFill>
              </a:rPr>
              <a:t>1</a:t>
            </a:r>
            <a:endParaRPr sz="1350" b="1" dirty="0">
              <a:solidFill>
                <a:srgbClr val="FFFFFF"/>
              </a:solidFill>
            </a:endParaRPr>
          </a:p>
          <a:p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lang="en-US" sz="1350" b="1" dirty="0" err="1">
                <a:solidFill>
                  <a:srgbClr val="FFFFFF"/>
                </a:solidFill>
              </a:rPr>
              <a:t>Problema</a:t>
            </a:r>
            <a:endParaRPr sz="1350" b="1" dirty="0">
              <a:solidFill>
                <a:srgbClr val="FFFFFF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4394BDC-BE46-45AE-B093-F2F5636DDC2E}"/>
              </a:ext>
            </a:extLst>
          </p:cNvPr>
          <p:cNvSpPr>
            <a:spLocks noGrp="1"/>
          </p:cNvSpPr>
          <p:nvPr/>
        </p:nvSpPr>
        <p:spPr>
          <a:xfrm>
            <a:off x="2476500" y="2619375"/>
            <a:ext cx="121920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13233A"/>
                </a:solidFill>
              </a:defRPr>
            </a:pPr>
            <a:r>
              <a:rPr lang="en-US" sz="1350" b="1" dirty="0">
                <a:solidFill>
                  <a:srgbClr val="13233A"/>
                </a:solidFill>
              </a:rPr>
              <a:t>2</a:t>
            </a:r>
            <a:endParaRPr sz="1350" b="1" dirty="0">
              <a:solidFill>
                <a:srgbClr val="13233A"/>
              </a:solidFill>
            </a:endParaRPr>
          </a:p>
          <a:p>
            <a:pPr algn="ctr">
              <a:buNone/>
              <a:defRPr sz="1350" b="1">
                <a:solidFill>
                  <a:srgbClr val="13233A"/>
                </a:solidFill>
              </a:defRPr>
            </a:pPr>
            <a:r>
              <a:rPr lang="en-US" sz="1350" b="1" dirty="0">
                <a:solidFill>
                  <a:srgbClr val="13233A"/>
                </a:solidFill>
              </a:rPr>
              <a:t>Estado del </a:t>
            </a:r>
            <a:r>
              <a:rPr lang="en-US" sz="1350" b="1" dirty="0" err="1">
                <a:solidFill>
                  <a:srgbClr val="13233A"/>
                </a:solidFill>
              </a:rPr>
              <a:t>arte</a:t>
            </a:r>
            <a:endParaRPr sz="1350" b="1" dirty="0">
              <a:solidFill>
                <a:srgbClr val="13233A"/>
              </a:solidFill>
            </a:endParaRPr>
          </a:p>
        </p:txBody>
      </p:sp>
      <p:cxnSp>
        <p:nvCxnSpPr>
          <p:cNvPr id="58" name="Straight Arrow Connector 57"/>
          <p:cNvCxnSpPr>
            <a:stCxn id="7" idx="3"/>
            <a:endCxn id="8" idx="1"/>
          </p:cNvCxnSpPr>
          <p:nvPr/>
        </p:nvCxnSpPr>
        <p:spPr>
          <a:xfrm>
            <a:off x="2057400" y="3095625"/>
            <a:ext cx="419100" cy="0"/>
          </a:xfrm>
          <a:prstGeom prst="straightConnector1">
            <a:avLst/>
          </a:prstGeom>
          <a:ln w="19050">
            <a:solidFill>
              <a:srgbClr val="B88A44"/>
            </a:solidFill>
            <a:prstDash val="solid"/>
            <a:tailEnd type="arrow" w="med" len="med"/>
          </a:ln>
        </p:spPr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1CCB0B4-88D7-450D-AA97-86C58092C189}"/>
              </a:ext>
            </a:extLst>
          </p:cNvPr>
          <p:cNvSpPr>
            <a:spLocks noGrp="1"/>
          </p:cNvSpPr>
          <p:nvPr/>
        </p:nvSpPr>
        <p:spPr>
          <a:xfrm>
            <a:off x="4114800" y="2619375"/>
            <a:ext cx="121920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13233A"/>
                </a:solidFill>
              </a:defRPr>
            </a:pPr>
            <a:r>
              <a:rPr lang="en-US" sz="1350" b="1" dirty="0">
                <a:solidFill>
                  <a:srgbClr val="13233A"/>
                </a:solidFill>
              </a:rPr>
              <a:t>3</a:t>
            </a:r>
            <a:endParaRPr sz="1350" b="1" dirty="0">
              <a:solidFill>
                <a:srgbClr val="13233A"/>
              </a:solidFill>
            </a:endParaRPr>
          </a:p>
          <a:p>
            <a:pPr algn="ctr">
              <a:buNone/>
              <a:defRPr sz="1350" b="1">
                <a:solidFill>
                  <a:srgbClr val="13233A"/>
                </a:solidFill>
              </a:defRPr>
            </a:pPr>
            <a:r>
              <a:rPr lang="en-US" sz="1350" b="1" dirty="0" err="1">
                <a:solidFill>
                  <a:srgbClr val="13233A"/>
                </a:solidFill>
              </a:rPr>
              <a:t>Contexto</a:t>
            </a:r>
            <a:endParaRPr sz="1350" b="1" dirty="0">
              <a:solidFill>
                <a:srgbClr val="13233A"/>
              </a:solidFill>
            </a:endParaRPr>
          </a:p>
        </p:txBody>
      </p:sp>
      <p:cxnSp>
        <p:nvCxnSpPr>
          <p:cNvPr id="60" name="Straight Arrow Connector 59"/>
          <p:cNvCxnSpPr>
            <a:stCxn id="8" idx="3"/>
            <a:endCxn id="10" idx="1"/>
          </p:cNvCxnSpPr>
          <p:nvPr/>
        </p:nvCxnSpPr>
        <p:spPr>
          <a:xfrm>
            <a:off x="3695700" y="3095625"/>
            <a:ext cx="419100" cy="0"/>
          </a:xfrm>
          <a:prstGeom prst="straightConnector1">
            <a:avLst/>
          </a:prstGeom>
          <a:ln w="19050">
            <a:solidFill>
              <a:srgbClr val="B88A44"/>
            </a:solidFill>
            <a:prstDash val="solid"/>
            <a:tailEnd type="arrow" w="med" len="med"/>
          </a:ln>
        </p:spPr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5E8B18D-4ACB-4EC8-A71F-B2F26CDC6263}"/>
              </a:ext>
            </a:extLst>
          </p:cNvPr>
          <p:cNvSpPr>
            <a:spLocks noGrp="1"/>
          </p:cNvSpPr>
          <p:nvPr/>
        </p:nvSpPr>
        <p:spPr>
          <a:xfrm>
            <a:off x="5753100" y="2619375"/>
            <a:ext cx="121920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13233A"/>
                </a:solidFill>
              </a:defRPr>
            </a:pPr>
            <a:r>
              <a:rPr lang="en-US" sz="1350" b="1" dirty="0">
                <a:solidFill>
                  <a:srgbClr val="13233A"/>
                </a:solidFill>
              </a:rPr>
              <a:t>3</a:t>
            </a:r>
            <a:endParaRPr sz="1350" b="1" dirty="0">
              <a:solidFill>
                <a:srgbClr val="13233A"/>
              </a:solidFill>
            </a:endParaRPr>
          </a:p>
          <a:p>
            <a:pPr algn="ctr">
              <a:buNone/>
              <a:defRPr sz="1350" b="1">
                <a:solidFill>
                  <a:srgbClr val="13233A"/>
                </a:solidFill>
              </a:defRPr>
            </a:pPr>
            <a:r>
              <a:rPr lang="en-US" sz="1350" b="1" dirty="0">
                <a:solidFill>
                  <a:srgbClr val="13233A"/>
                </a:solidFill>
              </a:rPr>
              <a:t>Marco </a:t>
            </a:r>
            <a:r>
              <a:rPr lang="en-US" sz="1350" b="1" dirty="0" err="1">
                <a:solidFill>
                  <a:srgbClr val="13233A"/>
                </a:solidFill>
              </a:rPr>
              <a:t>Teorico</a:t>
            </a:r>
            <a:endParaRPr lang="en-US" sz="1350" b="1" dirty="0">
              <a:solidFill>
                <a:srgbClr val="13233A"/>
              </a:solidFill>
            </a:endParaRPr>
          </a:p>
          <a:p>
            <a:pPr algn="ctr">
              <a:buNone/>
              <a:defRPr sz="1350" b="1">
                <a:solidFill>
                  <a:srgbClr val="13233A"/>
                </a:solidFill>
              </a:defRPr>
            </a:pPr>
            <a:endParaRPr sz="1350" b="1" dirty="0">
              <a:solidFill>
                <a:srgbClr val="13233A"/>
              </a:solidFill>
            </a:endParaRPr>
          </a:p>
        </p:txBody>
      </p:sp>
      <p:cxnSp>
        <p:nvCxnSpPr>
          <p:cNvPr id="62" name="Straight Arrow Connector 61"/>
          <p:cNvCxnSpPr>
            <a:stCxn id="10" idx="3"/>
            <a:endCxn id="12" idx="1"/>
          </p:cNvCxnSpPr>
          <p:nvPr/>
        </p:nvCxnSpPr>
        <p:spPr>
          <a:xfrm>
            <a:off x="5334000" y="3095625"/>
            <a:ext cx="419100" cy="0"/>
          </a:xfrm>
          <a:prstGeom prst="straightConnector1">
            <a:avLst/>
          </a:prstGeom>
          <a:ln w="19050">
            <a:solidFill>
              <a:srgbClr val="B88A44"/>
            </a:solidFill>
            <a:prstDash val="solid"/>
            <a:tailEnd type="arrow" w="med" len="med"/>
          </a:ln>
        </p:spPr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8DA2035-A41F-4754-8BF7-00E9913D6BC1}"/>
              </a:ext>
            </a:extLst>
          </p:cNvPr>
          <p:cNvSpPr>
            <a:spLocks noGrp="1"/>
          </p:cNvSpPr>
          <p:nvPr/>
        </p:nvSpPr>
        <p:spPr>
          <a:xfrm>
            <a:off x="7391400" y="2619375"/>
            <a:ext cx="121920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13233A"/>
                </a:solidFill>
              </a:defRPr>
            </a:pPr>
            <a:r>
              <a:rPr lang="en-US" sz="1350" b="1" dirty="0">
                <a:solidFill>
                  <a:srgbClr val="13233A"/>
                </a:solidFill>
              </a:rPr>
              <a:t>4</a:t>
            </a:r>
            <a:endParaRPr sz="1350" b="1" dirty="0">
              <a:solidFill>
                <a:srgbClr val="13233A"/>
              </a:solidFill>
            </a:endParaRPr>
          </a:p>
          <a:p>
            <a:pPr algn="ctr">
              <a:buNone/>
              <a:defRPr sz="1350" b="1">
                <a:solidFill>
                  <a:srgbClr val="13233A"/>
                </a:solidFill>
              </a:defRPr>
            </a:pPr>
            <a:r>
              <a:rPr lang="en-US" sz="1350" b="1" dirty="0" err="1">
                <a:solidFill>
                  <a:srgbClr val="13233A"/>
                </a:solidFill>
              </a:rPr>
              <a:t>Solución</a:t>
            </a:r>
            <a:endParaRPr sz="1350" b="1" dirty="0">
              <a:solidFill>
                <a:srgbClr val="13233A"/>
              </a:solidFill>
            </a:endParaRPr>
          </a:p>
        </p:txBody>
      </p:sp>
      <p:cxnSp>
        <p:nvCxnSpPr>
          <p:cNvPr id="64" name="Straight Arrow Connector 63"/>
          <p:cNvCxnSpPr>
            <a:stCxn id="12" idx="3"/>
            <a:endCxn id="14" idx="1"/>
          </p:cNvCxnSpPr>
          <p:nvPr/>
        </p:nvCxnSpPr>
        <p:spPr>
          <a:xfrm>
            <a:off x="6972300" y="3095625"/>
            <a:ext cx="419100" cy="0"/>
          </a:xfrm>
          <a:prstGeom prst="straightConnector1">
            <a:avLst/>
          </a:prstGeom>
          <a:ln w="19050">
            <a:solidFill>
              <a:srgbClr val="B88A44"/>
            </a:solidFill>
            <a:prstDash val="solid"/>
            <a:tailEnd type="arrow" w="med" len="med"/>
          </a:ln>
        </p:spPr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93DBF43-64E6-46CB-B9B6-CB8ACBBE4762}"/>
              </a:ext>
            </a:extLst>
          </p:cNvPr>
          <p:cNvSpPr>
            <a:spLocks noGrp="1"/>
          </p:cNvSpPr>
          <p:nvPr/>
        </p:nvSpPr>
        <p:spPr>
          <a:xfrm>
            <a:off x="9029700" y="2619375"/>
            <a:ext cx="121920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13233A"/>
                </a:solidFill>
              </a:defRPr>
            </a:pPr>
            <a:r>
              <a:rPr lang="en-US" sz="1350" b="1" dirty="0">
                <a:solidFill>
                  <a:srgbClr val="13233A"/>
                </a:solidFill>
              </a:rPr>
              <a:t>5</a:t>
            </a:r>
            <a:endParaRPr sz="1350" b="1" dirty="0">
              <a:solidFill>
                <a:srgbClr val="13233A"/>
              </a:solidFill>
            </a:endParaRPr>
          </a:p>
          <a:p>
            <a:pPr algn="ctr">
              <a:buNone/>
              <a:defRPr sz="1350" b="1">
                <a:solidFill>
                  <a:srgbClr val="13233A"/>
                </a:solidFill>
              </a:defRPr>
            </a:pPr>
            <a:r>
              <a:rPr lang="en-US" sz="1350" b="1" dirty="0" err="1">
                <a:solidFill>
                  <a:srgbClr val="13233A"/>
                </a:solidFill>
              </a:rPr>
              <a:t>Construcción</a:t>
            </a:r>
            <a:endParaRPr sz="1350" b="1" dirty="0">
              <a:solidFill>
                <a:srgbClr val="13233A"/>
              </a:solidFill>
            </a:endParaRPr>
          </a:p>
        </p:txBody>
      </p:sp>
      <p:cxnSp>
        <p:nvCxnSpPr>
          <p:cNvPr id="66" name="Straight Arrow Connector 65"/>
          <p:cNvCxnSpPr>
            <a:stCxn id="14" idx="3"/>
            <a:endCxn id="16" idx="1"/>
          </p:cNvCxnSpPr>
          <p:nvPr/>
        </p:nvCxnSpPr>
        <p:spPr>
          <a:xfrm>
            <a:off x="8610600" y="3095625"/>
            <a:ext cx="419100" cy="0"/>
          </a:xfrm>
          <a:prstGeom prst="straightConnector1">
            <a:avLst/>
          </a:prstGeom>
          <a:ln w="19050">
            <a:solidFill>
              <a:srgbClr val="B88A44"/>
            </a:solidFill>
            <a:prstDash val="solid"/>
            <a:tailEnd type="arrow" w="med" len="med"/>
          </a:ln>
        </p:spPr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DE0097E-DB20-BE48-5B41-DE8FE92D7DA9}"/>
              </a:ext>
            </a:extLst>
          </p:cNvPr>
          <p:cNvSpPr>
            <a:spLocks noGrp="1"/>
          </p:cNvSpPr>
          <p:nvPr/>
        </p:nvSpPr>
        <p:spPr>
          <a:xfrm>
            <a:off x="10668000" y="2619375"/>
            <a:ext cx="121920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13233A"/>
                </a:solidFill>
              </a:defRPr>
            </a:pPr>
            <a:r>
              <a:rPr sz="1350" b="1">
                <a:solidFill>
                  <a:srgbClr val="13233A"/>
                </a:solidFill>
              </a:rPr>
              <a:t>6</a:t>
            </a:r>
          </a:p>
          <a:p>
            <a:pPr algn="ctr">
              <a:buNone/>
              <a:defRPr sz="1350" b="1">
                <a:solidFill>
                  <a:srgbClr val="13233A"/>
                </a:solidFill>
              </a:defRPr>
            </a:pPr>
            <a:r>
              <a:rPr sz="1350" b="1">
                <a:solidFill>
                  <a:srgbClr val="13233A"/>
                </a:solidFill>
              </a:rPr>
              <a:t>Cierre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79936ED-7CAB-4A51-0A15-E98B877AB5F3}"/>
              </a:ext>
            </a:extLst>
          </p:cNvPr>
          <p:cNvCxnSpPr>
            <a:endCxn id="9" idx="1"/>
          </p:cNvCxnSpPr>
          <p:nvPr/>
        </p:nvCxnSpPr>
        <p:spPr>
          <a:xfrm>
            <a:off x="10248900" y="3095625"/>
            <a:ext cx="419100" cy="0"/>
          </a:xfrm>
          <a:prstGeom prst="straightConnector1">
            <a:avLst/>
          </a:prstGeom>
          <a:ln w="19050">
            <a:solidFill>
              <a:srgbClr val="B88A44"/>
            </a:solidFill>
            <a:prstDash val="solid"/>
            <a:tailEnd type="arrow" w="med" len="med"/>
          </a:ln>
        </p:spPr>
      </p:cxnSp>
    </p:spTree>
    <p:extLst>
      <p:ext uri="{BB962C8B-B14F-4D97-AF65-F5344CB8AC3E}">
        <p14:creationId xmlns:p14="http://schemas.microsoft.com/office/powerpoint/2010/main" val="642275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E2F201D-88C2-4D8A-A566-0FD152FD98DB}"/>
              </a:ext>
            </a:extLst>
          </p:cNvPr>
          <p:cNvSpPr>
            <a:spLocks noGrp="1"/>
          </p:cNvSpPr>
          <p:nvPr/>
        </p:nvSpPr>
        <p:spPr>
          <a:xfrm>
            <a:off x="11525250" y="0"/>
            <a:ext cx="666750" cy="6858000"/>
          </a:xfrm>
          <a:prstGeom prst="rect">
            <a:avLst/>
          </a:prstGeom>
          <a:solidFill>
            <a:srgbClr val="7A003C"/>
          </a:solidFill>
          <a:ln w="0">
            <a:solidFill>
              <a:srgbClr val="7A00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3C8E84F-8AD6-4258-9225-D1B6BB101750}"/>
              </a:ext>
            </a:extLst>
          </p:cNvPr>
          <p:cNvSpPr>
            <a:spLocks noGrp="1"/>
          </p:cNvSpPr>
          <p:nvPr/>
        </p:nvSpPr>
        <p:spPr>
          <a:xfrm>
            <a:off x="438150" y="1066800"/>
            <a:ext cx="57150" cy="4953000"/>
          </a:xfrm>
          <a:prstGeom prst="rect">
            <a:avLst/>
          </a:prstGeom>
          <a:solidFill>
            <a:srgbClr val="7A003C"/>
          </a:solidFill>
          <a:ln w="0">
            <a:solidFill>
              <a:srgbClr val="7A00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1D611CE-9AF2-4BF1-89EE-61A26E52CE2C}"/>
              </a:ext>
            </a:extLst>
          </p:cNvPr>
          <p:cNvSpPr>
            <a:spLocks noGrp="1"/>
          </p:cNvSpPr>
          <p:nvPr/>
        </p:nvSpPr>
        <p:spPr>
          <a:xfrm>
            <a:off x="590550" y="1066800"/>
            <a:ext cx="28575" cy="4953000"/>
          </a:xfrm>
          <a:prstGeom prst="rect">
            <a:avLst/>
          </a:prstGeom>
          <a:solidFill>
            <a:srgbClr val="9A174D"/>
          </a:solidFill>
          <a:ln w="0">
            <a:solidFill>
              <a:srgbClr val="9A17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2F0854-1DFB-4855-A953-9E97E2BBD855}"/>
              </a:ext>
            </a:extLst>
          </p:cNvPr>
          <p:cNvSpPr>
            <a:spLocks noGrp="1"/>
          </p:cNvSpPr>
          <p:nvPr/>
        </p:nvSpPr>
        <p:spPr>
          <a:xfrm>
            <a:off x="857250" y="285750"/>
            <a:ext cx="723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 i="0">
                <a:solidFill>
                  <a:srgbClr val="667085"/>
                </a:solidFill>
              </a:defRPr>
            </a:pPr>
            <a:r>
              <a:rPr sz="1050" b="1" i="0">
                <a:solidFill>
                  <a:srgbClr val="667085"/>
                </a:solidFill>
              </a:rPr>
              <a:t>Instituto Politécnico Nacional · ESIME Culhuacán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E7975F-D122-46A6-84F5-E1F9DF91CE14}"/>
              </a:ext>
            </a:extLst>
          </p:cNvPr>
          <p:cNvSpPr>
            <a:spLocks noGrp="1"/>
          </p:cNvSpPr>
          <p:nvPr/>
        </p:nvSpPr>
        <p:spPr>
          <a:xfrm>
            <a:off x="857250" y="590550"/>
            <a:ext cx="9144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550" b="1" i="0">
                <a:solidFill>
                  <a:srgbClr val="13233A"/>
                </a:solidFill>
              </a:defRPr>
            </a:pPr>
            <a:r>
              <a:rPr sz="2550" b="1" i="0">
                <a:solidFill>
                  <a:srgbClr val="13233A"/>
                </a:solidFill>
              </a:rPr>
              <a:t>Problema técnico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0177144-EA5B-4640-9274-04B42DB53D0E}"/>
              </a:ext>
            </a:extLst>
          </p:cNvPr>
          <p:cNvSpPr>
            <a:spLocks noGrp="1"/>
          </p:cNvSpPr>
          <p:nvPr/>
        </p:nvSpPr>
        <p:spPr>
          <a:xfrm>
            <a:off x="10572750" y="6286500"/>
            <a:ext cx="5524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0" i="0">
                <a:solidFill>
                  <a:srgbClr val="667085"/>
                </a:solidFill>
              </a:defRPr>
            </a:pPr>
            <a:r>
              <a:rPr sz="1050" b="0" i="0">
                <a:solidFill>
                  <a:srgbClr val="667085"/>
                </a:solidFill>
              </a:rPr>
              <a:t>4/17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F4DE3C2-3D09-4948-BFE5-77D1B5692C86}"/>
              </a:ext>
            </a:extLst>
          </p:cNvPr>
          <p:cNvSpPr>
            <a:spLocks noGrp="1"/>
          </p:cNvSpPr>
          <p:nvPr/>
        </p:nvSpPr>
        <p:spPr>
          <a:xfrm>
            <a:off x="1047750" y="1381125"/>
            <a:ext cx="8953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 i="0">
                <a:solidFill>
                  <a:srgbClr val="13233A"/>
                </a:solidFill>
              </a:defRPr>
            </a:pPr>
            <a:r>
              <a:rPr lang="en-US" sz="1875" b="1" dirty="0"/>
              <a:t>¿Es </a:t>
            </a:r>
            <a:r>
              <a:rPr lang="en-US" sz="1875" b="1" dirty="0" err="1"/>
              <a:t>posible</a:t>
            </a:r>
            <a:r>
              <a:rPr lang="en-US" sz="1875" b="1" dirty="0"/>
              <a:t> </a:t>
            </a:r>
            <a:r>
              <a:rPr lang="en-US" sz="1875" b="1" dirty="0" err="1"/>
              <a:t>construir</a:t>
            </a:r>
            <a:r>
              <a:rPr lang="en-US" sz="1875" b="1" dirty="0"/>
              <a:t> un </a:t>
            </a:r>
            <a:r>
              <a:rPr lang="en-US" sz="1875" b="1" dirty="0" err="1"/>
              <a:t>ecosistema</a:t>
            </a:r>
            <a:r>
              <a:rPr lang="en-US" sz="1875" b="1" dirty="0"/>
              <a:t> de </a:t>
            </a:r>
            <a:r>
              <a:rPr lang="en-US" sz="1875" b="1" dirty="0" err="1"/>
              <a:t>varios</a:t>
            </a:r>
            <a:r>
              <a:rPr lang="en-US" sz="1875" b="1" dirty="0"/>
              <a:t> </a:t>
            </a:r>
            <a:r>
              <a:rPr lang="en-US" sz="1875" b="1" dirty="0" err="1"/>
              <a:t>agentes</a:t>
            </a:r>
            <a:r>
              <a:rPr lang="en-US" sz="1875" b="1" dirty="0"/>
              <a:t> </a:t>
            </a:r>
            <a:r>
              <a:rPr lang="en-US" sz="1875" b="1" dirty="0" err="1"/>
              <a:t>que</a:t>
            </a:r>
            <a:r>
              <a:rPr lang="en-US" sz="1875" b="1" dirty="0"/>
              <a:t>, a </a:t>
            </a:r>
            <a:r>
              <a:rPr lang="en-US" sz="1875" b="1" dirty="0" err="1"/>
              <a:t>partir</a:t>
            </a:r>
            <a:r>
              <a:rPr lang="en-US" sz="1875" b="1" dirty="0"/>
              <a:t> de </a:t>
            </a:r>
            <a:r>
              <a:rPr lang="en-US" sz="1875" b="1" dirty="0" err="1"/>
              <a:t>una</a:t>
            </a:r>
            <a:r>
              <a:rPr lang="en-US" sz="1875" b="1" dirty="0"/>
              <a:t> </a:t>
            </a:r>
            <a:r>
              <a:rPr lang="en-US" sz="1875" b="1" dirty="0" err="1"/>
              <a:t>descripción</a:t>
            </a:r>
            <a:r>
              <a:rPr lang="en-US" sz="1875" b="1" dirty="0"/>
              <a:t> </a:t>
            </a:r>
            <a:r>
              <a:rPr lang="en-US" sz="1875" b="1" dirty="0" err="1"/>
              <a:t>en</a:t>
            </a:r>
            <a:r>
              <a:rPr lang="en-US" sz="1875" b="1" dirty="0"/>
              <a:t> </a:t>
            </a:r>
            <a:r>
              <a:rPr lang="en-US" sz="1875" b="1" dirty="0" err="1"/>
              <a:t>lenguaje</a:t>
            </a:r>
            <a:r>
              <a:rPr lang="en-US" sz="1875" b="1" dirty="0"/>
              <a:t> natural, </a:t>
            </a:r>
            <a:r>
              <a:rPr lang="en-US" sz="1875" b="1" dirty="0" err="1"/>
              <a:t>genere</a:t>
            </a:r>
            <a:r>
              <a:rPr lang="en-US" sz="1875" b="1" dirty="0"/>
              <a:t> un </a:t>
            </a:r>
            <a:r>
              <a:rPr lang="en-US" sz="1875" b="1" dirty="0" err="1"/>
              <a:t>circuito</a:t>
            </a:r>
            <a:r>
              <a:rPr lang="en-US" sz="1875" b="1" dirty="0"/>
              <a:t> </a:t>
            </a:r>
            <a:r>
              <a:rPr lang="en-US" sz="1875" b="1" dirty="0" err="1"/>
              <a:t>analógico</a:t>
            </a:r>
            <a:r>
              <a:rPr lang="en-US" sz="1875" b="1" dirty="0"/>
              <a:t> CA/CD con </a:t>
            </a:r>
            <a:r>
              <a:rPr lang="en-US" sz="1875" b="1" dirty="0" err="1"/>
              <a:t>componentes</a:t>
            </a:r>
            <a:r>
              <a:rPr lang="en-US" sz="1875" b="1" dirty="0"/>
              <a:t> </a:t>
            </a:r>
            <a:r>
              <a:rPr lang="en-US" sz="1875" b="1" dirty="0" err="1"/>
              <a:t>comerciales</a:t>
            </a:r>
            <a:r>
              <a:rPr lang="en-US" sz="1875" b="1" dirty="0"/>
              <a:t>, lo </a:t>
            </a:r>
            <a:r>
              <a:rPr lang="en-US" sz="1875" b="1" dirty="0" err="1"/>
              <a:t>simule</a:t>
            </a:r>
            <a:r>
              <a:rPr lang="en-US" sz="1875" b="1" dirty="0"/>
              <a:t> </a:t>
            </a:r>
            <a:r>
              <a:rPr lang="en-US" sz="1875" b="1" dirty="0" err="1"/>
              <a:t>en</a:t>
            </a:r>
            <a:r>
              <a:rPr lang="en-US" sz="1875" b="1" dirty="0"/>
              <a:t> </a:t>
            </a:r>
            <a:r>
              <a:rPr lang="en-US" sz="1875" b="1" dirty="0" err="1"/>
              <a:t>ngspice</a:t>
            </a:r>
            <a:r>
              <a:rPr lang="en-US" sz="1875" b="1" dirty="0"/>
              <a:t> y </a:t>
            </a:r>
            <a:r>
              <a:rPr lang="en-US" sz="1875" b="1" dirty="0" err="1"/>
              <a:t>ajuste</a:t>
            </a:r>
            <a:r>
              <a:rPr lang="en-US" sz="1875" b="1" dirty="0"/>
              <a:t> sus </a:t>
            </a:r>
            <a:r>
              <a:rPr lang="en-US" sz="1875" b="1" dirty="0" err="1"/>
              <a:t>valores</a:t>
            </a:r>
            <a:r>
              <a:rPr lang="en-US" sz="1875" b="1" dirty="0"/>
              <a:t> de forma </a:t>
            </a:r>
            <a:r>
              <a:rPr lang="en-US" sz="1875" b="1" dirty="0" err="1"/>
              <a:t>automática</a:t>
            </a:r>
            <a:r>
              <a:rPr lang="en-US" sz="1875" b="1" dirty="0"/>
              <a:t> hasta </a:t>
            </a:r>
            <a:r>
              <a:rPr lang="en-US" sz="1875" b="1" dirty="0" err="1"/>
              <a:t>cumplir</a:t>
            </a:r>
            <a:r>
              <a:rPr lang="en-US" sz="1875" b="1" dirty="0"/>
              <a:t> las </a:t>
            </a:r>
            <a:r>
              <a:rPr lang="en-US" sz="1875" b="1" dirty="0" err="1"/>
              <a:t>metas</a:t>
            </a:r>
            <a:r>
              <a:rPr lang="en-US" sz="1875" b="1" dirty="0"/>
              <a:t> de </a:t>
            </a:r>
            <a:r>
              <a:rPr lang="en-US" sz="1875" b="1" dirty="0" err="1"/>
              <a:t>diseño</a:t>
            </a:r>
            <a:r>
              <a:rPr lang="en-US" sz="1875" b="1" dirty="0"/>
              <a:t>? ¿Y </a:t>
            </a:r>
            <a:r>
              <a:rPr lang="en-US" sz="1875" b="1" dirty="0" err="1"/>
              <a:t>cómo</a:t>
            </a:r>
            <a:r>
              <a:rPr lang="en-US" sz="1875" b="1" dirty="0"/>
              <a:t> se </a:t>
            </a:r>
            <a:r>
              <a:rPr lang="en-US" sz="1875" b="1" dirty="0" err="1"/>
              <a:t>comporta</a:t>
            </a:r>
            <a:r>
              <a:rPr lang="en-US" sz="1875" b="1" dirty="0"/>
              <a:t> </a:t>
            </a:r>
            <a:r>
              <a:rPr lang="en-US" sz="1875" b="1" dirty="0" err="1"/>
              <a:t>su</a:t>
            </a:r>
            <a:r>
              <a:rPr lang="en-US" sz="1875" b="1" dirty="0"/>
              <a:t> </a:t>
            </a:r>
            <a:r>
              <a:rPr lang="en-US" sz="1875" b="1" dirty="0" err="1"/>
              <a:t>desempeño</a:t>
            </a:r>
            <a:r>
              <a:rPr lang="en-US" sz="1875" b="1" dirty="0"/>
              <a:t> </a:t>
            </a:r>
            <a:r>
              <a:rPr lang="en-US" sz="1875" b="1" dirty="0" err="1"/>
              <a:t>frente</a:t>
            </a:r>
            <a:r>
              <a:rPr lang="en-US" sz="1875" b="1" dirty="0"/>
              <a:t> al de un </a:t>
            </a:r>
            <a:r>
              <a:rPr lang="en-US" sz="1875" b="1" dirty="0" err="1"/>
              <a:t>enfoque</a:t>
            </a:r>
            <a:r>
              <a:rPr lang="en-US" sz="1875" b="1" dirty="0"/>
              <a:t> de un solo </a:t>
            </a:r>
            <a:r>
              <a:rPr lang="en-US" sz="1875" b="1" dirty="0" err="1"/>
              <a:t>modelo</a:t>
            </a:r>
            <a:r>
              <a:rPr lang="en-US" sz="1875" b="1" dirty="0"/>
              <a:t> </a:t>
            </a:r>
            <a:r>
              <a:rPr lang="en-US" sz="1875" b="1" dirty="0" err="1"/>
              <a:t>que</a:t>
            </a:r>
            <a:r>
              <a:rPr lang="en-US" sz="1875" b="1" dirty="0"/>
              <a:t> </a:t>
            </a:r>
            <a:r>
              <a:rPr lang="en-US" sz="1875" b="1" dirty="0" err="1"/>
              <a:t>repite</a:t>
            </a:r>
            <a:r>
              <a:rPr lang="en-US" sz="1875" b="1" dirty="0"/>
              <a:t> el </a:t>
            </a:r>
            <a:r>
              <a:rPr lang="en-US" sz="1875" b="1" dirty="0" err="1"/>
              <a:t>intento</a:t>
            </a:r>
            <a:r>
              <a:rPr lang="en-US" sz="1875" b="1" dirty="0"/>
              <a:t> </a:t>
            </a:r>
            <a:r>
              <a:rPr lang="en-US" sz="1875" b="1" dirty="0" err="1"/>
              <a:t>varias</a:t>
            </a:r>
            <a:r>
              <a:rPr lang="en-US" sz="1875" b="1" dirty="0"/>
              <a:t> </a:t>
            </a:r>
            <a:r>
              <a:rPr lang="en-US" sz="1875" b="1" dirty="0" err="1"/>
              <a:t>veces</a:t>
            </a:r>
            <a:r>
              <a:rPr lang="en-US" sz="1875" b="1" dirty="0"/>
              <a:t>?</a:t>
            </a:r>
            <a:endParaRPr sz="1875" b="1" i="0" dirty="0">
              <a:solidFill>
                <a:srgbClr val="13233A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9EDF983-E099-42BA-A74F-8ECF6C612C77}"/>
              </a:ext>
            </a:extLst>
          </p:cNvPr>
          <p:cNvSpPr>
            <a:spLocks noGrp="1"/>
          </p:cNvSpPr>
          <p:nvPr/>
        </p:nvSpPr>
        <p:spPr>
          <a:xfrm>
            <a:off x="1423987" y="4476751"/>
            <a:ext cx="142875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  <p:txBody>
          <a:bodyPr/>
          <a:lstStyle/>
          <a:p>
            <a:pPr algn="ctr">
              <a:buNone/>
              <a:defRPr sz="1350" b="0">
                <a:solidFill>
                  <a:srgbClr val="13233A"/>
                </a:solidFill>
              </a:defRPr>
            </a:pPr>
            <a:r>
              <a:rPr sz="1350" b="0">
                <a:solidFill>
                  <a:srgbClr val="13233A"/>
                </a:solidFill>
              </a:rPr>
              <a:t>Especificación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04C423E-FAAD-44BD-B4B4-DFD256FFDE3A}"/>
              </a:ext>
            </a:extLst>
          </p:cNvPr>
          <p:cNvSpPr>
            <a:spLocks noGrp="1"/>
          </p:cNvSpPr>
          <p:nvPr/>
        </p:nvSpPr>
        <p:spPr>
          <a:xfrm>
            <a:off x="3328987" y="4476751"/>
            <a:ext cx="1428750" cy="666750"/>
          </a:xfrm>
          <a:prstGeom prst="roundRect">
            <a:avLst>
              <a:gd name="adj" fmla="val 11429"/>
            </a:avLst>
          </a:prstGeom>
          <a:solidFill>
            <a:srgbClr val="EFE8DD"/>
          </a:solidFill>
          <a:ln w="9525">
            <a:solidFill>
              <a:srgbClr val="B88A44"/>
            </a:solidFill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13233A"/>
                </a:solidFill>
              </a:defRPr>
            </a:pPr>
            <a:r>
              <a:rPr sz="1350" b="1">
                <a:solidFill>
                  <a:srgbClr val="13233A"/>
                </a:solidFill>
              </a:rPr>
              <a:t>Propuesta</a:t>
            </a:r>
          </a:p>
        </p:txBody>
      </p:sp>
      <p:cxnSp>
        <p:nvCxnSpPr>
          <p:cNvPr id="75" name="Straight Arrow Connector 26"/>
          <p:cNvCxnSpPr>
            <a:stCxn id="8" idx="3"/>
            <a:endCxn id="9" idx="1"/>
          </p:cNvCxnSpPr>
          <p:nvPr/>
        </p:nvCxnSpPr>
        <p:spPr>
          <a:xfrm>
            <a:off x="2852737" y="4810126"/>
            <a:ext cx="476250" cy="0"/>
          </a:xfrm>
          <a:prstGeom prst="straightConnector1">
            <a:avLst/>
          </a:prstGeom>
          <a:ln w="19050">
            <a:solidFill>
              <a:srgbClr val="B88A44"/>
            </a:solidFill>
            <a:prstDash val="solid"/>
            <a:tailEnd type="arrow" w="med" len="med"/>
          </a:ln>
        </p:spPr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82B38BF-AA91-4383-916F-449F8AA80A15}"/>
              </a:ext>
            </a:extLst>
          </p:cNvPr>
          <p:cNvSpPr>
            <a:spLocks noGrp="1"/>
          </p:cNvSpPr>
          <p:nvPr/>
        </p:nvSpPr>
        <p:spPr>
          <a:xfrm>
            <a:off x="5233987" y="4476751"/>
            <a:ext cx="142875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  <p:txBody>
          <a:bodyPr/>
          <a:lstStyle/>
          <a:p>
            <a:pPr algn="ctr">
              <a:buNone/>
              <a:defRPr sz="1350" b="0">
                <a:solidFill>
                  <a:srgbClr val="13233A"/>
                </a:solidFill>
              </a:defRPr>
            </a:pPr>
            <a:r>
              <a:rPr sz="1350" b="0">
                <a:solidFill>
                  <a:srgbClr val="13233A"/>
                </a:solidFill>
              </a:rPr>
              <a:t>Simulación</a:t>
            </a:r>
          </a:p>
        </p:txBody>
      </p:sp>
      <p:cxnSp>
        <p:nvCxnSpPr>
          <p:cNvPr id="77" name="Straight Arrow Connector 28"/>
          <p:cNvCxnSpPr>
            <a:stCxn id="9" idx="3"/>
            <a:endCxn id="11" idx="1"/>
          </p:cNvCxnSpPr>
          <p:nvPr/>
        </p:nvCxnSpPr>
        <p:spPr>
          <a:xfrm>
            <a:off x="4757737" y="4810126"/>
            <a:ext cx="476250" cy="0"/>
          </a:xfrm>
          <a:prstGeom prst="straightConnector1">
            <a:avLst/>
          </a:prstGeom>
          <a:ln w="19050">
            <a:solidFill>
              <a:srgbClr val="667085"/>
            </a:solidFill>
            <a:prstDash val="solid"/>
            <a:tailEnd type="arrow" w="med" len="med"/>
          </a:ln>
        </p:spPr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C438433-E05A-4ECB-AF5B-F142551068B5}"/>
              </a:ext>
            </a:extLst>
          </p:cNvPr>
          <p:cNvSpPr>
            <a:spLocks noGrp="1"/>
          </p:cNvSpPr>
          <p:nvPr/>
        </p:nvSpPr>
        <p:spPr>
          <a:xfrm>
            <a:off x="7138987" y="4476751"/>
            <a:ext cx="142875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  <p:txBody>
          <a:bodyPr/>
          <a:lstStyle/>
          <a:p>
            <a:pPr algn="ctr">
              <a:buNone/>
              <a:defRPr sz="1350" b="0">
                <a:solidFill>
                  <a:srgbClr val="13233A"/>
                </a:solidFill>
              </a:defRPr>
            </a:pPr>
            <a:r>
              <a:rPr sz="1350" b="0">
                <a:solidFill>
                  <a:srgbClr val="13233A"/>
                </a:solidFill>
              </a:rPr>
              <a:t>Ajuste</a:t>
            </a:r>
          </a:p>
        </p:txBody>
      </p:sp>
      <p:cxnSp>
        <p:nvCxnSpPr>
          <p:cNvPr id="79" name="Straight Arrow Connector 30"/>
          <p:cNvCxnSpPr>
            <a:stCxn id="11" idx="3"/>
            <a:endCxn id="13" idx="1"/>
          </p:cNvCxnSpPr>
          <p:nvPr/>
        </p:nvCxnSpPr>
        <p:spPr>
          <a:xfrm>
            <a:off x="6662737" y="4810126"/>
            <a:ext cx="476250" cy="0"/>
          </a:xfrm>
          <a:prstGeom prst="straightConnector1">
            <a:avLst/>
          </a:prstGeom>
          <a:ln w="19050">
            <a:solidFill>
              <a:srgbClr val="667085"/>
            </a:solidFill>
            <a:prstDash val="solid"/>
            <a:tailEnd type="arrow" w="med" len="med"/>
          </a:ln>
        </p:spPr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23E1357-73EE-4CF0-B21C-9D8682FB4E3C}"/>
              </a:ext>
            </a:extLst>
          </p:cNvPr>
          <p:cNvSpPr>
            <a:spLocks noGrp="1"/>
          </p:cNvSpPr>
          <p:nvPr/>
        </p:nvSpPr>
        <p:spPr>
          <a:xfrm>
            <a:off x="9043987" y="4476751"/>
            <a:ext cx="142875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  <p:txBody>
          <a:bodyPr/>
          <a:lstStyle/>
          <a:p>
            <a:pPr algn="ctr">
              <a:buNone/>
              <a:defRPr sz="1350" b="0">
                <a:solidFill>
                  <a:srgbClr val="13233A"/>
                </a:solidFill>
              </a:defRPr>
            </a:pPr>
            <a:r>
              <a:rPr sz="1350" b="0">
                <a:solidFill>
                  <a:srgbClr val="13233A"/>
                </a:solidFill>
              </a:rPr>
              <a:t>Nueva propuesta</a:t>
            </a:r>
          </a:p>
        </p:txBody>
      </p:sp>
      <p:cxnSp>
        <p:nvCxnSpPr>
          <p:cNvPr id="81" name="Straight Arrow Connector 32"/>
          <p:cNvCxnSpPr>
            <a:stCxn id="13" idx="3"/>
            <a:endCxn id="15" idx="1"/>
          </p:cNvCxnSpPr>
          <p:nvPr/>
        </p:nvCxnSpPr>
        <p:spPr>
          <a:xfrm>
            <a:off x="8567737" y="4810126"/>
            <a:ext cx="476250" cy="0"/>
          </a:xfrm>
          <a:prstGeom prst="straightConnector1">
            <a:avLst/>
          </a:prstGeom>
          <a:ln w="19050">
            <a:solidFill>
              <a:srgbClr val="667085"/>
            </a:solidFill>
            <a:prstDash val="solid"/>
            <a:tailEnd type="arrow" w="med" len="med"/>
          </a:ln>
        </p:spPr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5360D69-F96A-4E8E-BC37-98BF48BF2CC1}"/>
              </a:ext>
            </a:extLst>
          </p:cNvPr>
          <p:cNvSpPr>
            <a:spLocks noGrp="1"/>
          </p:cNvSpPr>
          <p:nvPr/>
        </p:nvSpPr>
        <p:spPr>
          <a:xfrm>
            <a:off x="3662362" y="5762626"/>
            <a:ext cx="4095750" cy="552450"/>
          </a:xfrm>
          <a:prstGeom prst="roundRect">
            <a:avLst>
              <a:gd name="adj" fmla="val 13793"/>
            </a:avLst>
          </a:prstGeom>
          <a:solidFill>
            <a:srgbClr val="7A003C"/>
          </a:solidFill>
          <a:ln w="9525">
            <a:solidFill>
              <a:srgbClr val="7A003C"/>
            </a:solidFill>
            <a:prstDash val="solid"/>
          </a:ln>
        </p:spPr>
        <p:txBody>
          <a:bodyPr/>
          <a:lstStyle/>
          <a:p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 dirty="0">
                <a:solidFill>
                  <a:srgbClr val="FFFFFF"/>
                </a:solidFill>
              </a:rPr>
              <a:t>Punto </a:t>
            </a:r>
            <a:r>
              <a:rPr sz="1500" b="1" dirty="0" err="1">
                <a:solidFill>
                  <a:srgbClr val="FFFFFF"/>
                </a:solidFill>
              </a:rPr>
              <a:t>débil</a:t>
            </a:r>
            <a:r>
              <a:rPr sz="1500" b="1" dirty="0">
                <a:solidFill>
                  <a:srgbClr val="FFFFFF"/>
                </a:solidFill>
              </a:rPr>
              <a:t>: sin </a:t>
            </a:r>
            <a:r>
              <a:rPr sz="1500" b="1" dirty="0" err="1">
                <a:solidFill>
                  <a:srgbClr val="FFFFFF"/>
                </a:solidFill>
              </a:rPr>
              <a:t>verificación</a:t>
            </a:r>
            <a:r>
              <a:rPr sz="1500" b="1" dirty="0">
                <a:solidFill>
                  <a:srgbClr val="FFFFFF"/>
                </a:solidFill>
              </a:rPr>
              <a:t> </a:t>
            </a:r>
            <a:r>
              <a:rPr sz="1500" b="1" dirty="0" err="1">
                <a:solidFill>
                  <a:srgbClr val="FFFFFF"/>
                </a:solidFill>
              </a:rPr>
              <a:t>física</a:t>
            </a:r>
            <a:r>
              <a:rPr sz="1500" b="1" dirty="0">
                <a:solidFill>
                  <a:srgbClr val="FFFFFF"/>
                </a:solidFill>
              </a:rPr>
              <a:t> </a:t>
            </a:r>
            <a:r>
              <a:rPr sz="1500" b="1" dirty="0" err="1">
                <a:solidFill>
                  <a:srgbClr val="FFFFFF"/>
                </a:solidFill>
              </a:rPr>
              <a:t>automática</a:t>
            </a:r>
            <a:endParaRPr sz="15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38630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3C8E84F-8AD6-4258-9225-D1B6BB101750}"/>
              </a:ext>
            </a:extLst>
          </p:cNvPr>
          <p:cNvSpPr>
            <a:spLocks noGrp="1"/>
          </p:cNvSpPr>
          <p:nvPr/>
        </p:nvSpPr>
        <p:spPr>
          <a:xfrm>
            <a:off x="438150" y="1066800"/>
            <a:ext cx="57150" cy="4953000"/>
          </a:xfrm>
          <a:prstGeom prst="rect">
            <a:avLst/>
          </a:prstGeom>
          <a:solidFill>
            <a:srgbClr val="7A003C"/>
          </a:solidFill>
          <a:ln w="0">
            <a:solidFill>
              <a:srgbClr val="7A00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1D611CE-9AF2-4BF1-89EE-61A26E52CE2C}"/>
              </a:ext>
            </a:extLst>
          </p:cNvPr>
          <p:cNvSpPr>
            <a:spLocks noGrp="1"/>
          </p:cNvSpPr>
          <p:nvPr/>
        </p:nvSpPr>
        <p:spPr>
          <a:xfrm>
            <a:off x="590550" y="1066800"/>
            <a:ext cx="28575" cy="4953000"/>
          </a:xfrm>
          <a:prstGeom prst="rect">
            <a:avLst/>
          </a:prstGeom>
          <a:solidFill>
            <a:srgbClr val="9A174D"/>
          </a:solidFill>
          <a:ln w="0">
            <a:solidFill>
              <a:srgbClr val="9A17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2F0854-1DFB-4855-A953-9E97E2BBD855}"/>
              </a:ext>
            </a:extLst>
          </p:cNvPr>
          <p:cNvSpPr>
            <a:spLocks noGrp="1"/>
          </p:cNvSpPr>
          <p:nvPr/>
        </p:nvSpPr>
        <p:spPr>
          <a:xfrm>
            <a:off x="857250" y="285750"/>
            <a:ext cx="723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 i="0">
                <a:solidFill>
                  <a:srgbClr val="667085"/>
                </a:solidFill>
              </a:defRPr>
            </a:pPr>
            <a:r>
              <a:rPr sz="1050" b="1" i="0">
                <a:solidFill>
                  <a:srgbClr val="667085"/>
                </a:solidFill>
              </a:rPr>
              <a:t>Instituto Politécnico Nacional · ESIME Culhuacán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E7975F-D122-46A6-84F5-E1F9DF91CE14}"/>
              </a:ext>
            </a:extLst>
          </p:cNvPr>
          <p:cNvSpPr>
            <a:spLocks noGrp="1"/>
          </p:cNvSpPr>
          <p:nvPr/>
        </p:nvSpPr>
        <p:spPr>
          <a:xfrm>
            <a:off x="857250" y="590550"/>
            <a:ext cx="9144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550" b="1" i="0">
                <a:solidFill>
                  <a:srgbClr val="13233A"/>
                </a:solidFill>
              </a:defRPr>
            </a:pPr>
            <a:r>
              <a:rPr sz="2550" b="1" i="0">
                <a:solidFill>
                  <a:srgbClr val="13233A"/>
                </a:solidFill>
              </a:rPr>
              <a:t>Estado del arte: trabajos revisados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0177144-EA5B-4640-9274-04B42DB53D0E}"/>
              </a:ext>
            </a:extLst>
          </p:cNvPr>
          <p:cNvSpPr>
            <a:spLocks noGrp="1"/>
          </p:cNvSpPr>
          <p:nvPr/>
        </p:nvSpPr>
        <p:spPr>
          <a:xfrm>
            <a:off x="10572750" y="6286500"/>
            <a:ext cx="5524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0" i="0">
                <a:solidFill>
                  <a:srgbClr val="667085"/>
                </a:solidFill>
              </a:defRPr>
            </a:pPr>
            <a:r>
              <a:rPr sz="1050" b="0" i="0">
                <a:solidFill>
                  <a:srgbClr val="667085"/>
                </a:solidFill>
              </a:rPr>
              <a:t>5/17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0CB63C2-39B8-4429-B6D7-1324E974BEC1}"/>
              </a:ext>
            </a:extLst>
          </p:cNvPr>
          <p:cNvSpPr>
            <a:spLocks noGrp="1"/>
          </p:cNvSpPr>
          <p:nvPr/>
        </p:nvSpPr>
        <p:spPr>
          <a:xfrm>
            <a:off x="1047750" y="1219200"/>
            <a:ext cx="9144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 i="0">
                <a:solidFill>
                  <a:srgbClr val="667085"/>
                </a:solidFill>
              </a:defRPr>
            </a:pPr>
            <a:r>
              <a:rPr sz="1500" b="0" i="0">
                <a:solidFill>
                  <a:srgbClr val="667085"/>
                </a:solidFill>
              </a:rPr>
              <a:t>La revisión muestra dos líneas: agentes con simulación en transistor y sistemas a nivel componente con validación limitada.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1E3B1F5-984C-461C-848C-9F38EB482F4E}"/>
              </a:ext>
            </a:extLst>
          </p:cNvPr>
          <p:cNvSpPr>
            <a:spLocks noGrp="1"/>
          </p:cNvSpPr>
          <p:nvPr/>
        </p:nvSpPr>
        <p:spPr>
          <a:xfrm>
            <a:off x="1143000" y="2000250"/>
            <a:ext cx="2571750" cy="9906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38428A2-3E0F-4EC7-920D-87F2E683D114}"/>
              </a:ext>
            </a:extLst>
          </p:cNvPr>
          <p:cNvSpPr>
            <a:spLocks noGrp="1"/>
          </p:cNvSpPr>
          <p:nvPr/>
        </p:nvSpPr>
        <p:spPr>
          <a:xfrm>
            <a:off x="1276350" y="2152650"/>
            <a:ext cx="2305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 i="0">
                <a:solidFill>
                  <a:srgbClr val="13233A"/>
                </a:solidFill>
              </a:defRPr>
            </a:pPr>
            <a:r>
              <a:rPr sz="1350" b="1" i="0">
                <a:solidFill>
                  <a:srgbClr val="13233A"/>
                </a:solidFill>
              </a:rPr>
              <a:t>AnalogCoder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FEE5CCC-AF6A-4625-82F1-7D61F0E39B7E}"/>
              </a:ext>
            </a:extLst>
          </p:cNvPr>
          <p:cNvSpPr>
            <a:spLocks noGrp="1"/>
          </p:cNvSpPr>
          <p:nvPr/>
        </p:nvSpPr>
        <p:spPr>
          <a:xfrm>
            <a:off x="1276350" y="2495550"/>
            <a:ext cx="2305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0" i="0">
                <a:solidFill>
                  <a:srgbClr val="667085"/>
                </a:solidFill>
              </a:defRPr>
            </a:pPr>
            <a:r>
              <a:rPr sz="975" b="0" i="0">
                <a:solidFill>
                  <a:srgbClr val="667085"/>
                </a:solidFill>
              </a:rPr>
              <a:t>código ejecutable + SPICE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773E4D5-5D71-423A-968F-E981F5C46F3A}"/>
              </a:ext>
            </a:extLst>
          </p:cNvPr>
          <p:cNvSpPr>
            <a:spLocks noGrp="1"/>
          </p:cNvSpPr>
          <p:nvPr/>
        </p:nvSpPr>
        <p:spPr>
          <a:xfrm>
            <a:off x="4286250" y="2000250"/>
            <a:ext cx="2571750" cy="9906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90D862-50CA-4A21-8D6A-2A9F293D0730}"/>
              </a:ext>
            </a:extLst>
          </p:cNvPr>
          <p:cNvSpPr>
            <a:spLocks noGrp="1"/>
          </p:cNvSpPr>
          <p:nvPr/>
        </p:nvSpPr>
        <p:spPr>
          <a:xfrm>
            <a:off x="4419600" y="2152650"/>
            <a:ext cx="2305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 i="0">
                <a:solidFill>
                  <a:srgbClr val="13233A"/>
                </a:solidFill>
              </a:defRPr>
            </a:pPr>
            <a:r>
              <a:rPr sz="1350" b="1" i="0">
                <a:solidFill>
                  <a:srgbClr val="13233A"/>
                </a:solidFill>
              </a:rPr>
              <a:t>AnalogAgent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FEBE3A-0467-4966-B3F0-99E751ABF978}"/>
              </a:ext>
            </a:extLst>
          </p:cNvPr>
          <p:cNvSpPr>
            <a:spLocks noGrp="1"/>
          </p:cNvSpPr>
          <p:nvPr/>
        </p:nvSpPr>
        <p:spPr>
          <a:xfrm>
            <a:off x="4419600" y="2495550"/>
            <a:ext cx="2305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0" i="0">
                <a:solidFill>
                  <a:srgbClr val="667085"/>
                </a:solidFill>
              </a:defRPr>
            </a:pPr>
            <a:r>
              <a:rPr sz="975" b="0" i="0">
                <a:solidFill>
                  <a:srgbClr val="667085"/>
                </a:solidFill>
              </a:rPr>
              <a:t>multiagente + memoria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9FCAF29-9383-43E8-89A9-9A06F8FC09B2}"/>
              </a:ext>
            </a:extLst>
          </p:cNvPr>
          <p:cNvSpPr>
            <a:spLocks noGrp="1"/>
          </p:cNvSpPr>
          <p:nvPr/>
        </p:nvSpPr>
        <p:spPr>
          <a:xfrm>
            <a:off x="7429500" y="2000250"/>
            <a:ext cx="2571750" cy="9906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74E4B3D-A798-4182-87FA-5DC6E8E54713}"/>
              </a:ext>
            </a:extLst>
          </p:cNvPr>
          <p:cNvSpPr>
            <a:spLocks noGrp="1"/>
          </p:cNvSpPr>
          <p:nvPr/>
        </p:nvSpPr>
        <p:spPr>
          <a:xfrm>
            <a:off x="7562850" y="2152650"/>
            <a:ext cx="2305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 i="0">
                <a:solidFill>
                  <a:srgbClr val="13233A"/>
                </a:solidFill>
              </a:defRPr>
            </a:pPr>
            <a:r>
              <a:rPr sz="1350" b="1" i="0">
                <a:solidFill>
                  <a:srgbClr val="13233A"/>
                </a:solidFill>
              </a:rPr>
              <a:t>CircuitLM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AF9CD63-9678-4E81-AD42-476BFCF11799}"/>
              </a:ext>
            </a:extLst>
          </p:cNvPr>
          <p:cNvSpPr>
            <a:spLocks noGrp="1"/>
          </p:cNvSpPr>
          <p:nvPr/>
        </p:nvSpPr>
        <p:spPr>
          <a:xfrm>
            <a:off x="7562850" y="2495550"/>
            <a:ext cx="2305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0" i="0">
                <a:solidFill>
                  <a:srgbClr val="667085"/>
                </a:solidFill>
              </a:defRPr>
            </a:pPr>
            <a:r>
              <a:rPr sz="975" b="0" i="0">
                <a:solidFill>
                  <a:srgbClr val="667085"/>
                </a:solidFill>
              </a:rPr>
              <a:t>componentes comerciales + ERC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949DB8D-EAE5-4596-8641-31CEC4D4B27C}"/>
              </a:ext>
            </a:extLst>
          </p:cNvPr>
          <p:cNvSpPr>
            <a:spLocks noGrp="1"/>
          </p:cNvSpPr>
          <p:nvPr/>
        </p:nvSpPr>
        <p:spPr>
          <a:xfrm>
            <a:off x="1143000" y="3333750"/>
            <a:ext cx="2571750" cy="9906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20510D1-1E86-4A1C-A223-3CB85FE3596D}"/>
              </a:ext>
            </a:extLst>
          </p:cNvPr>
          <p:cNvSpPr>
            <a:spLocks noGrp="1"/>
          </p:cNvSpPr>
          <p:nvPr/>
        </p:nvSpPr>
        <p:spPr>
          <a:xfrm>
            <a:off x="1276350" y="3486150"/>
            <a:ext cx="2305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 i="0">
                <a:solidFill>
                  <a:srgbClr val="13233A"/>
                </a:solidFill>
              </a:defRPr>
            </a:pPr>
            <a:r>
              <a:rPr sz="1350" b="1" i="0">
                <a:solidFill>
                  <a:srgbClr val="13233A"/>
                </a:solidFill>
              </a:rPr>
              <a:t>AnalogSAGE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E0C6C5B-6F55-4D61-BD55-CB7CED609700}"/>
              </a:ext>
            </a:extLst>
          </p:cNvPr>
          <p:cNvSpPr>
            <a:spLocks noGrp="1"/>
          </p:cNvSpPr>
          <p:nvPr/>
        </p:nvSpPr>
        <p:spPr>
          <a:xfrm>
            <a:off x="1276350" y="3829050"/>
            <a:ext cx="2305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0" i="0">
                <a:solidFill>
                  <a:srgbClr val="667085"/>
                </a:solidFill>
              </a:defRPr>
            </a:pPr>
            <a:r>
              <a:rPr sz="975" b="0" i="0">
                <a:solidFill>
                  <a:srgbClr val="667085"/>
                </a:solidFill>
              </a:rPr>
              <a:t>memoria estratificada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487744DF-93F1-49DC-A450-D8D9570A70E7}"/>
              </a:ext>
            </a:extLst>
          </p:cNvPr>
          <p:cNvSpPr>
            <a:spLocks noGrp="1"/>
          </p:cNvSpPr>
          <p:nvPr/>
        </p:nvSpPr>
        <p:spPr>
          <a:xfrm>
            <a:off x="4286250" y="3333750"/>
            <a:ext cx="2571750" cy="9906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84C0B5D-34CE-4717-8583-8DB1168BF67C}"/>
              </a:ext>
            </a:extLst>
          </p:cNvPr>
          <p:cNvSpPr>
            <a:spLocks noGrp="1"/>
          </p:cNvSpPr>
          <p:nvPr/>
        </p:nvSpPr>
        <p:spPr>
          <a:xfrm>
            <a:off x="4419600" y="3486150"/>
            <a:ext cx="2305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 i="0">
                <a:solidFill>
                  <a:srgbClr val="13233A"/>
                </a:solidFill>
              </a:defRPr>
            </a:pPr>
            <a:r>
              <a:rPr sz="1350" b="1" i="0">
                <a:solidFill>
                  <a:srgbClr val="13233A"/>
                </a:solidFill>
              </a:rPr>
              <a:t>PCBSchemaGen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A7002D5-0BEB-48A7-B212-583B403302AA}"/>
              </a:ext>
            </a:extLst>
          </p:cNvPr>
          <p:cNvSpPr>
            <a:spLocks noGrp="1"/>
          </p:cNvSpPr>
          <p:nvPr/>
        </p:nvSpPr>
        <p:spPr>
          <a:xfrm>
            <a:off x="4419600" y="3829050"/>
            <a:ext cx="2305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0" i="0">
                <a:solidFill>
                  <a:srgbClr val="667085"/>
                </a:solidFill>
              </a:defRPr>
            </a:pPr>
            <a:r>
              <a:rPr sz="975" b="0" i="0">
                <a:solidFill>
                  <a:srgbClr val="667085"/>
                </a:solidFill>
              </a:rPr>
              <a:t>PCB y reglas eléctricas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744431CF-7DB2-4E0E-B4DF-3908D63C6785}"/>
              </a:ext>
            </a:extLst>
          </p:cNvPr>
          <p:cNvSpPr>
            <a:spLocks noGrp="1"/>
          </p:cNvSpPr>
          <p:nvPr/>
        </p:nvSpPr>
        <p:spPr>
          <a:xfrm>
            <a:off x="7429500" y="3333750"/>
            <a:ext cx="2571750" cy="9906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1D184E9-DF9A-4E05-B3B6-29B5C51DAF31}"/>
              </a:ext>
            </a:extLst>
          </p:cNvPr>
          <p:cNvSpPr>
            <a:spLocks noGrp="1"/>
          </p:cNvSpPr>
          <p:nvPr/>
        </p:nvSpPr>
        <p:spPr>
          <a:xfrm>
            <a:off x="7562850" y="3486150"/>
            <a:ext cx="2305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 i="0">
                <a:solidFill>
                  <a:srgbClr val="13233A"/>
                </a:solidFill>
              </a:defRPr>
            </a:pPr>
            <a:r>
              <a:rPr sz="1350" b="1" i="0">
                <a:solidFill>
                  <a:srgbClr val="13233A"/>
                </a:solidFill>
              </a:rPr>
              <a:t>HWE-Bench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888CC7C-F1F5-4CDC-9CA1-D8F74BE09D40}"/>
              </a:ext>
            </a:extLst>
          </p:cNvPr>
          <p:cNvSpPr>
            <a:spLocks noGrp="1"/>
          </p:cNvSpPr>
          <p:nvPr/>
        </p:nvSpPr>
        <p:spPr>
          <a:xfrm>
            <a:off x="7562850" y="3829050"/>
            <a:ext cx="2305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0" i="0">
                <a:solidFill>
                  <a:srgbClr val="667085"/>
                </a:solidFill>
              </a:defRPr>
            </a:pPr>
            <a:r>
              <a:rPr sz="975" b="0" i="0">
                <a:solidFill>
                  <a:srgbClr val="667085"/>
                </a:solidFill>
              </a:rPr>
              <a:t>benchmark con SPICE externo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0F8A483A-A5CB-4F9C-868B-3EFA71B06504}"/>
              </a:ext>
            </a:extLst>
          </p:cNvPr>
          <p:cNvSpPr>
            <a:spLocks noGrp="1"/>
          </p:cNvSpPr>
          <p:nvPr/>
        </p:nvSpPr>
        <p:spPr>
          <a:xfrm>
            <a:off x="1809750" y="5191125"/>
            <a:ext cx="7810500" cy="666750"/>
          </a:xfrm>
          <a:prstGeom prst="roundRect">
            <a:avLst>
              <a:gd name="adj" fmla="val 11429"/>
            </a:avLst>
          </a:prstGeom>
          <a:solidFill>
            <a:srgbClr val="7A003C"/>
          </a:solidFill>
          <a:ln w="9525">
            <a:solidFill>
              <a:srgbClr val="7A003C"/>
            </a:solidFill>
            <a:prstDash val="solid"/>
          </a:ln>
        </p:spPr>
        <p:txBody>
          <a:bodyPr/>
          <a:lstStyle/>
          <a:p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Lectura clave: ninguno integra simultáneamente componentes comerciales, multiagentes, simulación SPICE en el lazo y curador de ajuste.</a:t>
            </a:r>
          </a:p>
        </p:txBody>
      </p:sp>
    </p:spTree>
    <p:extLst>
      <p:ext uri="{BB962C8B-B14F-4D97-AF65-F5344CB8AC3E}">
        <p14:creationId xmlns:p14="http://schemas.microsoft.com/office/powerpoint/2010/main" val="20638630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6DA5973-0E6E-4E0D-9C8A-C147CA494582}"/>
              </a:ext>
            </a:extLst>
          </p:cNvPr>
          <p:cNvSpPr>
            <a:spLocks noGrp="1"/>
          </p:cNvSpPr>
          <p:nvPr/>
        </p:nvSpPr>
        <p:spPr>
          <a:xfrm>
            <a:off x="11525250" y="0"/>
            <a:ext cx="666750" cy="6858000"/>
          </a:xfrm>
          <a:prstGeom prst="rect">
            <a:avLst/>
          </a:prstGeom>
          <a:solidFill>
            <a:srgbClr val="7A003C"/>
          </a:solidFill>
          <a:ln w="0">
            <a:solidFill>
              <a:srgbClr val="7A00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B217305-4F2A-4CCC-BD7F-F49FFA871565}"/>
              </a:ext>
            </a:extLst>
          </p:cNvPr>
          <p:cNvSpPr>
            <a:spLocks noGrp="1"/>
          </p:cNvSpPr>
          <p:nvPr/>
        </p:nvSpPr>
        <p:spPr>
          <a:xfrm>
            <a:off x="438150" y="1066800"/>
            <a:ext cx="57150" cy="4953000"/>
          </a:xfrm>
          <a:prstGeom prst="rect">
            <a:avLst/>
          </a:prstGeom>
          <a:solidFill>
            <a:srgbClr val="7A003C"/>
          </a:solidFill>
          <a:ln w="0">
            <a:solidFill>
              <a:srgbClr val="7A00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7480A8D-A003-477B-B006-FF44A6572644}"/>
              </a:ext>
            </a:extLst>
          </p:cNvPr>
          <p:cNvSpPr>
            <a:spLocks noGrp="1"/>
          </p:cNvSpPr>
          <p:nvPr/>
        </p:nvSpPr>
        <p:spPr>
          <a:xfrm>
            <a:off x="590550" y="1066800"/>
            <a:ext cx="28575" cy="4953000"/>
          </a:xfrm>
          <a:prstGeom prst="rect">
            <a:avLst/>
          </a:prstGeom>
          <a:solidFill>
            <a:srgbClr val="9A174D"/>
          </a:solidFill>
          <a:ln w="0">
            <a:solidFill>
              <a:srgbClr val="9A17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89B417-0EF0-4461-A891-641E904083A9}"/>
              </a:ext>
            </a:extLst>
          </p:cNvPr>
          <p:cNvSpPr>
            <a:spLocks noGrp="1"/>
          </p:cNvSpPr>
          <p:nvPr/>
        </p:nvSpPr>
        <p:spPr>
          <a:xfrm>
            <a:off x="857250" y="285750"/>
            <a:ext cx="723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 i="0">
                <a:solidFill>
                  <a:srgbClr val="667085"/>
                </a:solidFill>
              </a:defRPr>
            </a:pPr>
            <a:r>
              <a:rPr sz="1050" b="1" i="0">
                <a:solidFill>
                  <a:srgbClr val="667085"/>
                </a:solidFill>
              </a:rPr>
              <a:t>Instituto Politécnico Nacional · ESIME Culhuacán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3D1CE70-D183-4B6E-9343-5DD70D235E43}"/>
              </a:ext>
            </a:extLst>
          </p:cNvPr>
          <p:cNvSpPr>
            <a:spLocks noGrp="1"/>
          </p:cNvSpPr>
          <p:nvPr/>
        </p:nvSpPr>
        <p:spPr>
          <a:xfrm>
            <a:off x="857250" y="590550"/>
            <a:ext cx="9144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550" b="1" i="0">
                <a:solidFill>
                  <a:srgbClr val="13233A"/>
                </a:solidFill>
              </a:defRPr>
            </a:pPr>
            <a:r>
              <a:rPr sz="2550" b="1" i="0">
                <a:solidFill>
                  <a:srgbClr val="13233A"/>
                </a:solidFill>
              </a:rPr>
              <a:t>Brecha detectada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BDEB2E-C166-48E4-8C2E-DEC1B5817937}"/>
              </a:ext>
            </a:extLst>
          </p:cNvPr>
          <p:cNvSpPr>
            <a:spLocks noGrp="1"/>
          </p:cNvSpPr>
          <p:nvPr/>
        </p:nvSpPr>
        <p:spPr>
          <a:xfrm>
            <a:off x="10572750" y="6286500"/>
            <a:ext cx="5524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0" i="0">
                <a:solidFill>
                  <a:srgbClr val="667085"/>
                </a:solidFill>
              </a:defRPr>
            </a:pPr>
            <a:r>
              <a:rPr sz="1050" b="0" i="0">
                <a:solidFill>
                  <a:srgbClr val="667085"/>
                </a:solidFill>
              </a:rPr>
              <a:t>6/17</a:t>
            </a:r>
          </a:p>
        </p:txBody>
      </p:sp>
      <p:pic>
        <p:nvPicPr>
          <p:cNvPr id="17" name="Picture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95375" y="1405334"/>
            <a:ext cx="7239000" cy="4237831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EAC987A-3717-46B0-A65C-40755EC48466}"/>
              </a:ext>
            </a:extLst>
          </p:cNvPr>
          <p:cNvSpPr>
            <a:spLocks noGrp="1"/>
          </p:cNvSpPr>
          <p:nvPr/>
        </p:nvSpPr>
        <p:spPr>
          <a:xfrm>
            <a:off x="8572500" y="2000250"/>
            <a:ext cx="2333625" cy="1676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B88A44"/>
            </a:solidFill>
            <a:prstDash val="solid"/>
          </a:ln>
        </p:spPr>
        <p:txBody>
          <a:bodyPr/>
          <a:lstStyle/>
          <a:p>
            <a:pPr algn="ctr">
              <a:buNone/>
              <a:defRPr sz="1650" b="1">
                <a:solidFill>
                  <a:srgbClr val="13233A"/>
                </a:solidFill>
              </a:defRPr>
            </a:pPr>
            <a:r>
              <a:rPr sz="1650" b="1">
                <a:solidFill>
                  <a:srgbClr val="13233A"/>
                </a:solidFill>
              </a:rPr>
              <a:t>Este proyecto busca el cruce entre componentes comerciales y simulación SPICE dentro del lazo.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3F3810-2A21-4C02-9CDB-6375283300FC}"/>
              </a:ext>
            </a:extLst>
          </p:cNvPr>
          <p:cNvSpPr>
            <a:spLocks noGrp="1"/>
          </p:cNvSpPr>
          <p:nvPr/>
        </p:nvSpPr>
        <p:spPr>
          <a:xfrm>
            <a:off x="8572500" y="3762375"/>
            <a:ext cx="2333625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 i="0">
                <a:solidFill>
                  <a:srgbClr val="667085"/>
                </a:solidFill>
              </a:defRPr>
            </a:pPr>
            <a:r>
              <a:rPr sz="1200" b="0" i="0">
                <a:solidFill>
                  <a:srgbClr val="667085"/>
                </a:solidFill>
              </a:rPr>
              <a:t>La posición se tomó de la tesina: AnalogCoder, AnalogAgent, CircuitLM, AnalogSAGE, PCBSchemaGen y HWE-Bench.</a:t>
            </a:r>
          </a:p>
        </p:txBody>
      </p:sp>
    </p:spTree>
    <p:extLst>
      <p:ext uri="{BB962C8B-B14F-4D97-AF65-F5344CB8AC3E}">
        <p14:creationId xmlns:p14="http://schemas.microsoft.com/office/powerpoint/2010/main" val="4790723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DC5DD4A9-3C25-45D5-9D4F-7AACAC77A0DF}"/>
              </a:ext>
            </a:extLst>
          </p:cNvPr>
          <p:cNvSpPr>
            <a:spLocks noGrp="1"/>
          </p:cNvSpPr>
          <p:nvPr/>
        </p:nvSpPr>
        <p:spPr>
          <a:xfrm>
            <a:off x="11525250" y="0"/>
            <a:ext cx="666750" cy="6858000"/>
          </a:xfrm>
          <a:prstGeom prst="rect">
            <a:avLst/>
          </a:prstGeom>
          <a:solidFill>
            <a:srgbClr val="7A003C"/>
          </a:solidFill>
          <a:ln w="0">
            <a:solidFill>
              <a:srgbClr val="7A00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F4D3CE4-5C7A-4259-AFB1-F19C07F103BB}"/>
              </a:ext>
            </a:extLst>
          </p:cNvPr>
          <p:cNvSpPr>
            <a:spLocks noGrp="1"/>
          </p:cNvSpPr>
          <p:nvPr/>
        </p:nvSpPr>
        <p:spPr>
          <a:xfrm>
            <a:off x="438150" y="1066800"/>
            <a:ext cx="57150" cy="4953000"/>
          </a:xfrm>
          <a:prstGeom prst="rect">
            <a:avLst/>
          </a:prstGeom>
          <a:solidFill>
            <a:srgbClr val="7A003C"/>
          </a:solidFill>
          <a:ln w="0">
            <a:solidFill>
              <a:srgbClr val="7A00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DE23BC4-6C83-47BF-8B7F-7530B2EA3D50}"/>
              </a:ext>
            </a:extLst>
          </p:cNvPr>
          <p:cNvSpPr>
            <a:spLocks noGrp="1"/>
          </p:cNvSpPr>
          <p:nvPr/>
        </p:nvSpPr>
        <p:spPr>
          <a:xfrm>
            <a:off x="590550" y="1066800"/>
            <a:ext cx="28575" cy="4953000"/>
          </a:xfrm>
          <a:prstGeom prst="rect">
            <a:avLst/>
          </a:prstGeom>
          <a:solidFill>
            <a:srgbClr val="9A174D"/>
          </a:solidFill>
          <a:ln w="0">
            <a:solidFill>
              <a:srgbClr val="9A17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985BFC-4B18-425C-AFE9-E854D01A19A8}"/>
              </a:ext>
            </a:extLst>
          </p:cNvPr>
          <p:cNvSpPr>
            <a:spLocks noGrp="1"/>
          </p:cNvSpPr>
          <p:nvPr/>
        </p:nvSpPr>
        <p:spPr>
          <a:xfrm>
            <a:off x="857250" y="285750"/>
            <a:ext cx="723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 i="0">
                <a:solidFill>
                  <a:srgbClr val="667085"/>
                </a:solidFill>
              </a:defRPr>
            </a:pPr>
            <a:r>
              <a:rPr sz="1050" b="1" i="0">
                <a:solidFill>
                  <a:srgbClr val="667085"/>
                </a:solidFill>
              </a:rPr>
              <a:t>Instituto Politécnico Nacional · ESIME Culhuacán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0915681-6FB6-4459-B71A-4F4F2DCCC076}"/>
              </a:ext>
            </a:extLst>
          </p:cNvPr>
          <p:cNvSpPr>
            <a:spLocks noGrp="1"/>
          </p:cNvSpPr>
          <p:nvPr/>
        </p:nvSpPr>
        <p:spPr>
          <a:xfrm>
            <a:off x="857250" y="590550"/>
            <a:ext cx="9144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550" b="1" i="0">
                <a:solidFill>
                  <a:srgbClr val="13233A"/>
                </a:solidFill>
              </a:defRPr>
            </a:pPr>
            <a:r>
              <a:rPr sz="2550" b="1" i="0" dirty="0" err="1">
                <a:solidFill>
                  <a:srgbClr val="13233A"/>
                </a:solidFill>
              </a:rPr>
              <a:t>Objetivo</a:t>
            </a:r>
            <a:endParaRPr sz="2550" b="1" i="0" dirty="0">
              <a:solidFill>
                <a:srgbClr val="13233A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3731D1C-C596-48B5-99A2-9B290CD4F613}"/>
              </a:ext>
            </a:extLst>
          </p:cNvPr>
          <p:cNvSpPr>
            <a:spLocks noGrp="1"/>
          </p:cNvSpPr>
          <p:nvPr/>
        </p:nvSpPr>
        <p:spPr>
          <a:xfrm>
            <a:off x="10572750" y="6286500"/>
            <a:ext cx="5524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0" i="0">
                <a:solidFill>
                  <a:srgbClr val="667085"/>
                </a:solidFill>
              </a:defRPr>
            </a:pPr>
            <a:r>
              <a:rPr sz="1050" b="0" i="0">
                <a:solidFill>
                  <a:srgbClr val="667085"/>
                </a:solidFill>
              </a:rPr>
              <a:t>8/17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0509443-BE80-4F1C-A403-4E19ED1A01ED}"/>
              </a:ext>
            </a:extLst>
          </p:cNvPr>
          <p:cNvSpPr>
            <a:spLocks noGrp="1"/>
          </p:cNvSpPr>
          <p:nvPr/>
        </p:nvSpPr>
        <p:spPr>
          <a:xfrm>
            <a:off x="1095375" y="1381125"/>
            <a:ext cx="8572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175" b="1" i="0">
                <a:solidFill>
                  <a:srgbClr val="13233A"/>
                </a:solidFill>
              </a:defRPr>
            </a:pPr>
            <a:r>
              <a:rPr lang="en-US" sz="2175" b="1" dirty="0" err="1"/>
              <a:t>Desarrollar</a:t>
            </a:r>
            <a:r>
              <a:rPr lang="en-US" sz="2175" b="1" dirty="0"/>
              <a:t> un </a:t>
            </a:r>
            <a:r>
              <a:rPr lang="en-US" sz="2175" b="1" dirty="0" err="1"/>
              <a:t>ecosistema</a:t>
            </a:r>
            <a:r>
              <a:rPr lang="en-US" sz="2175" b="1" dirty="0"/>
              <a:t> </a:t>
            </a:r>
            <a:r>
              <a:rPr lang="en-US" sz="2175" b="1" dirty="0" err="1"/>
              <a:t>multiagente</a:t>
            </a:r>
            <a:r>
              <a:rPr lang="en-US" sz="2175" b="1" dirty="0"/>
              <a:t> </a:t>
            </a:r>
            <a:r>
              <a:rPr lang="en-US" sz="2175" b="1" dirty="0" err="1"/>
              <a:t>basado</a:t>
            </a:r>
            <a:r>
              <a:rPr lang="en-US" sz="2175" b="1" dirty="0"/>
              <a:t> </a:t>
            </a:r>
            <a:r>
              <a:rPr lang="en-US" sz="2175" b="1" dirty="0" err="1"/>
              <a:t>en</a:t>
            </a:r>
            <a:r>
              <a:rPr lang="en-US" sz="2175" b="1" dirty="0"/>
              <a:t> LLM y </a:t>
            </a:r>
            <a:r>
              <a:rPr lang="en-US" sz="2175" b="1" dirty="0" err="1"/>
              <a:t>aprendizaje</a:t>
            </a:r>
            <a:r>
              <a:rPr lang="en-US" sz="2175" b="1" dirty="0"/>
              <a:t> </a:t>
            </a:r>
            <a:r>
              <a:rPr lang="en-US" sz="2175" b="1" dirty="0" err="1"/>
              <a:t>por</a:t>
            </a:r>
            <a:r>
              <a:rPr lang="en-US" sz="2175" b="1" dirty="0"/>
              <a:t> </a:t>
            </a:r>
            <a:r>
              <a:rPr lang="en-US" sz="2175" b="1" dirty="0" err="1"/>
              <a:t>refuerzo</a:t>
            </a:r>
            <a:r>
              <a:rPr lang="en-US" sz="2175" b="1" dirty="0"/>
              <a:t> para la </a:t>
            </a:r>
            <a:r>
              <a:rPr lang="en-US" sz="2175" b="1" dirty="0" err="1"/>
              <a:t>generación</a:t>
            </a:r>
            <a:r>
              <a:rPr lang="en-US" sz="2175" b="1" dirty="0"/>
              <a:t> y </a:t>
            </a:r>
            <a:r>
              <a:rPr lang="en-US" sz="2175" b="1" dirty="0" err="1"/>
              <a:t>validación</a:t>
            </a:r>
            <a:r>
              <a:rPr lang="en-US" sz="2175" b="1" dirty="0"/>
              <a:t> de </a:t>
            </a:r>
            <a:r>
              <a:rPr lang="en-US" sz="2175" b="1" dirty="0" err="1"/>
              <a:t>circuitos</a:t>
            </a:r>
            <a:r>
              <a:rPr lang="en-US" sz="2175" b="1" dirty="0"/>
              <a:t> </a:t>
            </a:r>
            <a:r>
              <a:rPr lang="en-US" sz="2175" b="1" dirty="0" err="1"/>
              <a:t>analógicos</a:t>
            </a:r>
            <a:r>
              <a:rPr lang="en-US" sz="2175" b="1" dirty="0"/>
              <a:t> CA/CD con </a:t>
            </a:r>
            <a:r>
              <a:rPr lang="en-US" sz="2175" b="1" dirty="0" err="1"/>
              <a:t>componentes</a:t>
            </a:r>
            <a:r>
              <a:rPr lang="en-US" sz="2175" b="1" dirty="0"/>
              <a:t> </a:t>
            </a:r>
            <a:r>
              <a:rPr lang="en-US" sz="2175" b="1" dirty="0" err="1"/>
              <a:t>comerciales</a:t>
            </a:r>
            <a:r>
              <a:rPr lang="en-US" sz="2175" b="1" dirty="0"/>
              <a:t> a </a:t>
            </a:r>
            <a:r>
              <a:rPr lang="en-US" sz="2175" b="1" dirty="0" err="1"/>
              <a:t>partir</a:t>
            </a:r>
            <a:r>
              <a:rPr lang="en-US" sz="2175" b="1" dirty="0"/>
              <a:t> de </a:t>
            </a:r>
            <a:r>
              <a:rPr lang="en-US" sz="2175" b="1" dirty="0" err="1"/>
              <a:t>descripciones</a:t>
            </a:r>
            <a:r>
              <a:rPr lang="en-US" sz="2175" b="1" dirty="0"/>
              <a:t> </a:t>
            </a:r>
            <a:r>
              <a:rPr lang="en-US" sz="2175" b="1" dirty="0" err="1"/>
              <a:t>en</a:t>
            </a:r>
            <a:r>
              <a:rPr lang="en-US" sz="2175" b="1" dirty="0"/>
              <a:t> </a:t>
            </a:r>
            <a:r>
              <a:rPr lang="en-US" sz="2175" b="1" dirty="0" err="1"/>
              <a:t>lenguaje</a:t>
            </a:r>
            <a:r>
              <a:rPr lang="en-US" sz="2175" b="1" dirty="0"/>
              <a:t> natural, </a:t>
            </a:r>
            <a:r>
              <a:rPr lang="en-US" sz="2175" b="1" dirty="0" err="1"/>
              <a:t>empleando</a:t>
            </a:r>
            <a:r>
              <a:rPr lang="en-US" sz="2175" b="1" dirty="0"/>
              <a:t> la </a:t>
            </a:r>
            <a:r>
              <a:rPr lang="en-US" sz="2175" b="1" dirty="0" err="1"/>
              <a:t>simulación</a:t>
            </a:r>
            <a:r>
              <a:rPr lang="en-US" sz="2175" b="1" dirty="0"/>
              <a:t> </a:t>
            </a:r>
            <a:r>
              <a:rPr lang="en-US" sz="2175" b="1" dirty="0" err="1"/>
              <a:t>en</a:t>
            </a:r>
            <a:r>
              <a:rPr lang="en-US" sz="2175" b="1" dirty="0"/>
              <a:t> </a:t>
            </a:r>
            <a:r>
              <a:rPr lang="en-US" sz="2175" b="1" dirty="0" err="1"/>
              <a:t>ngspice</a:t>
            </a:r>
            <a:r>
              <a:rPr lang="en-US" sz="2175" b="1" dirty="0"/>
              <a:t> </a:t>
            </a:r>
            <a:r>
              <a:rPr lang="en-US" sz="2175" b="1" dirty="0" err="1"/>
              <a:t>como</a:t>
            </a:r>
            <a:r>
              <a:rPr lang="en-US" sz="2175" b="1" dirty="0"/>
              <a:t> </a:t>
            </a:r>
            <a:r>
              <a:rPr lang="en-US" sz="2175" b="1" dirty="0" err="1"/>
              <a:t>mecanismo</a:t>
            </a:r>
            <a:r>
              <a:rPr lang="en-US" sz="2175" b="1" dirty="0"/>
              <a:t> de </a:t>
            </a:r>
            <a:r>
              <a:rPr lang="en-US" sz="2175" b="1" dirty="0" err="1"/>
              <a:t>validación</a:t>
            </a:r>
            <a:r>
              <a:rPr lang="en-US" sz="2175" b="1" dirty="0"/>
              <a:t>.</a:t>
            </a:r>
            <a:endParaRPr sz="2175" b="1" i="0" dirty="0">
              <a:solidFill>
                <a:srgbClr val="13233A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86FA84B-3BBA-48F8-B7E1-2740FE6FDA6C}"/>
              </a:ext>
            </a:extLst>
          </p:cNvPr>
          <p:cNvSpPr>
            <a:spLocks noGrp="1"/>
          </p:cNvSpPr>
          <p:nvPr/>
        </p:nvSpPr>
        <p:spPr>
          <a:xfrm>
            <a:off x="1285875" y="3686176"/>
            <a:ext cx="1762125" cy="1047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  <p:txBody>
          <a:bodyPr/>
          <a:lstStyle/>
          <a:p>
            <a:pPr algn="ctr">
              <a:buNone/>
              <a:defRPr sz="1725" b="1">
                <a:solidFill>
                  <a:srgbClr val="13233A"/>
                </a:solidFill>
              </a:defRPr>
            </a:pPr>
            <a:r>
              <a:rPr sz="1725" b="1">
                <a:solidFill>
                  <a:srgbClr val="13233A"/>
                </a:solidFill>
              </a:rPr>
              <a:t>Interpretar</a:t>
            </a:r>
          </a:p>
          <a:p>
            <a:pPr algn="ctr">
              <a:buNone/>
              <a:defRPr sz="1725" b="1">
                <a:solidFill>
                  <a:srgbClr val="13233A"/>
                </a:solidFill>
              </a:defRPr>
            </a:pPr>
            <a:r>
              <a:rPr sz="1725" b="1">
                <a:solidFill>
                  <a:srgbClr val="13233A"/>
                </a:solidFill>
              </a:rPr>
              <a:t>especificación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9112BE9-A9F9-4B76-9277-03F323DCB1DD}"/>
              </a:ext>
            </a:extLst>
          </p:cNvPr>
          <p:cNvSpPr>
            <a:spLocks noGrp="1"/>
          </p:cNvSpPr>
          <p:nvPr/>
        </p:nvSpPr>
        <p:spPr>
          <a:xfrm>
            <a:off x="3571875" y="3686176"/>
            <a:ext cx="1762125" cy="1047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  <p:txBody>
          <a:bodyPr/>
          <a:lstStyle/>
          <a:p>
            <a:pPr algn="ctr">
              <a:buNone/>
              <a:defRPr sz="1725" b="1">
                <a:solidFill>
                  <a:srgbClr val="13233A"/>
                </a:solidFill>
              </a:defRPr>
            </a:pPr>
            <a:r>
              <a:rPr sz="1725" b="1">
                <a:solidFill>
                  <a:srgbClr val="13233A"/>
                </a:solidFill>
              </a:rPr>
              <a:t>Calcular</a:t>
            </a:r>
          </a:p>
          <a:p>
            <a:pPr algn="ctr">
              <a:buNone/>
              <a:defRPr sz="1725" b="1">
                <a:solidFill>
                  <a:srgbClr val="13233A"/>
                </a:solidFill>
              </a:defRPr>
            </a:pPr>
            <a:r>
              <a:rPr sz="1725" b="1">
                <a:solidFill>
                  <a:srgbClr val="13233A"/>
                </a:solidFill>
              </a:rPr>
              <a:t>componentes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9B6180D-E99E-429D-AE0E-A07EEAC3F876}"/>
              </a:ext>
            </a:extLst>
          </p:cNvPr>
          <p:cNvSpPr>
            <a:spLocks noGrp="1"/>
          </p:cNvSpPr>
          <p:nvPr/>
        </p:nvSpPr>
        <p:spPr>
          <a:xfrm>
            <a:off x="5857875" y="3686176"/>
            <a:ext cx="1762125" cy="1047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  <p:txBody>
          <a:bodyPr/>
          <a:lstStyle/>
          <a:p>
            <a:pPr algn="ctr">
              <a:buNone/>
              <a:defRPr sz="1725" b="1">
                <a:solidFill>
                  <a:srgbClr val="13233A"/>
                </a:solidFill>
              </a:defRPr>
            </a:pPr>
            <a:r>
              <a:rPr sz="1725" b="1">
                <a:solidFill>
                  <a:srgbClr val="13233A"/>
                </a:solidFill>
              </a:rPr>
              <a:t>Simular</a:t>
            </a:r>
          </a:p>
          <a:p>
            <a:pPr algn="ctr">
              <a:buNone/>
              <a:defRPr sz="1725" b="1">
                <a:solidFill>
                  <a:srgbClr val="13233A"/>
                </a:solidFill>
              </a:defRPr>
            </a:pPr>
            <a:r>
              <a:rPr sz="1725" b="1">
                <a:solidFill>
                  <a:srgbClr val="13233A"/>
                </a:solidFill>
              </a:rPr>
              <a:t>en ngspice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CFC5B17-A137-4FA0-BC3D-4FC766C8675F}"/>
              </a:ext>
            </a:extLst>
          </p:cNvPr>
          <p:cNvSpPr>
            <a:spLocks noGrp="1"/>
          </p:cNvSpPr>
          <p:nvPr/>
        </p:nvSpPr>
        <p:spPr>
          <a:xfrm>
            <a:off x="8143875" y="3686176"/>
            <a:ext cx="1762125" cy="1047750"/>
          </a:xfrm>
          <a:prstGeom prst="roundRect">
            <a:avLst>
              <a:gd name="adj" fmla="val 7273"/>
            </a:avLst>
          </a:prstGeom>
          <a:solidFill>
            <a:srgbClr val="7A003C"/>
          </a:solidFill>
          <a:ln w="9525">
            <a:solidFill>
              <a:srgbClr val="7A003C"/>
            </a:solidFill>
            <a:prstDash val="solid"/>
          </a:ln>
        </p:spPr>
        <p:txBody>
          <a:bodyPr/>
          <a:lstStyle/>
          <a:p>
            <a:pPr algn="ctr"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Ajustar</a:t>
            </a:r>
          </a:p>
          <a:p>
            <a:pPr algn="ctr"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con curador</a:t>
            </a:r>
          </a:p>
        </p:txBody>
      </p:sp>
    </p:spTree>
    <p:extLst>
      <p:ext uri="{BB962C8B-B14F-4D97-AF65-F5344CB8AC3E}">
        <p14:creationId xmlns:p14="http://schemas.microsoft.com/office/powerpoint/2010/main" val="5341417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6076D2C-D86F-4C8C-B865-049C89035851}"/>
              </a:ext>
            </a:extLst>
          </p:cNvPr>
          <p:cNvSpPr>
            <a:spLocks noGrp="1"/>
          </p:cNvSpPr>
          <p:nvPr/>
        </p:nvSpPr>
        <p:spPr>
          <a:xfrm>
            <a:off x="11525250" y="0"/>
            <a:ext cx="666750" cy="6858000"/>
          </a:xfrm>
          <a:prstGeom prst="rect">
            <a:avLst/>
          </a:prstGeom>
          <a:solidFill>
            <a:srgbClr val="7A003C"/>
          </a:solidFill>
          <a:ln w="0">
            <a:solidFill>
              <a:srgbClr val="7A00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F55E950-1541-4ADC-A99A-E998C25F2AED}"/>
              </a:ext>
            </a:extLst>
          </p:cNvPr>
          <p:cNvSpPr>
            <a:spLocks noGrp="1"/>
          </p:cNvSpPr>
          <p:nvPr/>
        </p:nvSpPr>
        <p:spPr>
          <a:xfrm>
            <a:off x="438150" y="1066800"/>
            <a:ext cx="57150" cy="4953000"/>
          </a:xfrm>
          <a:prstGeom prst="rect">
            <a:avLst/>
          </a:prstGeom>
          <a:solidFill>
            <a:srgbClr val="7A003C"/>
          </a:solidFill>
          <a:ln w="0">
            <a:solidFill>
              <a:srgbClr val="7A00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5CE8906-BD7D-406F-A6ED-05EDC23DC971}"/>
              </a:ext>
            </a:extLst>
          </p:cNvPr>
          <p:cNvSpPr>
            <a:spLocks noGrp="1"/>
          </p:cNvSpPr>
          <p:nvPr/>
        </p:nvSpPr>
        <p:spPr>
          <a:xfrm>
            <a:off x="590550" y="1066800"/>
            <a:ext cx="28575" cy="4953000"/>
          </a:xfrm>
          <a:prstGeom prst="rect">
            <a:avLst/>
          </a:prstGeom>
          <a:solidFill>
            <a:srgbClr val="9A174D"/>
          </a:solidFill>
          <a:ln w="0">
            <a:solidFill>
              <a:srgbClr val="9A17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345B9F7-E0BB-4E4D-8132-09811FA1EC3A}"/>
              </a:ext>
            </a:extLst>
          </p:cNvPr>
          <p:cNvSpPr>
            <a:spLocks noGrp="1"/>
          </p:cNvSpPr>
          <p:nvPr/>
        </p:nvSpPr>
        <p:spPr>
          <a:xfrm>
            <a:off x="857250" y="285750"/>
            <a:ext cx="723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 i="0">
                <a:solidFill>
                  <a:srgbClr val="667085"/>
                </a:solidFill>
              </a:defRPr>
            </a:pPr>
            <a:r>
              <a:rPr sz="1050" b="1" i="0">
                <a:solidFill>
                  <a:srgbClr val="667085"/>
                </a:solidFill>
              </a:rPr>
              <a:t>Instituto Politécnico Nacional · ESIME Culhuacán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CF04A9A-05A6-4513-B1AD-D5A6A727C988}"/>
              </a:ext>
            </a:extLst>
          </p:cNvPr>
          <p:cNvSpPr>
            <a:spLocks noGrp="1"/>
          </p:cNvSpPr>
          <p:nvPr/>
        </p:nvSpPr>
        <p:spPr>
          <a:xfrm>
            <a:off x="857250" y="590550"/>
            <a:ext cx="9144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550" b="1" i="0">
                <a:solidFill>
                  <a:srgbClr val="13233A"/>
                </a:solidFill>
              </a:defRPr>
            </a:pPr>
            <a:r>
              <a:rPr sz="2550" b="1" i="0">
                <a:solidFill>
                  <a:srgbClr val="13233A"/>
                </a:solidFill>
              </a:rPr>
              <a:t>Alcance de la solución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C713CD7-8B96-4700-940D-61876A95984D}"/>
              </a:ext>
            </a:extLst>
          </p:cNvPr>
          <p:cNvSpPr>
            <a:spLocks noGrp="1"/>
          </p:cNvSpPr>
          <p:nvPr/>
        </p:nvSpPr>
        <p:spPr>
          <a:xfrm>
            <a:off x="10572750" y="6286500"/>
            <a:ext cx="5524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0" i="0">
                <a:solidFill>
                  <a:srgbClr val="667085"/>
                </a:solidFill>
              </a:defRPr>
            </a:pPr>
            <a:r>
              <a:rPr sz="1050" b="0" i="0">
                <a:solidFill>
                  <a:srgbClr val="667085"/>
                </a:solidFill>
              </a:rPr>
              <a:t>9/17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8C9CCED-DA45-4B86-AC46-ABB6B806A945}"/>
              </a:ext>
            </a:extLst>
          </p:cNvPr>
          <p:cNvSpPr>
            <a:spLocks noGrp="1"/>
          </p:cNvSpPr>
          <p:nvPr/>
        </p:nvSpPr>
        <p:spPr>
          <a:xfrm>
            <a:off x="1238250" y="1428750"/>
            <a:ext cx="4095750" cy="533400"/>
          </a:xfrm>
          <a:prstGeom prst="roundRect">
            <a:avLst>
              <a:gd name="adj" fmla="val 14286"/>
            </a:avLst>
          </a:prstGeom>
          <a:solidFill>
            <a:srgbClr val="7A003C"/>
          </a:solidFill>
          <a:ln w="9525">
            <a:solidFill>
              <a:srgbClr val="7A003C"/>
            </a:solidFill>
            <a:prstDash val="solid"/>
          </a:ln>
        </p:spPr>
        <p:txBody>
          <a:bodyPr/>
          <a:lstStyle/>
          <a:p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Sí contempla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201642E-2AE2-4B4C-AF22-392EF598DDBD}"/>
              </a:ext>
            </a:extLst>
          </p:cNvPr>
          <p:cNvSpPr>
            <a:spLocks noGrp="1"/>
          </p:cNvSpPr>
          <p:nvPr/>
        </p:nvSpPr>
        <p:spPr>
          <a:xfrm>
            <a:off x="1428750" y="2190750"/>
            <a:ext cx="3714750" cy="228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0" i="0">
                <a:solidFill>
                  <a:srgbClr val="13233A"/>
                </a:solidFill>
              </a:defRPr>
            </a:pPr>
            <a:r>
              <a:rPr sz="1725" b="0" i="0">
                <a:solidFill>
                  <a:srgbClr val="13233A"/>
                </a:solidFill>
              </a:rPr>
              <a:t>• Circuitos analógicos CA/CD</a:t>
            </a:r>
          </a:p>
          <a:p>
            <a:pPr algn="l">
              <a:buNone/>
              <a:defRPr sz="1725" b="0" i="0">
                <a:solidFill>
                  <a:srgbClr val="13233A"/>
                </a:solidFill>
              </a:defRPr>
            </a:pPr>
            <a:r>
              <a:rPr sz="1725" b="0" i="0">
                <a:solidFill>
                  <a:srgbClr val="13233A"/>
                </a:solidFill>
              </a:rPr>
              <a:t>• Componentes comerciales con modelo SPICE</a:t>
            </a:r>
          </a:p>
          <a:p>
            <a:pPr algn="l">
              <a:buNone/>
              <a:defRPr sz="1725" b="0" i="0">
                <a:solidFill>
                  <a:srgbClr val="13233A"/>
                </a:solidFill>
              </a:defRPr>
            </a:pPr>
            <a:r>
              <a:rPr sz="1725" b="0" i="0">
                <a:solidFill>
                  <a:srgbClr val="13233A"/>
                </a:solidFill>
              </a:rPr>
              <a:t>• Generación de netlist</a:t>
            </a:r>
          </a:p>
          <a:p>
            <a:pPr algn="l">
              <a:buNone/>
              <a:defRPr sz="1725" b="0" i="0">
                <a:solidFill>
                  <a:srgbClr val="13233A"/>
                </a:solidFill>
              </a:defRPr>
            </a:pPr>
            <a:r>
              <a:rPr sz="1725" b="0" i="0">
                <a:solidFill>
                  <a:srgbClr val="13233A"/>
                </a:solidFill>
              </a:rPr>
              <a:t>• Simulación en ngspice</a:t>
            </a:r>
          </a:p>
          <a:p>
            <a:pPr algn="l">
              <a:buNone/>
              <a:defRPr sz="1725" b="0" i="0">
                <a:solidFill>
                  <a:srgbClr val="13233A"/>
                </a:solidFill>
              </a:defRPr>
            </a:pPr>
            <a:r>
              <a:rPr sz="1725" b="0" i="0">
                <a:solidFill>
                  <a:srgbClr val="13233A"/>
                </a:solidFill>
              </a:rPr>
              <a:t>• Historial de iteraciones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E27F198-34F2-4BAB-8933-F30AEBB61C1C}"/>
              </a:ext>
            </a:extLst>
          </p:cNvPr>
          <p:cNvSpPr>
            <a:spLocks noGrp="1"/>
          </p:cNvSpPr>
          <p:nvPr/>
        </p:nvSpPr>
        <p:spPr>
          <a:xfrm>
            <a:off x="6286500" y="1428750"/>
            <a:ext cx="4095750" cy="533400"/>
          </a:xfrm>
          <a:prstGeom prst="roundRect">
            <a:avLst>
              <a:gd name="adj" fmla="val 14286"/>
            </a:avLst>
          </a:prstGeom>
          <a:solidFill>
            <a:srgbClr val="13233A"/>
          </a:solidFill>
          <a:ln w="9525">
            <a:solidFill>
              <a:srgbClr val="13233A"/>
            </a:solidFill>
            <a:prstDash val="solid"/>
          </a:ln>
        </p:spPr>
        <p:txBody>
          <a:bodyPr/>
          <a:lstStyle/>
          <a:p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No contempla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1876C7E-D0B4-4197-8AA5-44017C8AAB8B}"/>
              </a:ext>
            </a:extLst>
          </p:cNvPr>
          <p:cNvSpPr>
            <a:spLocks noGrp="1"/>
          </p:cNvSpPr>
          <p:nvPr/>
        </p:nvSpPr>
        <p:spPr>
          <a:xfrm>
            <a:off x="6477000" y="2190750"/>
            <a:ext cx="3714750" cy="228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0" i="0">
                <a:solidFill>
                  <a:srgbClr val="13233A"/>
                </a:solidFill>
              </a:defRPr>
            </a:pPr>
            <a:r>
              <a:rPr sz="1725" b="0" i="0">
                <a:solidFill>
                  <a:srgbClr val="13233A"/>
                </a:solidFill>
              </a:rPr>
              <a:t>• Diseño PCB</a:t>
            </a:r>
          </a:p>
          <a:p>
            <a:pPr algn="l">
              <a:buNone/>
              <a:defRPr sz="1725" b="0" i="0">
                <a:solidFill>
                  <a:srgbClr val="13233A"/>
                </a:solidFill>
              </a:defRPr>
            </a:pPr>
            <a:r>
              <a:rPr sz="1725" b="0" i="0">
                <a:solidFill>
                  <a:srgbClr val="13233A"/>
                </a:solidFill>
              </a:rPr>
              <a:t>• Síntesis a nivel transistor</a:t>
            </a:r>
          </a:p>
          <a:p>
            <a:pPr algn="l">
              <a:buNone/>
              <a:defRPr sz="1725" b="0" i="0">
                <a:solidFill>
                  <a:srgbClr val="13233A"/>
                </a:solidFill>
              </a:defRPr>
            </a:pPr>
            <a:r>
              <a:rPr sz="1725" b="0" i="0">
                <a:solidFill>
                  <a:srgbClr val="13233A"/>
                </a:solidFill>
              </a:rPr>
              <a:t>• PDK propietario</a:t>
            </a:r>
          </a:p>
          <a:p>
            <a:pPr algn="l">
              <a:buNone/>
              <a:defRPr sz="1725" b="0" i="0">
                <a:solidFill>
                  <a:srgbClr val="13233A"/>
                </a:solidFill>
              </a:defRPr>
            </a:pPr>
            <a:r>
              <a:rPr sz="1725" b="0" i="0">
                <a:solidFill>
                  <a:srgbClr val="13233A"/>
                </a:solidFill>
              </a:rPr>
              <a:t>• Esquemáticos gráficos</a:t>
            </a:r>
          </a:p>
          <a:p>
            <a:pPr algn="l">
              <a:buNone/>
              <a:defRPr sz="1725" b="0" i="0">
                <a:solidFill>
                  <a:srgbClr val="13233A"/>
                </a:solidFill>
              </a:defRPr>
            </a:pPr>
            <a:r>
              <a:rPr sz="1725" b="0" i="0">
                <a:solidFill>
                  <a:srgbClr val="13233A"/>
                </a:solidFill>
              </a:rPr>
              <a:t>• Componentes sin modelo SPICE</a:t>
            </a:r>
          </a:p>
        </p:txBody>
      </p:sp>
    </p:spTree>
    <p:extLst>
      <p:ext uri="{BB962C8B-B14F-4D97-AF65-F5344CB8AC3E}">
        <p14:creationId xmlns:p14="http://schemas.microsoft.com/office/powerpoint/2010/main" val="285199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3C8E84F-8AD6-4258-9225-D1B6BB101750}"/>
              </a:ext>
            </a:extLst>
          </p:cNvPr>
          <p:cNvSpPr>
            <a:spLocks noGrp="1"/>
          </p:cNvSpPr>
          <p:nvPr/>
        </p:nvSpPr>
        <p:spPr>
          <a:xfrm>
            <a:off x="438150" y="1066800"/>
            <a:ext cx="57150" cy="4953000"/>
          </a:xfrm>
          <a:prstGeom prst="rect">
            <a:avLst/>
          </a:prstGeom>
          <a:solidFill>
            <a:srgbClr val="7A003C"/>
          </a:solidFill>
          <a:ln w="0">
            <a:solidFill>
              <a:srgbClr val="7A00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1D611CE-9AF2-4BF1-89EE-61A26E52CE2C}"/>
              </a:ext>
            </a:extLst>
          </p:cNvPr>
          <p:cNvSpPr>
            <a:spLocks noGrp="1"/>
          </p:cNvSpPr>
          <p:nvPr/>
        </p:nvSpPr>
        <p:spPr>
          <a:xfrm>
            <a:off x="590550" y="1066800"/>
            <a:ext cx="28575" cy="4953000"/>
          </a:xfrm>
          <a:prstGeom prst="rect">
            <a:avLst/>
          </a:prstGeom>
          <a:solidFill>
            <a:srgbClr val="9A174D"/>
          </a:solidFill>
          <a:ln w="0">
            <a:solidFill>
              <a:srgbClr val="9A17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2F0854-1DFB-4855-A953-9E97E2BBD855}"/>
              </a:ext>
            </a:extLst>
          </p:cNvPr>
          <p:cNvSpPr>
            <a:spLocks noGrp="1"/>
          </p:cNvSpPr>
          <p:nvPr/>
        </p:nvSpPr>
        <p:spPr>
          <a:xfrm>
            <a:off x="857250" y="285750"/>
            <a:ext cx="723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 i="0">
                <a:solidFill>
                  <a:srgbClr val="667085"/>
                </a:solidFill>
              </a:defRPr>
            </a:pPr>
            <a:r>
              <a:rPr sz="1050" b="1" i="0">
                <a:solidFill>
                  <a:srgbClr val="667085"/>
                </a:solidFill>
              </a:rPr>
              <a:t>Instituto Politécnico Nacional · ESIME Culhuacán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E7975F-D122-46A6-84F5-E1F9DF91CE14}"/>
              </a:ext>
            </a:extLst>
          </p:cNvPr>
          <p:cNvSpPr>
            <a:spLocks noGrp="1"/>
          </p:cNvSpPr>
          <p:nvPr/>
        </p:nvSpPr>
        <p:spPr>
          <a:xfrm>
            <a:off x="857250" y="590550"/>
            <a:ext cx="9144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550" b="1" i="0">
                <a:solidFill>
                  <a:srgbClr val="13233A"/>
                </a:solidFill>
              </a:defRPr>
            </a:pPr>
            <a:r>
              <a:rPr sz="2550" b="1" i="0">
                <a:solidFill>
                  <a:srgbClr val="13233A"/>
                </a:solidFill>
              </a:rPr>
              <a:t>Marco teórico: base tecnológica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0177144-EA5B-4640-9274-04B42DB53D0E}"/>
              </a:ext>
            </a:extLst>
          </p:cNvPr>
          <p:cNvSpPr>
            <a:spLocks noGrp="1"/>
          </p:cNvSpPr>
          <p:nvPr/>
        </p:nvSpPr>
        <p:spPr>
          <a:xfrm>
            <a:off x="10572750" y="6286500"/>
            <a:ext cx="5524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0" i="0">
                <a:solidFill>
                  <a:srgbClr val="667085"/>
                </a:solidFill>
              </a:defRPr>
            </a:pPr>
            <a:r>
              <a:rPr sz="1050" b="0" i="0">
                <a:solidFill>
                  <a:srgbClr val="667085"/>
                </a:solidFill>
              </a:rPr>
              <a:t>3/17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8826009-6A9E-482B-A101-EA02FF6F2044}"/>
              </a:ext>
            </a:extLst>
          </p:cNvPr>
          <p:cNvSpPr>
            <a:spLocks noGrp="1"/>
          </p:cNvSpPr>
          <p:nvPr/>
        </p:nvSpPr>
        <p:spPr>
          <a:xfrm>
            <a:off x="1047750" y="1219200"/>
            <a:ext cx="8572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 i="0">
                <a:solidFill>
                  <a:srgbClr val="667085"/>
                </a:solidFill>
              </a:defRPr>
            </a:pPr>
            <a:r>
              <a:rPr sz="1500" b="0" i="0">
                <a:solidFill>
                  <a:srgbClr val="667085"/>
                </a:solidFill>
              </a:rPr>
              <a:t>Base conceptual y stack técnico del flujo.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72648BF-2961-44B4-A096-EDBAA1E8624A}"/>
              </a:ext>
            </a:extLst>
          </p:cNvPr>
          <p:cNvSpPr>
            <a:spLocks noGrp="1"/>
          </p:cNvSpPr>
          <p:nvPr/>
        </p:nvSpPr>
        <p:spPr>
          <a:xfrm>
            <a:off x="1143000" y="1857375"/>
            <a:ext cx="2714625" cy="914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768AFEA-3779-474D-B4C7-5377F151DDF4}"/>
              </a:ext>
            </a:extLst>
          </p:cNvPr>
          <p:cNvSpPr>
            <a:spLocks noGrp="1"/>
          </p:cNvSpPr>
          <p:nvPr/>
        </p:nvSpPr>
        <p:spPr>
          <a:xfrm>
            <a:off x="1314450" y="2028825"/>
            <a:ext cx="552450" cy="552450"/>
          </a:xfrm>
          <a:prstGeom prst="roundRect">
            <a:avLst>
              <a:gd name="adj" fmla="val 13793"/>
            </a:avLst>
          </a:prstGeom>
          <a:solidFill>
            <a:srgbClr val="7A003C"/>
          </a:solidFill>
          <a:ln w="0">
            <a:solidFill>
              <a:srgbClr val="7A003C"/>
            </a:solidFill>
            <a:prstDash val="solid"/>
          </a:ln>
        </p:spPr>
        <p:txBody>
          <a:bodyPr/>
          <a:lstStyle/>
          <a:p>
            <a:pPr algn="ctr">
              <a:buNone/>
              <a:defRPr sz="1500" b="1">
                <a:solidFill>
                  <a:srgbClr val="FFFFFF"/>
                </a:solidFill>
              </a:defRPr>
            </a:pPr>
            <a:endParaRPr sz="1500" b="1" dirty="0">
              <a:solidFill>
                <a:srgbClr val="FFFFFF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E29AC3A-08B9-4041-B6FF-4CC5A0558DA0}"/>
              </a:ext>
            </a:extLst>
          </p:cNvPr>
          <p:cNvSpPr>
            <a:spLocks noGrp="1"/>
          </p:cNvSpPr>
          <p:nvPr/>
        </p:nvSpPr>
        <p:spPr>
          <a:xfrm>
            <a:off x="2019300" y="2028825"/>
            <a:ext cx="1666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 i="0">
                <a:solidFill>
                  <a:srgbClr val="13233A"/>
                </a:solidFill>
              </a:defRPr>
            </a:pPr>
            <a:r>
              <a:rPr sz="1500" b="1" i="0">
                <a:solidFill>
                  <a:srgbClr val="13233A"/>
                </a:solidFill>
              </a:rPr>
              <a:t>LLM / API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020B8B4-17F6-4356-98A4-F6270020D4F7}"/>
              </a:ext>
            </a:extLst>
          </p:cNvPr>
          <p:cNvSpPr>
            <a:spLocks noGrp="1"/>
          </p:cNvSpPr>
          <p:nvPr/>
        </p:nvSpPr>
        <p:spPr>
          <a:xfrm>
            <a:off x="2019300" y="2333625"/>
            <a:ext cx="16668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 i="0">
                <a:solidFill>
                  <a:srgbClr val="667085"/>
                </a:solidFill>
              </a:defRPr>
            </a:pPr>
            <a:r>
              <a:rPr sz="1050" b="0" i="0">
                <a:solidFill>
                  <a:srgbClr val="667085"/>
                </a:solidFill>
              </a:rPr>
              <a:t>interpretación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390A721-AE14-44A0-8BC5-4E4D1E9D2987}"/>
              </a:ext>
            </a:extLst>
          </p:cNvPr>
          <p:cNvSpPr>
            <a:spLocks noGrp="1"/>
          </p:cNvSpPr>
          <p:nvPr/>
        </p:nvSpPr>
        <p:spPr>
          <a:xfrm>
            <a:off x="4286250" y="1857375"/>
            <a:ext cx="2714625" cy="914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5DBF86E-504A-4739-B9E4-5BC2D9DEC517}"/>
              </a:ext>
            </a:extLst>
          </p:cNvPr>
          <p:cNvSpPr>
            <a:spLocks noGrp="1"/>
          </p:cNvSpPr>
          <p:nvPr/>
        </p:nvSpPr>
        <p:spPr>
          <a:xfrm>
            <a:off x="4457700" y="2028825"/>
            <a:ext cx="552450" cy="552450"/>
          </a:xfrm>
          <a:prstGeom prst="roundRect">
            <a:avLst>
              <a:gd name="adj" fmla="val 13793"/>
            </a:avLst>
          </a:prstGeom>
          <a:solidFill>
            <a:srgbClr val="274C77"/>
          </a:solidFill>
          <a:ln w="0">
            <a:solidFill>
              <a:srgbClr val="274C77"/>
            </a:solidFill>
            <a:prstDash val="solid"/>
          </a:ln>
        </p:spPr>
        <p:txBody>
          <a:bodyPr/>
          <a:lstStyle/>
          <a:p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LG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2E94D0E-4BE2-4E38-BD14-36BCAFB53606}"/>
              </a:ext>
            </a:extLst>
          </p:cNvPr>
          <p:cNvSpPr>
            <a:spLocks noGrp="1"/>
          </p:cNvSpPr>
          <p:nvPr/>
        </p:nvSpPr>
        <p:spPr>
          <a:xfrm>
            <a:off x="5162550" y="2028825"/>
            <a:ext cx="1666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 i="0">
                <a:solidFill>
                  <a:srgbClr val="13233A"/>
                </a:solidFill>
              </a:defRPr>
            </a:pPr>
            <a:r>
              <a:rPr sz="1500" b="1" i="0" dirty="0" err="1">
                <a:solidFill>
                  <a:srgbClr val="13233A"/>
                </a:solidFill>
              </a:rPr>
              <a:t>LangGraph</a:t>
            </a:r>
            <a:endParaRPr sz="1500" b="1" i="0" dirty="0">
              <a:solidFill>
                <a:srgbClr val="13233A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3D7E1EC-1204-4168-BD28-B0B292709A0E}"/>
              </a:ext>
            </a:extLst>
          </p:cNvPr>
          <p:cNvSpPr>
            <a:spLocks noGrp="1"/>
          </p:cNvSpPr>
          <p:nvPr/>
        </p:nvSpPr>
        <p:spPr>
          <a:xfrm>
            <a:off x="5162550" y="2333625"/>
            <a:ext cx="16668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 i="0">
                <a:solidFill>
                  <a:srgbClr val="667085"/>
                </a:solidFill>
              </a:defRPr>
            </a:pPr>
            <a:r>
              <a:rPr sz="1050" b="0" i="0">
                <a:solidFill>
                  <a:srgbClr val="667085"/>
                </a:solidFill>
              </a:rPr>
              <a:t>orquestación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BA81A2E-EDAF-434A-AE6E-F914461D6C61}"/>
              </a:ext>
            </a:extLst>
          </p:cNvPr>
          <p:cNvSpPr>
            <a:spLocks noGrp="1"/>
          </p:cNvSpPr>
          <p:nvPr/>
        </p:nvSpPr>
        <p:spPr>
          <a:xfrm>
            <a:off x="7429500" y="1857375"/>
            <a:ext cx="2714625" cy="914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24BA83C-7934-413A-B978-294B622360CD}"/>
              </a:ext>
            </a:extLst>
          </p:cNvPr>
          <p:cNvSpPr>
            <a:spLocks noGrp="1"/>
          </p:cNvSpPr>
          <p:nvPr/>
        </p:nvSpPr>
        <p:spPr>
          <a:xfrm>
            <a:off x="8305800" y="2028825"/>
            <a:ext cx="1666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 i="0">
                <a:solidFill>
                  <a:srgbClr val="13233A"/>
                </a:solidFill>
              </a:defRPr>
            </a:pPr>
            <a:r>
              <a:rPr lang="en-US" sz="1500" b="1" i="0" dirty="0">
                <a:solidFill>
                  <a:srgbClr val="13233A"/>
                </a:solidFill>
              </a:rPr>
              <a:t>Python</a:t>
            </a:r>
            <a:endParaRPr sz="1500" b="1" i="0" dirty="0">
              <a:solidFill>
                <a:srgbClr val="13233A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5046D07-8E9E-40E4-AE46-072F792C4D16}"/>
              </a:ext>
            </a:extLst>
          </p:cNvPr>
          <p:cNvSpPr>
            <a:spLocks noGrp="1"/>
          </p:cNvSpPr>
          <p:nvPr/>
        </p:nvSpPr>
        <p:spPr>
          <a:xfrm>
            <a:off x="8305800" y="2333625"/>
            <a:ext cx="16668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 i="0">
                <a:solidFill>
                  <a:srgbClr val="667085"/>
                </a:solidFill>
              </a:defRPr>
            </a:pPr>
            <a:r>
              <a:rPr sz="1050" b="0" i="0">
                <a:solidFill>
                  <a:srgbClr val="667085"/>
                </a:solidFill>
              </a:rPr>
              <a:t>servidor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B90AA84-CEC4-4A42-BF31-9EA3AEEBDD58}"/>
              </a:ext>
            </a:extLst>
          </p:cNvPr>
          <p:cNvSpPr>
            <a:spLocks noGrp="1"/>
          </p:cNvSpPr>
          <p:nvPr/>
        </p:nvSpPr>
        <p:spPr>
          <a:xfrm>
            <a:off x="1143000" y="3048000"/>
            <a:ext cx="2714625" cy="914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08F469E-C021-4550-B215-B01669219B4A}"/>
              </a:ext>
            </a:extLst>
          </p:cNvPr>
          <p:cNvSpPr>
            <a:spLocks noGrp="1"/>
          </p:cNvSpPr>
          <p:nvPr/>
        </p:nvSpPr>
        <p:spPr>
          <a:xfrm>
            <a:off x="1314450" y="3219450"/>
            <a:ext cx="552450" cy="552450"/>
          </a:xfrm>
          <a:prstGeom prst="roundRect">
            <a:avLst>
              <a:gd name="adj" fmla="val 13793"/>
            </a:avLst>
          </a:prstGeom>
          <a:solidFill>
            <a:srgbClr val="306998"/>
          </a:solidFill>
          <a:ln w="0">
            <a:solidFill>
              <a:srgbClr val="306998"/>
            </a:solidFill>
            <a:prstDash val="solid"/>
          </a:ln>
        </p:spPr>
        <p:txBody>
          <a:bodyPr/>
          <a:lstStyle/>
          <a:p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PS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D6639AC-AF1B-4DEC-8F40-824281C8D738}"/>
              </a:ext>
            </a:extLst>
          </p:cNvPr>
          <p:cNvSpPr>
            <a:spLocks noGrp="1"/>
          </p:cNvSpPr>
          <p:nvPr/>
        </p:nvSpPr>
        <p:spPr>
          <a:xfrm>
            <a:off x="2019300" y="3219450"/>
            <a:ext cx="1666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 i="0">
                <a:solidFill>
                  <a:srgbClr val="13233A"/>
                </a:solidFill>
              </a:defRPr>
            </a:pPr>
            <a:r>
              <a:rPr sz="1500" b="1" i="0" dirty="0" err="1">
                <a:solidFill>
                  <a:srgbClr val="13233A"/>
                </a:solidFill>
              </a:rPr>
              <a:t>PySpice</a:t>
            </a:r>
            <a:endParaRPr sz="1500" b="1" i="0" dirty="0">
              <a:solidFill>
                <a:srgbClr val="13233A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DD2513D-C991-4484-BF4A-435DC209D7D9}"/>
              </a:ext>
            </a:extLst>
          </p:cNvPr>
          <p:cNvSpPr>
            <a:spLocks noGrp="1"/>
          </p:cNvSpPr>
          <p:nvPr/>
        </p:nvSpPr>
        <p:spPr>
          <a:xfrm>
            <a:off x="2019300" y="3524250"/>
            <a:ext cx="16668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 i="0">
                <a:solidFill>
                  <a:srgbClr val="667085"/>
                </a:solidFill>
              </a:defRPr>
            </a:pPr>
            <a:r>
              <a:rPr sz="1050" b="0" i="0">
                <a:solidFill>
                  <a:srgbClr val="667085"/>
                </a:solidFill>
              </a:rPr>
              <a:t>puente SPICE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BB37D28D-8700-4336-98B8-D1A855A12042}"/>
              </a:ext>
            </a:extLst>
          </p:cNvPr>
          <p:cNvSpPr>
            <a:spLocks noGrp="1"/>
          </p:cNvSpPr>
          <p:nvPr/>
        </p:nvSpPr>
        <p:spPr>
          <a:xfrm>
            <a:off x="4286250" y="3048000"/>
            <a:ext cx="2714625" cy="914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7D3EDAE6-D661-4576-A3F3-7D9D64FEFA5A}"/>
              </a:ext>
            </a:extLst>
          </p:cNvPr>
          <p:cNvSpPr>
            <a:spLocks noGrp="1"/>
          </p:cNvSpPr>
          <p:nvPr/>
        </p:nvSpPr>
        <p:spPr>
          <a:xfrm>
            <a:off x="4457700" y="3219450"/>
            <a:ext cx="552450" cy="552450"/>
          </a:xfrm>
          <a:prstGeom prst="roundRect">
            <a:avLst>
              <a:gd name="adj" fmla="val 13793"/>
            </a:avLst>
          </a:prstGeom>
          <a:solidFill>
            <a:srgbClr val="C0392B"/>
          </a:solidFill>
          <a:ln w="0">
            <a:solidFill>
              <a:srgbClr val="C0392B"/>
            </a:solidFill>
            <a:prstDash val="solid"/>
          </a:ln>
        </p:spPr>
        <p:txBody>
          <a:bodyPr/>
          <a:lstStyle/>
          <a:p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ng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F68B53B-DE04-4A4E-BB64-CA2360DDE7A1}"/>
              </a:ext>
            </a:extLst>
          </p:cNvPr>
          <p:cNvSpPr>
            <a:spLocks noGrp="1"/>
          </p:cNvSpPr>
          <p:nvPr/>
        </p:nvSpPr>
        <p:spPr>
          <a:xfrm>
            <a:off x="5162550" y="3219450"/>
            <a:ext cx="1666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 i="0">
                <a:solidFill>
                  <a:srgbClr val="13233A"/>
                </a:solidFill>
              </a:defRPr>
            </a:pPr>
            <a:r>
              <a:rPr sz="1500" b="1" i="0" dirty="0" err="1">
                <a:solidFill>
                  <a:srgbClr val="13233A"/>
                </a:solidFill>
              </a:rPr>
              <a:t>ngspice</a:t>
            </a:r>
            <a:endParaRPr sz="1500" b="1" i="0" dirty="0">
              <a:solidFill>
                <a:srgbClr val="13233A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4CBC13C-A600-4903-A20D-DF38EE86C9CA}"/>
              </a:ext>
            </a:extLst>
          </p:cNvPr>
          <p:cNvSpPr>
            <a:spLocks noGrp="1"/>
          </p:cNvSpPr>
          <p:nvPr/>
        </p:nvSpPr>
        <p:spPr>
          <a:xfrm>
            <a:off x="5162550" y="3524250"/>
            <a:ext cx="16668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 i="0">
                <a:solidFill>
                  <a:srgbClr val="667085"/>
                </a:solidFill>
              </a:defRPr>
            </a:pPr>
            <a:r>
              <a:rPr sz="1050" b="0" i="0">
                <a:solidFill>
                  <a:srgbClr val="667085"/>
                </a:solidFill>
              </a:rPr>
              <a:t>simulación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8A5A311C-8478-491D-B66D-0BFD43770631}"/>
              </a:ext>
            </a:extLst>
          </p:cNvPr>
          <p:cNvSpPr>
            <a:spLocks noGrp="1"/>
          </p:cNvSpPr>
          <p:nvPr/>
        </p:nvSpPr>
        <p:spPr>
          <a:xfrm>
            <a:off x="7429500" y="3048000"/>
            <a:ext cx="2714625" cy="914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DA0D0CB-F9E6-4422-9DE9-26F21E871700}"/>
              </a:ext>
            </a:extLst>
          </p:cNvPr>
          <p:cNvSpPr>
            <a:spLocks noGrp="1"/>
          </p:cNvSpPr>
          <p:nvPr/>
        </p:nvSpPr>
        <p:spPr>
          <a:xfrm>
            <a:off x="8305800" y="3219450"/>
            <a:ext cx="1666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 i="0">
                <a:solidFill>
                  <a:srgbClr val="13233A"/>
                </a:solidFill>
              </a:defRPr>
            </a:pPr>
            <a:r>
              <a:rPr sz="1500" b="1" i="0" dirty="0">
                <a:solidFill>
                  <a:srgbClr val="13233A"/>
                </a:solidFill>
              </a:rPr>
              <a:t>PostgreSQL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CAA2BD7-ACFE-4161-9DBC-FEC38013586C}"/>
              </a:ext>
            </a:extLst>
          </p:cNvPr>
          <p:cNvSpPr>
            <a:spLocks noGrp="1"/>
          </p:cNvSpPr>
          <p:nvPr/>
        </p:nvSpPr>
        <p:spPr>
          <a:xfrm>
            <a:off x="8305800" y="3524250"/>
            <a:ext cx="16668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 i="0">
                <a:solidFill>
                  <a:srgbClr val="667085"/>
                </a:solidFill>
              </a:defRPr>
            </a:pPr>
            <a:r>
              <a:rPr sz="1050" b="0" i="0">
                <a:solidFill>
                  <a:srgbClr val="667085"/>
                </a:solidFill>
              </a:rPr>
              <a:t>persistencia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28C2D6E0-C19B-4A88-8359-9D3367ADB2A8}"/>
              </a:ext>
            </a:extLst>
          </p:cNvPr>
          <p:cNvSpPr>
            <a:spLocks noGrp="1"/>
          </p:cNvSpPr>
          <p:nvPr/>
        </p:nvSpPr>
        <p:spPr>
          <a:xfrm>
            <a:off x="1143000" y="4238625"/>
            <a:ext cx="2714625" cy="914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45F18B67-2C2A-404E-BEFE-3523E92FD800}"/>
              </a:ext>
            </a:extLst>
          </p:cNvPr>
          <p:cNvSpPr>
            <a:spLocks noGrp="1"/>
          </p:cNvSpPr>
          <p:nvPr/>
        </p:nvSpPr>
        <p:spPr>
          <a:xfrm>
            <a:off x="1314450" y="4410075"/>
            <a:ext cx="552450" cy="552450"/>
          </a:xfrm>
          <a:prstGeom prst="roundRect">
            <a:avLst>
              <a:gd name="adj" fmla="val 13793"/>
            </a:avLst>
          </a:prstGeom>
          <a:solidFill>
            <a:srgbClr val="2496ED"/>
          </a:solidFill>
          <a:ln w="0">
            <a:solidFill>
              <a:srgbClr val="2496ED"/>
            </a:solidFill>
            <a:prstDash val="solid"/>
          </a:ln>
        </p:spPr>
        <p:txBody>
          <a:bodyPr/>
          <a:lstStyle/>
          <a:p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Dk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5ABD091-61BD-4D54-B5B4-648787661FA6}"/>
              </a:ext>
            </a:extLst>
          </p:cNvPr>
          <p:cNvSpPr>
            <a:spLocks noGrp="1"/>
          </p:cNvSpPr>
          <p:nvPr/>
        </p:nvSpPr>
        <p:spPr>
          <a:xfrm>
            <a:off x="2019300" y="4410075"/>
            <a:ext cx="1666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 i="0">
                <a:solidFill>
                  <a:srgbClr val="13233A"/>
                </a:solidFill>
              </a:defRPr>
            </a:pPr>
            <a:r>
              <a:rPr sz="1500" b="1" i="0">
                <a:solidFill>
                  <a:srgbClr val="13233A"/>
                </a:solidFill>
              </a:rPr>
              <a:t>Docker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80054B7-BB45-4C7B-BF62-3428E85F1944}"/>
              </a:ext>
            </a:extLst>
          </p:cNvPr>
          <p:cNvSpPr>
            <a:spLocks noGrp="1"/>
          </p:cNvSpPr>
          <p:nvPr/>
        </p:nvSpPr>
        <p:spPr>
          <a:xfrm>
            <a:off x="2019300" y="4714875"/>
            <a:ext cx="16668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 i="0">
                <a:solidFill>
                  <a:srgbClr val="667085"/>
                </a:solidFill>
              </a:defRPr>
            </a:pPr>
            <a:r>
              <a:rPr sz="1050" b="0" i="0">
                <a:solidFill>
                  <a:srgbClr val="667085"/>
                </a:solidFill>
              </a:rPr>
              <a:t>despliegue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1785B4F0-4219-425C-B7EF-7DFCA5EE0DA0}"/>
              </a:ext>
            </a:extLst>
          </p:cNvPr>
          <p:cNvSpPr>
            <a:spLocks noGrp="1"/>
          </p:cNvSpPr>
          <p:nvPr/>
        </p:nvSpPr>
        <p:spPr>
          <a:xfrm>
            <a:off x="4286250" y="4238625"/>
            <a:ext cx="2714625" cy="914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D24F7BFF-E00C-465F-A548-AA6FE695C215}"/>
              </a:ext>
            </a:extLst>
          </p:cNvPr>
          <p:cNvSpPr>
            <a:spLocks noGrp="1"/>
          </p:cNvSpPr>
          <p:nvPr/>
        </p:nvSpPr>
        <p:spPr>
          <a:xfrm>
            <a:off x="4457700" y="4410075"/>
            <a:ext cx="552450" cy="552450"/>
          </a:xfrm>
          <a:prstGeom prst="roundRect">
            <a:avLst>
              <a:gd name="adj" fmla="val 13793"/>
            </a:avLst>
          </a:prstGeom>
          <a:solidFill>
            <a:srgbClr val="111827"/>
          </a:solidFill>
          <a:ln w="0">
            <a:solidFill>
              <a:srgbClr val="111827"/>
            </a:solidFill>
            <a:prstDash val="solid"/>
          </a:ln>
        </p:spPr>
        <p:txBody>
          <a:bodyPr/>
          <a:lstStyle/>
          <a:p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BA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3DBFF89-A5EA-49A0-AA5C-D151CC34068E}"/>
              </a:ext>
            </a:extLst>
          </p:cNvPr>
          <p:cNvSpPr>
            <a:spLocks noGrp="1"/>
          </p:cNvSpPr>
          <p:nvPr/>
        </p:nvSpPr>
        <p:spPr>
          <a:xfrm>
            <a:off x="5162550" y="4410075"/>
            <a:ext cx="1666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 i="0">
                <a:solidFill>
                  <a:srgbClr val="13233A"/>
                </a:solidFill>
              </a:defRPr>
            </a:pPr>
            <a:r>
              <a:rPr sz="1500" b="1" i="0" dirty="0">
                <a:solidFill>
                  <a:srgbClr val="13233A"/>
                </a:solidFill>
              </a:rPr>
              <a:t>Better Auth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966B99B-3C83-4F22-81FA-6BCBDA72E8F8}"/>
              </a:ext>
            </a:extLst>
          </p:cNvPr>
          <p:cNvSpPr>
            <a:spLocks noGrp="1"/>
          </p:cNvSpPr>
          <p:nvPr/>
        </p:nvSpPr>
        <p:spPr>
          <a:xfrm>
            <a:off x="5162550" y="4714875"/>
            <a:ext cx="16668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 i="0">
                <a:solidFill>
                  <a:srgbClr val="667085"/>
                </a:solidFill>
              </a:defRPr>
            </a:pPr>
            <a:r>
              <a:rPr sz="1050" b="0" i="0">
                <a:solidFill>
                  <a:srgbClr val="667085"/>
                </a:solidFill>
              </a:rPr>
              <a:t>acceso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39381DC-F669-4378-969A-4198D214B940}"/>
              </a:ext>
            </a:extLst>
          </p:cNvPr>
          <p:cNvSpPr>
            <a:spLocks noGrp="1"/>
          </p:cNvSpPr>
          <p:nvPr/>
        </p:nvSpPr>
        <p:spPr>
          <a:xfrm>
            <a:off x="1666875" y="5829300"/>
            <a:ext cx="7715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575" b="1" i="0">
                <a:solidFill>
                  <a:srgbClr val="7A003C"/>
                </a:solidFill>
              </a:defRPr>
            </a:pPr>
            <a:r>
              <a:rPr sz="1575" b="1" i="0">
                <a:solidFill>
                  <a:srgbClr val="7A003C"/>
                </a:solidFill>
              </a:rPr>
              <a:t>Mapa visual de tecnologías integradas.</a:t>
            </a:r>
          </a:p>
        </p:txBody>
      </p:sp>
      <p:pic>
        <p:nvPicPr>
          <p:cNvPr id="45" name="Picture 44" descr="LLM or large language model icon for AI website and apps ...">
            <a:extLst>
              <a:ext uri="{FF2B5EF4-FFF2-40B4-BE49-F238E27FC236}">
                <a16:creationId xmlns:a16="http://schemas.microsoft.com/office/drawing/2014/main" id="{7AEAA9C8-17C0-DE67-1717-6D02C5FB1F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5977" y="1932570"/>
            <a:ext cx="737020" cy="725910"/>
          </a:xfrm>
          <a:prstGeom prst="rect">
            <a:avLst/>
          </a:prstGeom>
        </p:spPr>
      </p:pic>
      <p:pic>
        <p:nvPicPr>
          <p:cNvPr id="47" name="Picture 46" descr="Simulation too simplifies component selection, evaluation and verification  for new designs">
            <a:extLst>
              <a:ext uri="{FF2B5EF4-FFF2-40B4-BE49-F238E27FC236}">
                <a16:creationId xmlns:a16="http://schemas.microsoft.com/office/drawing/2014/main" id="{8F65CD2D-DAB5-D609-3451-E42C729AE5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0991" y="3181350"/>
            <a:ext cx="859368" cy="654050"/>
          </a:xfrm>
          <a:prstGeom prst="rect">
            <a:avLst/>
          </a:prstGeom>
        </p:spPr>
      </p:pic>
      <p:pic>
        <p:nvPicPr>
          <p:cNvPr id="48" name="Picture 47" descr="Docker full logo transparent PNG - StickPNG">
            <a:extLst>
              <a:ext uri="{FF2B5EF4-FFF2-40B4-BE49-F238E27FC236}">
                <a16:creationId xmlns:a16="http://schemas.microsoft.com/office/drawing/2014/main" id="{D2C66EA3-4FC4-2603-A074-B3C7E6D5AB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6669" y="4372769"/>
            <a:ext cx="608012" cy="608012"/>
          </a:xfrm>
          <a:prstGeom prst="rect">
            <a:avLst/>
          </a:prstGeom>
        </p:spPr>
      </p:pic>
      <p:pic>
        <p:nvPicPr>
          <p:cNvPr id="49" name="Picture 48" descr="LangGraph: Essential Components for Building AI Agents | by sushant twayana  | Medium">
            <a:extLst>
              <a:ext uri="{FF2B5EF4-FFF2-40B4-BE49-F238E27FC236}">
                <a16:creationId xmlns:a16="http://schemas.microsoft.com/office/drawing/2014/main" id="{811DA843-B899-283E-AB42-EE1D27DE47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9408" y="1939243"/>
            <a:ext cx="811061" cy="813482"/>
          </a:xfrm>
          <a:prstGeom prst="rect">
            <a:avLst/>
          </a:prstGeom>
        </p:spPr>
      </p:pic>
      <p:pic>
        <p:nvPicPr>
          <p:cNvPr id="50" name="Picture 49" descr="NGSpice: Free Open-Source Circuit Simulator (Guide)">
            <a:extLst>
              <a:ext uri="{FF2B5EF4-FFF2-40B4-BE49-F238E27FC236}">
                <a16:creationId xmlns:a16="http://schemas.microsoft.com/office/drawing/2014/main" id="{41FF9112-8914-503E-5B00-DDE6DE6D92E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1500" y="3158728"/>
            <a:ext cx="818969" cy="654844"/>
          </a:xfrm>
          <a:prstGeom prst="rect">
            <a:avLst/>
          </a:prstGeom>
        </p:spPr>
      </p:pic>
      <p:pic>
        <p:nvPicPr>
          <p:cNvPr id="52" name="Picture 51" descr="File:Ngspice logo.jpg - Wikimedia Commons">
            <a:extLst>
              <a:ext uri="{FF2B5EF4-FFF2-40B4-BE49-F238E27FC236}">
                <a16:creationId xmlns:a16="http://schemas.microsoft.com/office/drawing/2014/main" id="{0B96AB57-CEC8-15DE-176D-CA2CD40CC6C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81500" y="3139678"/>
            <a:ext cx="818970" cy="654844"/>
          </a:xfrm>
          <a:prstGeom prst="rect">
            <a:avLst/>
          </a:prstGeom>
        </p:spPr>
      </p:pic>
      <p:pic>
        <p:nvPicPr>
          <p:cNvPr id="63" name="Picture 62" descr="File:Python-logo-notext.svg - Wikimedia Commons">
            <a:extLst>
              <a:ext uri="{FF2B5EF4-FFF2-40B4-BE49-F238E27FC236}">
                <a16:creationId xmlns:a16="http://schemas.microsoft.com/office/drawing/2014/main" id="{74415E13-ABF5-496B-5A80-1836CEAE700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62411" y="1955543"/>
            <a:ext cx="677333" cy="677333"/>
          </a:xfrm>
          <a:prstGeom prst="rect">
            <a:avLst/>
          </a:prstGeom>
        </p:spPr>
      </p:pic>
      <p:pic>
        <p:nvPicPr>
          <p:cNvPr id="64" name="Picture 63" descr="File:Postgresql elephant.svg - Wikimedia Commons">
            <a:extLst>
              <a:ext uri="{FF2B5EF4-FFF2-40B4-BE49-F238E27FC236}">
                <a16:creationId xmlns:a16="http://schemas.microsoft.com/office/drawing/2014/main" id="{AA8ED9EE-5945-3A9B-0281-2B13403E1BF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00950" y="3259038"/>
            <a:ext cx="577850" cy="595908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058E2DCF-18B4-E90D-5DBF-FCF262327BA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76209" y="4328583"/>
            <a:ext cx="696383" cy="696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8630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0B696CA-7FA4-4EC5-861E-E31CC573EFA4}"/>
              </a:ext>
            </a:extLst>
          </p:cNvPr>
          <p:cNvSpPr>
            <a:spLocks noGrp="1"/>
          </p:cNvSpPr>
          <p:nvPr/>
        </p:nvSpPr>
        <p:spPr>
          <a:xfrm>
            <a:off x="11525250" y="0"/>
            <a:ext cx="666750" cy="6858000"/>
          </a:xfrm>
          <a:prstGeom prst="rect">
            <a:avLst/>
          </a:prstGeom>
          <a:solidFill>
            <a:srgbClr val="7A003C"/>
          </a:solidFill>
          <a:ln w="0">
            <a:solidFill>
              <a:srgbClr val="7A00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23B5852-03D5-4AE5-9618-0F7A5E3086C6}"/>
              </a:ext>
            </a:extLst>
          </p:cNvPr>
          <p:cNvSpPr>
            <a:spLocks noGrp="1"/>
          </p:cNvSpPr>
          <p:nvPr/>
        </p:nvSpPr>
        <p:spPr>
          <a:xfrm>
            <a:off x="438150" y="1066800"/>
            <a:ext cx="57150" cy="4953000"/>
          </a:xfrm>
          <a:prstGeom prst="rect">
            <a:avLst/>
          </a:prstGeom>
          <a:solidFill>
            <a:srgbClr val="7A003C"/>
          </a:solidFill>
          <a:ln w="0">
            <a:solidFill>
              <a:srgbClr val="7A00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18971A8-4978-4711-BD78-4AB67D116BEC}"/>
              </a:ext>
            </a:extLst>
          </p:cNvPr>
          <p:cNvSpPr>
            <a:spLocks noGrp="1"/>
          </p:cNvSpPr>
          <p:nvPr/>
        </p:nvSpPr>
        <p:spPr>
          <a:xfrm>
            <a:off x="590550" y="1066800"/>
            <a:ext cx="28575" cy="4953000"/>
          </a:xfrm>
          <a:prstGeom prst="rect">
            <a:avLst/>
          </a:prstGeom>
          <a:solidFill>
            <a:srgbClr val="9A174D"/>
          </a:solidFill>
          <a:ln w="0">
            <a:solidFill>
              <a:srgbClr val="9A17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13E9A6-9DA6-476D-A282-440D7F809301}"/>
              </a:ext>
            </a:extLst>
          </p:cNvPr>
          <p:cNvSpPr>
            <a:spLocks noGrp="1"/>
          </p:cNvSpPr>
          <p:nvPr/>
        </p:nvSpPr>
        <p:spPr>
          <a:xfrm>
            <a:off x="857250" y="285750"/>
            <a:ext cx="723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 i="0">
                <a:solidFill>
                  <a:srgbClr val="667085"/>
                </a:solidFill>
              </a:defRPr>
            </a:pPr>
            <a:r>
              <a:rPr sz="1050" b="1" i="0">
                <a:solidFill>
                  <a:srgbClr val="667085"/>
                </a:solidFill>
              </a:rPr>
              <a:t>Instituto Politécnico Nacional · ESIME Culhuacán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B811A4-B09C-4D0D-B81E-B7D9A628881D}"/>
              </a:ext>
            </a:extLst>
          </p:cNvPr>
          <p:cNvSpPr>
            <a:spLocks noGrp="1"/>
          </p:cNvSpPr>
          <p:nvPr/>
        </p:nvSpPr>
        <p:spPr>
          <a:xfrm>
            <a:off x="857250" y="590550"/>
            <a:ext cx="9144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550" b="1" i="0">
                <a:solidFill>
                  <a:srgbClr val="13233A"/>
                </a:solidFill>
              </a:defRPr>
            </a:pPr>
            <a:r>
              <a:rPr sz="2550" b="1" i="0">
                <a:solidFill>
                  <a:srgbClr val="13233A"/>
                </a:solidFill>
              </a:rPr>
              <a:t>Idea central de la solución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8AEB24-BF10-4C3E-9CBF-A8C83BC044A8}"/>
              </a:ext>
            </a:extLst>
          </p:cNvPr>
          <p:cNvSpPr>
            <a:spLocks noGrp="1"/>
          </p:cNvSpPr>
          <p:nvPr/>
        </p:nvSpPr>
        <p:spPr>
          <a:xfrm>
            <a:off x="10572750" y="6286500"/>
            <a:ext cx="5524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0" i="0">
                <a:solidFill>
                  <a:srgbClr val="667085"/>
                </a:solidFill>
              </a:defRPr>
            </a:pPr>
            <a:r>
              <a:rPr sz="1050" b="0" i="0">
                <a:solidFill>
                  <a:srgbClr val="667085"/>
                </a:solidFill>
              </a:rPr>
              <a:t>7/17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8C2E34B-032D-470A-88BD-CF4129C87332}"/>
              </a:ext>
            </a:extLst>
          </p:cNvPr>
          <p:cNvSpPr>
            <a:spLocks noGrp="1"/>
          </p:cNvSpPr>
          <p:nvPr/>
        </p:nvSpPr>
        <p:spPr>
          <a:xfrm>
            <a:off x="876300" y="2047875"/>
            <a:ext cx="1762125" cy="704850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13233A"/>
                </a:solidFill>
              </a:defRPr>
            </a:pPr>
            <a:r>
              <a:rPr sz="1350" b="1">
                <a:solidFill>
                  <a:srgbClr val="13233A"/>
                </a:solidFill>
              </a:rPr>
              <a:t>Lenguaje natural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1A06D75-4C8E-4FC0-B0BF-F9E0F4A4C546}"/>
              </a:ext>
            </a:extLst>
          </p:cNvPr>
          <p:cNvSpPr>
            <a:spLocks noGrp="1"/>
          </p:cNvSpPr>
          <p:nvPr/>
        </p:nvSpPr>
        <p:spPr>
          <a:xfrm>
            <a:off x="3448050" y="2047875"/>
            <a:ext cx="1762125" cy="704850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13233A"/>
                </a:solidFill>
              </a:defRPr>
            </a:pPr>
            <a:r>
              <a:rPr sz="1350" b="1">
                <a:solidFill>
                  <a:srgbClr val="13233A"/>
                </a:solidFill>
              </a:rPr>
              <a:t>Agentes especializados</a:t>
            </a:r>
          </a:p>
        </p:txBody>
      </p:sp>
      <p:cxnSp>
        <p:nvCxnSpPr>
          <p:cNvPr id="90" name="Straight Arrow Connector 28"/>
          <p:cNvCxnSpPr>
            <a:stCxn id="7" idx="3"/>
            <a:endCxn id="8" idx="1"/>
          </p:cNvCxnSpPr>
          <p:nvPr/>
        </p:nvCxnSpPr>
        <p:spPr>
          <a:xfrm>
            <a:off x="2638425" y="2400300"/>
            <a:ext cx="809625" cy="0"/>
          </a:xfrm>
          <a:prstGeom prst="straightConnector1">
            <a:avLst/>
          </a:prstGeom>
          <a:ln w="19050">
            <a:solidFill>
              <a:srgbClr val="667085"/>
            </a:solidFill>
            <a:prstDash val="solid"/>
            <a:tailEnd type="arrow" w="med" len="med"/>
          </a:ln>
        </p:spPr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6CEFBF3-A1D8-4E27-9651-EC1BF2A6C9EC}"/>
              </a:ext>
            </a:extLst>
          </p:cNvPr>
          <p:cNvSpPr>
            <a:spLocks noGrp="1"/>
          </p:cNvSpPr>
          <p:nvPr/>
        </p:nvSpPr>
        <p:spPr>
          <a:xfrm>
            <a:off x="6019800" y="2047875"/>
            <a:ext cx="1762125" cy="704850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13233A"/>
                </a:solidFill>
              </a:defRPr>
            </a:pPr>
            <a:r>
              <a:rPr sz="1350" b="1">
                <a:solidFill>
                  <a:srgbClr val="13233A"/>
                </a:solidFill>
              </a:rPr>
              <a:t>Netlist</a:t>
            </a:r>
          </a:p>
        </p:txBody>
      </p:sp>
      <p:cxnSp>
        <p:nvCxnSpPr>
          <p:cNvPr id="92" name="Straight Arrow Connector 30"/>
          <p:cNvCxnSpPr>
            <a:stCxn id="8" idx="3"/>
            <a:endCxn id="10" idx="1"/>
          </p:cNvCxnSpPr>
          <p:nvPr/>
        </p:nvCxnSpPr>
        <p:spPr>
          <a:xfrm>
            <a:off x="5210175" y="2400300"/>
            <a:ext cx="809625" cy="0"/>
          </a:xfrm>
          <a:prstGeom prst="straightConnector1">
            <a:avLst/>
          </a:prstGeom>
          <a:ln w="19050">
            <a:solidFill>
              <a:srgbClr val="667085"/>
            </a:solidFill>
            <a:prstDash val="solid"/>
            <a:tailEnd type="arrow" w="med" len="med"/>
          </a:ln>
        </p:spPr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4E20CE3-1A8F-4A17-B035-F9F327979920}"/>
              </a:ext>
            </a:extLst>
          </p:cNvPr>
          <p:cNvSpPr>
            <a:spLocks noGrp="1"/>
          </p:cNvSpPr>
          <p:nvPr/>
        </p:nvSpPr>
        <p:spPr>
          <a:xfrm>
            <a:off x="8591550" y="2047875"/>
            <a:ext cx="1762125" cy="704850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13233A"/>
                </a:solidFill>
              </a:defRPr>
            </a:pPr>
            <a:r>
              <a:rPr sz="1350" b="1">
                <a:solidFill>
                  <a:srgbClr val="13233A"/>
                </a:solidFill>
              </a:rPr>
              <a:t>ngspice</a:t>
            </a:r>
          </a:p>
        </p:txBody>
      </p:sp>
      <p:cxnSp>
        <p:nvCxnSpPr>
          <p:cNvPr id="94" name="Straight Arrow Connector 32"/>
          <p:cNvCxnSpPr>
            <a:stCxn id="10" idx="3"/>
            <a:endCxn id="12" idx="1"/>
          </p:cNvCxnSpPr>
          <p:nvPr/>
        </p:nvCxnSpPr>
        <p:spPr>
          <a:xfrm>
            <a:off x="7781925" y="2400300"/>
            <a:ext cx="809625" cy="0"/>
          </a:xfrm>
          <a:prstGeom prst="straightConnector1">
            <a:avLst/>
          </a:prstGeom>
          <a:ln w="19050">
            <a:solidFill>
              <a:srgbClr val="667085"/>
            </a:solidFill>
            <a:prstDash val="solid"/>
            <a:tailEnd type="arrow" w="med" len="med"/>
          </a:ln>
        </p:spPr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6D195EB-C148-48CD-B03A-FB05229402C2}"/>
              </a:ext>
            </a:extLst>
          </p:cNvPr>
          <p:cNvSpPr>
            <a:spLocks noGrp="1"/>
          </p:cNvSpPr>
          <p:nvPr/>
        </p:nvSpPr>
        <p:spPr>
          <a:xfrm>
            <a:off x="1847850" y="3975100"/>
            <a:ext cx="1762125" cy="704850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13233A"/>
                </a:solidFill>
              </a:defRPr>
            </a:pPr>
            <a:r>
              <a:rPr sz="1350" b="1">
                <a:solidFill>
                  <a:srgbClr val="13233A"/>
                </a:solidFill>
              </a:rPr>
              <a:t>Métricas</a:t>
            </a:r>
          </a:p>
        </p:txBody>
      </p:sp>
      <p:cxnSp>
        <p:nvCxnSpPr>
          <p:cNvPr id="96" name="Straight Arrow Connector 34"/>
          <p:cNvCxnSpPr>
            <a:stCxn id="12" idx="3"/>
          </p:cNvCxnSpPr>
          <p:nvPr/>
        </p:nvCxnSpPr>
        <p:spPr>
          <a:xfrm>
            <a:off x="10353675" y="2400300"/>
            <a:ext cx="396875" cy="0"/>
          </a:xfrm>
          <a:prstGeom prst="straightConnector1">
            <a:avLst/>
          </a:prstGeom>
          <a:ln w="19050">
            <a:solidFill>
              <a:srgbClr val="667085"/>
            </a:solidFill>
            <a:prstDash val="solid"/>
            <a:tailEnd type="arrow" w="med" len="med"/>
          </a:ln>
        </p:spPr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8C1B310-6851-4629-942A-AB3BDE16C858}"/>
              </a:ext>
            </a:extLst>
          </p:cNvPr>
          <p:cNvSpPr>
            <a:spLocks noGrp="1"/>
          </p:cNvSpPr>
          <p:nvPr/>
        </p:nvSpPr>
        <p:spPr>
          <a:xfrm>
            <a:off x="4419600" y="3975100"/>
            <a:ext cx="1762125" cy="704850"/>
          </a:xfrm>
          <a:prstGeom prst="roundRect">
            <a:avLst>
              <a:gd name="adj" fmla="val 10811"/>
            </a:avLst>
          </a:prstGeom>
          <a:solidFill>
            <a:srgbClr val="7A003C"/>
          </a:solidFill>
          <a:ln w="9525">
            <a:solidFill>
              <a:srgbClr val="7A003C"/>
            </a:solidFill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Curador</a:t>
            </a:r>
          </a:p>
        </p:txBody>
      </p:sp>
      <p:cxnSp>
        <p:nvCxnSpPr>
          <p:cNvPr id="98" name="Straight Arrow Connector 36"/>
          <p:cNvCxnSpPr>
            <a:stCxn id="14" idx="3"/>
            <a:endCxn id="16" idx="1"/>
          </p:cNvCxnSpPr>
          <p:nvPr/>
        </p:nvCxnSpPr>
        <p:spPr>
          <a:xfrm>
            <a:off x="3609975" y="4327525"/>
            <a:ext cx="809625" cy="0"/>
          </a:xfrm>
          <a:prstGeom prst="straightConnector1">
            <a:avLst/>
          </a:prstGeom>
          <a:ln w="19050">
            <a:solidFill>
              <a:srgbClr val="667085"/>
            </a:solidFill>
            <a:prstDash val="solid"/>
            <a:tailEnd type="arrow" w="med" len="med"/>
          </a:ln>
        </p:spPr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DB9ACAD-874D-4E45-85B4-CFB9A8D582AD}"/>
              </a:ext>
            </a:extLst>
          </p:cNvPr>
          <p:cNvSpPr>
            <a:spLocks noGrp="1"/>
          </p:cNvSpPr>
          <p:nvPr/>
        </p:nvSpPr>
        <p:spPr>
          <a:xfrm>
            <a:off x="6991350" y="3975100"/>
            <a:ext cx="1762125" cy="704850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13233A"/>
                </a:solidFill>
              </a:defRPr>
            </a:pPr>
            <a:r>
              <a:rPr sz="1350" b="1">
                <a:solidFill>
                  <a:srgbClr val="13233A"/>
                </a:solidFill>
              </a:rPr>
              <a:t>Ajuste o aceptación</a:t>
            </a:r>
          </a:p>
        </p:txBody>
      </p:sp>
      <p:cxnSp>
        <p:nvCxnSpPr>
          <p:cNvPr id="100" name="Straight Arrow Connector 38"/>
          <p:cNvCxnSpPr>
            <a:stCxn id="16" idx="3"/>
            <a:endCxn id="18" idx="1"/>
          </p:cNvCxnSpPr>
          <p:nvPr/>
        </p:nvCxnSpPr>
        <p:spPr>
          <a:xfrm>
            <a:off x="6181725" y="4327525"/>
            <a:ext cx="809625" cy="0"/>
          </a:xfrm>
          <a:prstGeom prst="straightConnector1">
            <a:avLst/>
          </a:prstGeom>
          <a:ln w="19050">
            <a:solidFill>
              <a:srgbClr val="667085"/>
            </a:solidFill>
            <a:prstDash val="solid"/>
            <a:tailEnd type="arrow" w="med" len="med"/>
          </a:ln>
        </p:spPr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53AAF51C-A46D-4D32-A427-90C676E3ACA4}"/>
              </a:ext>
            </a:extLst>
          </p:cNvPr>
          <p:cNvSpPr>
            <a:spLocks noGrp="1"/>
          </p:cNvSpPr>
          <p:nvPr/>
        </p:nvSpPr>
        <p:spPr>
          <a:xfrm>
            <a:off x="1428750" y="5429250"/>
            <a:ext cx="800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875" b="1" i="0">
                <a:solidFill>
                  <a:srgbClr val="7A003C"/>
                </a:solidFill>
              </a:defRPr>
            </a:pPr>
            <a:r>
              <a:rPr sz="1875" b="1" i="0">
                <a:solidFill>
                  <a:srgbClr val="7A003C"/>
                </a:solidFill>
              </a:rPr>
              <a:t>La aportación es cerrar el ciclo: generar, simular, medir y decidir.</a:t>
            </a:r>
          </a:p>
        </p:txBody>
      </p:sp>
      <p:cxnSp>
        <p:nvCxnSpPr>
          <p:cNvPr id="102" name="Straight Arrow Connector 12"/>
          <p:cNvCxnSpPr/>
          <p:nvPr/>
        </p:nvCxnSpPr>
        <p:spPr>
          <a:xfrm>
            <a:off x="1450975" y="4327525"/>
            <a:ext cx="396875" cy="0"/>
          </a:xfrm>
          <a:prstGeom prst="straightConnector1">
            <a:avLst/>
          </a:prstGeom>
          <a:ln w="19050">
            <a:solidFill>
              <a:srgbClr val="667085"/>
            </a:solidFill>
            <a:prstDash val="solid"/>
            <a:tailEnd type="arrow" w="med" len="med"/>
          </a:ln>
        </p:spPr>
      </p:cxnSp>
    </p:spTree>
    <p:extLst>
      <p:ext uri="{BB962C8B-B14F-4D97-AF65-F5344CB8AC3E}">
        <p14:creationId xmlns:p14="http://schemas.microsoft.com/office/powerpoint/2010/main" val="4662671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BFBECC9-E34C-4A0F-8BE5-372EAD345EB8}"/>
              </a:ext>
            </a:extLst>
          </p:cNvPr>
          <p:cNvSpPr>
            <a:spLocks noGrp="1"/>
          </p:cNvSpPr>
          <p:nvPr/>
        </p:nvSpPr>
        <p:spPr>
          <a:xfrm>
            <a:off x="11525250" y="0"/>
            <a:ext cx="666750" cy="6858000"/>
          </a:xfrm>
          <a:prstGeom prst="rect">
            <a:avLst/>
          </a:prstGeom>
          <a:solidFill>
            <a:srgbClr val="7A003C"/>
          </a:solidFill>
          <a:ln w="0">
            <a:solidFill>
              <a:srgbClr val="7A00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05E6AC1-898F-4B5B-BC4A-B781D3F96A84}"/>
              </a:ext>
            </a:extLst>
          </p:cNvPr>
          <p:cNvSpPr>
            <a:spLocks noGrp="1"/>
          </p:cNvSpPr>
          <p:nvPr/>
        </p:nvSpPr>
        <p:spPr>
          <a:xfrm>
            <a:off x="438150" y="1066800"/>
            <a:ext cx="57150" cy="4953000"/>
          </a:xfrm>
          <a:prstGeom prst="rect">
            <a:avLst/>
          </a:prstGeom>
          <a:solidFill>
            <a:srgbClr val="7A003C"/>
          </a:solidFill>
          <a:ln w="0">
            <a:solidFill>
              <a:srgbClr val="7A00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D139BF0-40B8-49B3-9923-B805E565DF76}"/>
              </a:ext>
            </a:extLst>
          </p:cNvPr>
          <p:cNvSpPr>
            <a:spLocks noGrp="1"/>
          </p:cNvSpPr>
          <p:nvPr/>
        </p:nvSpPr>
        <p:spPr>
          <a:xfrm>
            <a:off x="590550" y="1066800"/>
            <a:ext cx="28575" cy="4953000"/>
          </a:xfrm>
          <a:prstGeom prst="rect">
            <a:avLst/>
          </a:prstGeom>
          <a:solidFill>
            <a:srgbClr val="9A174D"/>
          </a:solidFill>
          <a:ln w="0">
            <a:solidFill>
              <a:srgbClr val="9A17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12F5ED-9890-4AB2-96E3-DF93023EA846}"/>
              </a:ext>
            </a:extLst>
          </p:cNvPr>
          <p:cNvSpPr>
            <a:spLocks noGrp="1"/>
          </p:cNvSpPr>
          <p:nvPr/>
        </p:nvSpPr>
        <p:spPr>
          <a:xfrm>
            <a:off x="857250" y="285750"/>
            <a:ext cx="723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 i="0">
                <a:solidFill>
                  <a:srgbClr val="667085"/>
                </a:solidFill>
              </a:defRPr>
            </a:pPr>
            <a:r>
              <a:rPr sz="1050" b="1" i="0">
                <a:solidFill>
                  <a:srgbClr val="667085"/>
                </a:solidFill>
              </a:rPr>
              <a:t>Instituto Politécnico Nacional · ESIME Culhuacán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0CC9E6C-71EC-4206-A22E-34F78700946C}"/>
              </a:ext>
            </a:extLst>
          </p:cNvPr>
          <p:cNvSpPr>
            <a:spLocks noGrp="1"/>
          </p:cNvSpPr>
          <p:nvPr/>
        </p:nvSpPr>
        <p:spPr>
          <a:xfrm>
            <a:off x="857250" y="590550"/>
            <a:ext cx="9144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550" b="1" i="0">
                <a:solidFill>
                  <a:srgbClr val="13233A"/>
                </a:solidFill>
              </a:defRPr>
            </a:pPr>
            <a:r>
              <a:rPr sz="2550" b="1" i="0">
                <a:solidFill>
                  <a:srgbClr val="13233A"/>
                </a:solidFill>
              </a:rPr>
              <a:t>Arquitectura general: vista completa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16E8BBB-D108-46DB-A8EC-5A59BA022A2B}"/>
              </a:ext>
            </a:extLst>
          </p:cNvPr>
          <p:cNvSpPr>
            <a:spLocks noGrp="1"/>
          </p:cNvSpPr>
          <p:nvPr/>
        </p:nvSpPr>
        <p:spPr>
          <a:xfrm>
            <a:off x="10572750" y="6286500"/>
            <a:ext cx="5524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0" i="0">
                <a:solidFill>
                  <a:srgbClr val="667085"/>
                </a:solidFill>
              </a:defRPr>
            </a:pPr>
            <a:r>
              <a:rPr sz="1050" b="0" i="0">
                <a:solidFill>
                  <a:srgbClr val="667085"/>
                </a:solidFill>
              </a:rPr>
              <a:t>10/17</a:t>
            </a:r>
          </a:p>
        </p:txBody>
      </p:sp>
      <p:pic>
        <p:nvPicPr>
          <p:cNvPr id="16" name="Picture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57250" y="1066800"/>
            <a:ext cx="7821837" cy="564515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8A5C552-06B2-4FC5-A6EF-ED9466DDB7C5}"/>
              </a:ext>
            </a:extLst>
          </p:cNvPr>
          <p:cNvSpPr>
            <a:spLocks noGrp="1"/>
          </p:cNvSpPr>
          <p:nvPr/>
        </p:nvSpPr>
        <p:spPr>
          <a:xfrm>
            <a:off x="8667750" y="1809750"/>
            <a:ext cx="2238375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 i="0">
                <a:solidFill>
                  <a:srgbClr val="13233A"/>
                </a:solidFill>
              </a:defRPr>
            </a:pPr>
            <a:r>
              <a:rPr sz="1350" b="0" i="0">
                <a:solidFill>
                  <a:srgbClr val="13233A"/>
                </a:solidFill>
              </a:rPr>
              <a:t>• Cliente web: acceso y solicitudes</a:t>
            </a:r>
          </a:p>
          <a:p>
            <a:pPr algn="l">
              <a:buNone/>
              <a:defRPr sz="1350" b="0" i="0">
                <a:solidFill>
                  <a:srgbClr val="13233A"/>
                </a:solidFill>
              </a:defRPr>
            </a:pPr>
            <a:r>
              <a:rPr sz="1350" b="0" i="0">
                <a:solidFill>
                  <a:srgbClr val="13233A"/>
                </a:solidFill>
              </a:rPr>
              <a:t>• Servidor: ecosistema de agentes</a:t>
            </a:r>
          </a:p>
          <a:p>
            <a:pPr algn="l">
              <a:buNone/>
              <a:defRPr sz="1350" b="0" i="0">
                <a:solidFill>
                  <a:srgbClr val="13233A"/>
                </a:solidFill>
              </a:defRPr>
            </a:pPr>
            <a:r>
              <a:rPr sz="1350" b="0" i="0">
                <a:solidFill>
                  <a:srgbClr val="13233A"/>
                </a:solidFill>
              </a:rPr>
              <a:t>• PostgreSQL: estado e historial</a:t>
            </a:r>
          </a:p>
          <a:p>
            <a:pPr algn="l">
              <a:buNone/>
              <a:defRPr sz="1350" b="0" i="0">
                <a:solidFill>
                  <a:srgbClr val="13233A"/>
                </a:solidFill>
              </a:defRPr>
            </a:pPr>
            <a:r>
              <a:rPr sz="1350" b="0" i="0">
                <a:solidFill>
                  <a:srgbClr val="13233A"/>
                </a:solidFill>
              </a:rPr>
              <a:t>• LLM y ngspice: servicios externos</a:t>
            </a:r>
          </a:p>
        </p:txBody>
      </p:sp>
    </p:spTree>
    <p:extLst>
      <p:ext uri="{BB962C8B-B14F-4D97-AF65-F5344CB8AC3E}">
        <p14:creationId xmlns:p14="http://schemas.microsoft.com/office/powerpoint/2010/main" val="20981849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050A72D-78AD-432E-9595-7997C9EFDF28}"/>
              </a:ext>
            </a:extLst>
          </p:cNvPr>
          <p:cNvSpPr>
            <a:spLocks noGrp="1"/>
          </p:cNvSpPr>
          <p:nvPr/>
        </p:nvSpPr>
        <p:spPr>
          <a:xfrm>
            <a:off x="11525250" y="0"/>
            <a:ext cx="666750" cy="6858000"/>
          </a:xfrm>
          <a:prstGeom prst="rect">
            <a:avLst/>
          </a:prstGeom>
          <a:solidFill>
            <a:srgbClr val="7A003C"/>
          </a:solidFill>
          <a:ln w="0">
            <a:solidFill>
              <a:srgbClr val="7A00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5E5B577-7B99-4F03-97D3-EE5919CA2835}"/>
              </a:ext>
            </a:extLst>
          </p:cNvPr>
          <p:cNvSpPr>
            <a:spLocks noGrp="1"/>
          </p:cNvSpPr>
          <p:nvPr/>
        </p:nvSpPr>
        <p:spPr>
          <a:xfrm>
            <a:off x="438150" y="1066800"/>
            <a:ext cx="57150" cy="4953000"/>
          </a:xfrm>
          <a:prstGeom prst="rect">
            <a:avLst/>
          </a:prstGeom>
          <a:solidFill>
            <a:srgbClr val="7A003C"/>
          </a:solidFill>
          <a:ln w="0">
            <a:solidFill>
              <a:srgbClr val="7A00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47C89DD-D087-4D27-B6FC-238F53E87AF6}"/>
              </a:ext>
            </a:extLst>
          </p:cNvPr>
          <p:cNvSpPr>
            <a:spLocks noGrp="1"/>
          </p:cNvSpPr>
          <p:nvPr/>
        </p:nvSpPr>
        <p:spPr>
          <a:xfrm>
            <a:off x="590550" y="1066800"/>
            <a:ext cx="28575" cy="4953000"/>
          </a:xfrm>
          <a:prstGeom prst="rect">
            <a:avLst/>
          </a:prstGeom>
          <a:solidFill>
            <a:srgbClr val="9A174D"/>
          </a:solidFill>
          <a:ln w="0">
            <a:solidFill>
              <a:srgbClr val="9A17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4C35E0-DF96-4591-A5D0-89927F36A302}"/>
              </a:ext>
            </a:extLst>
          </p:cNvPr>
          <p:cNvSpPr>
            <a:spLocks noGrp="1"/>
          </p:cNvSpPr>
          <p:nvPr/>
        </p:nvSpPr>
        <p:spPr>
          <a:xfrm>
            <a:off x="857250" y="285750"/>
            <a:ext cx="723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 i="0">
                <a:solidFill>
                  <a:srgbClr val="667085"/>
                </a:solidFill>
              </a:defRPr>
            </a:pPr>
            <a:r>
              <a:rPr sz="1050" b="1" i="0">
                <a:solidFill>
                  <a:srgbClr val="667085"/>
                </a:solidFill>
              </a:rPr>
              <a:t>Instituto Politécnico Nacional · ESIME Culhuacán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15CED0A-E9FE-4321-BAF1-090F6BCF70B8}"/>
              </a:ext>
            </a:extLst>
          </p:cNvPr>
          <p:cNvSpPr>
            <a:spLocks noGrp="1"/>
          </p:cNvSpPr>
          <p:nvPr/>
        </p:nvSpPr>
        <p:spPr>
          <a:xfrm>
            <a:off x="857250" y="590550"/>
            <a:ext cx="9144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550" b="1" i="0">
                <a:solidFill>
                  <a:srgbClr val="13233A"/>
                </a:solidFill>
              </a:defRPr>
            </a:pPr>
            <a:r>
              <a:rPr sz="2550" b="1" i="0">
                <a:solidFill>
                  <a:srgbClr val="13233A"/>
                </a:solidFill>
              </a:rPr>
              <a:t>Arquitectura general: recorrido de una solicitud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544159-0666-4CF7-AB8F-D52B82B9D2E4}"/>
              </a:ext>
            </a:extLst>
          </p:cNvPr>
          <p:cNvSpPr>
            <a:spLocks noGrp="1"/>
          </p:cNvSpPr>
          <p:nvPr/>
        </p:nvSpPr>
        <p:spPr>
          <a:xfrm>
            <a:off x="10572750" y="6286500"/>
            <a:ext cx="5524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0" i="0">
                <a:solidFill>
                  <a:srgbClr val="667085"/>
                </a:solidFill>
              </a:defRPr>
            </a:pPr>
            <a:r>
              <a:rPr sz="1050" b="0" i="0">
                <a:solidFill>
                  <a:srgbClr val="667085"/>
                </a:solidFill>
              </a:rPr>
              <a:t>11/17</a:t>
            </a:r>
          </a:p>
        </p:txBody>
      </p:sp>
      <p:pic>
        <p:nvPicPr>
          <p:cNvPr id="20" name="Picture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19175" y="1219200"/>
            <a:ext cx="7372350" cy="4762500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3884E90-925F-4CB0-A892-975222B1C71A}"/>
              </a:ext>
            </a:extLst>
          </p:cNvPr>
          <p:cNvSpPr>
            <a:spLocks noGrp="1"/>
          </p:cNvSpPr>
          <p:nvPr/>
        </p:nvSpPr>
        <p:spPr>
          <a:xfrm>
            <a:off x="1587500" y="6076950"/>
            <a:ext cx="1143000" cy="419100"/>
          </a:xfrm>
          <a:prstGeom prst="roundRect">
            <a:avLst>
              <a:gd name="adj" fmla="val 18182"/>
            </a:avLst>
          </a:prstGeom>
          <a:solidFill>
            <a:srgbClr val="7A003C"/>
          </a:solidFill>
          <a:ln w="9525">
            <a:solidFill>
              <a:srgbClr val="7A003C"/>
            </a:solidFill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1 Usuario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3B9E49F-13BA-4A88-97D0-8EEBA611A24C}"/>
              </a:ext>
            </a:extLst>
          </p:cNvPr>
          <p:cNvSpPr>
            <a:spLocks noGrp="1"/>
          </p:cNvSpPr>
          <p:nvPr/>
        </p:nvSpPr>
        <p:spPr>
          <a:xfrm>
            <a:off x="3348038" y="6076950"/>
            <a:ext cx="1143000" cy="419100"/>
          </a:xfrm>
          <a:prstGeom prst="roundRect">
            <a:avLst>
              <a:gd name="adj" fmla="val 18182"/>
            </a:avLst>
          </a:prstGeom>
          <a:solidFill>
            <a:srgbClr val="7A003C"/>
          </a:solidFill>
          <a:ln w="9525">
            <a:solidFill>
              <a:srgbClr val="7A003C"/>
            </a:solidFill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2 Cliente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E05B159-6432-4359-9EE0-DD0A8ED21AFD}"/>
              </a:ext>
            </a:extLst>
          </p:cNvPr>
          <p:cNvSpPr>
            <a:spLocks noGrp="1"/>
          </p:cNvSpPr>
          <p:nvPr/>
        </p:nvSpPr>
        <p:spPr>
          <a:xfrm>
            <a:off x="5016500" y="6076950"/>
            <a:ext cx="1143000" cy="419100"/>
          </a:xfrm>
          <a:prstGeom prst="roundRect">
            <a:avLst>
              <a:gd name="adj" fmla="val 18182"/>
            </a:avLst>
          </a:prstGeom>
          <a:solidFill>
            <a:srgbClr val="7A003C"/>
          </a:solidFill>
          <a:ln w="9525">
            <a:solidFill>
              <a:srgbClr val="7A003C"/>
            </a:solidFill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3 Servidor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347CF9E-A3E3-406E-9E9D-606FF6BCA849}"/>
              </a:ext>
            </a:extLst>
          </p:cNvPr>
          <p:cNvSpPr>
            <a:spLocks noGrp="1"/>
          </p:cNvSpPr>
          <p:nvPr/>
        </p:nvSpPr>
        <p:spPr>
          <a:xfrm>
            <a:off x="6651625" y="6076950"/>
            <a:ext cx="1143000" cy="419100"/>
          </a:xfrm>
          <a:prstGeom prst="roundRect">
            <a:avLst>
              <a:gd name="adj" fmla="val 18182"/>
            </a:avLst>
          </a:prstGeom>
          <a:solidFill>
            <a:srgbClr val="7A003C"/>
          </a:solidFill>
          <a:ln w="9525">
            <a:solidFill>
              <a:srgbClr val="7A003C"/>
            </a:solidFill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4 Resultado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0588EBC-9E1D-4CD3-BDC0-4F7330151C4D}"/>
              </a:ext>
            </a:extLst>
          </p:cNvPr>
          <p:cNvSpPr>
            <a:spLocks noGrp="1"/>
          </p:cNvSpPr>
          <p:nvPr/>
        </p:nvSpPr>
        <p:spPr>
          <a:xfrm>
            <a:off x="8667750" y="2238375"/>
            <a:ext cx="228600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B88A44"/>
            </a:solidFill>
            <a:prstDash val="solid"/>
          </a:ln>
        </p:spPr>
        <p:txBody>
          <a:bodyPr/>
          <a:lstStyle/>
          <a:p>
            <a:pPr algn="ctr">
              <a:buNone/>
              <a:defRPr sz="1500" b="1">
                <a:solidFill>
                  <a:srgbClr val="13233A"/>
                </a:solidFill>
              </a:defRPr>
            </a:pPr>
            <a:r>
              <a:rPr sz="1500" b="1">
                <a:solidFill>
                  <a:srgbClr val="13233A"/>
                </a:solidFill>
              </a:rPr>
              <a:t>La información viaja autenticada, se procesa en agentes y regresa como netlist, métricas e historial.</a:t>
            </a:r>
          </a:p>
        </p:txBody>
      </p:sp>
    </p:spTree>
    <p:extLst>
      <p:ext uri="{BB962C8B-B14F-4D97-AF65-F5344CB8AC3E}">
        <p14:creationId xmlns:p14="http://schemas.microsoft.com/office/powerpoint/2010/main" val="7080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D2D4C6D-07A4-4832-A669-0DC69963FF4E}"/>
              </a:ext>
            </a:extLst>
          </p:cNvPr>
          <p:cNvSpPr>
            <a:spLocks noGrp="1"/>
          </p:cNvSpPr>
          <p:nvPr/>
        </p:nvSpPr>
        <p:spPr>
          <a:xfrm>
            <a:off x="11525250" y="0"/>
            <a:ext cx="666750" cy="6858000"/>
          </a:xfrm>
          <a:prstGeom prst="rect">
            <a:avLst/>
          </a:prstGeom>
          <a:solidFill>
            <a:srgbClr val="7A003C"/>
          </a:solidFill>
          <a:ln w="0">
            <a:solidFill>
              <a:srgbClr val="7A00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F53595E-1B01-4A24-A4E9-5CAF7447C89C}"/>
              </a:ext>
            </a:extLst>
          </p:cNvPr>
          <p:cNvSpPr>
            <a:spLocks noGrp="1"/>
          </p:cNvSpPr>
          <p:nvPr/>
        </p:nvSpPr>
        <p:spPr>
          <a:xfrm>
            <a:off x="438150" y="1066800"/>
            <a:ext cx="57150" cy="4953000"/>
          </a:xfrm>
          <a:prstGeom prst="rect">
            <a:avLst/>
          </a:prstGeom>
          <a:solidFill>
            <a:srgbClr val="7A003C"/>
          </a:solidFill>
          <a:ln w="0">
            <a:solidFill>
              <a:srgbClr val="7A00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970651C-3532-49A3-9711-6BD9F70C72EF}"/>
              </a:ext>
            </a:extLst>
          </p:cNvPr>
          <p:cNvSpPr>
            <a:spLocks noGrp="1"/>
          </p:cNvSpPr>
          <p:nvPr/>
        </p:nvSpPr>
        <p:spPr>
          <a:xfrm>
            <a:off x="590550" y="1066800"/>
            <a:ext cx="28575" cy="4953000"/>
          </a:xfrm>
          <a:prstGeom prst="rect">
            <a:avLst/>
          </a:prstGeom>
          <a:solidFill>
            <a:srgbClr val="9A174D"/>
          </a:solidFill>
          <a:ln w="0">
            <a:solidFill>
              <a:srgbClr val="9A17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BD3A36-4124-4439-88E7-3CA859056C97}"/>
              </a:ext>
            </a:extLst>
          </p:cNvPr>
          <p:cNvSpPr>
            <a:spLocks noGrp="1"/>
          </p:cNvSpPr>
          <p:nvPr/>
        </p:nvSpPr>
        <p:spPr>
          <a:xfrm>
            <a:off x="857250" y="285750"/>
            <a:ext cx="723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 i="0">
                <a:solidFill>
                  <a:srgbClr val="667085"/>
                </a:solidFill>
              </a:defRPr>
            </a:pPr>
            <a:r>
              <a:rPr sz="1050" b="1" i="0">
                <a:solidFill>
                  <a:srgbClr val="667085"/>
                </a:solidFill>
              </a:rPr>
              <a:t>Instituto Politécnico Nacional · ESIME Culhuacán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90DA3F3-97ED-47E1-8C7F-5235FF302092}"/>
              </a:ext>
            </a:extLst>
          </p:cNvPr>
          <p:cNvSpPr>
            <a:spLocks noGrp="1"/>
          </p:cNvSpPr>
          <p:nvPr/>
        </p:nvSpPr>
        <p:spPr>
          <a:xfrm>
            <a:off x="857250" y="590550"/>
            <a:ext cx="9144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550" b="1" i="0">
                <a:solidFill>
                  <a:srgbClr val="13233A"/>
                </a:solidFill>
              </a:defRPr>
            </a:pPr>
            <a:r>
              <a:rPr sz="2550" b="1" i="0">
                <a:solidFill>
                  <a:srgbClr val="13233A"/>
                </a:solidFill>
              </a:rPr>
              <a:t>Ecosistema de agentes: vista general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66B4E0-645B-4EBC-8156-7EC501A8F601}"/>
              </a:ext>
            </a:extLst>
          </p:cNvPr>
          <p:cNvSpPr>
            <a:spLocks noGrp="1"/>
          </p:cNvSpPr>
          <p:nvPr/>
        </p:nvSpPr>
        <p:spPr>
          <a:xfrm>
            <a:off x="10572750" y="6286500"/>
            <a:ext cx="5524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0" i="0">
                <a:solidFill>
                  <a:srgbClr val="667085"/>
                </a:solidFill>
              </a:defRPr>
            </a:pPr>
            <a:r>
              <a:rPr sz="1050" b="0" i="0">
                <a:solidFill>
                  <a:srgbClr val="667085"/>
                </a:solidFill>
              </a:rPr>
              <a:t>12/17</a:t>
            </a:r>
          </a:p>
        </p:txBody>
      </p:sp>
      <p:pic>
        <p:nvPicPr>
          <p:cNvPr id="16" name="Picture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79686" y="1066800"/>
            <a:ext cx="7338814" cy="559530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1302D05-8BB0-4B1B-A7A6-1D3B541B61CE}"/>
              </a:ext>
            </a:extLst>
          </p:cNvPr>
          <p:cNvSpPr>
            <a:spLocks noGrp="1"/>
          </p:cNvSpPr>
          <p:nvPr/>
        </p:nvSpPr>
        <p:spPr>
          <a:xfrm>
            <a:off x="8763000" y="1619250"/>
            <a:ext cx="2190750" cy="2619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 i="0">
                <a:solidFill>
                  <a:srgbClr val="13233A"/>
                </a:solidFill>
              </a:defRPr>
            </a:pPr>
            <a:r>
              <a:rPr sz="1350" b="0" i="0">
                <a:solidFill>
                  <a:srgbClr val="13233A"/>
                </a:solidFill>
              </a:rPr>
              <a:t>• Orquestador coordina el flujo</a:t>
            </a:r>
          </a:p>
          <a:p>
            <a:pPr algn="l">
              <a:buNone/>
              <a:defRPr sz="1350" b="0" i="0">
                <a:solidFill>
                  <a:srgbClr val="13233A"/>
                </a:solidFill>
              </a:defRPr>
            </a:pPr>
            <a:r>
              <a:rPr sz="1350" b="0" i="0">
                <a:solidFill>
                  <a:srgbClr val="13233A"/>
                </a:solidFill>
              </a:rPr>
              <a:t>• Cálculo divide sub-bloques</a:t>
            </a:r>
          </a:p>
          <a:p>
            <a:pPr algn="l">
              <a:buNone/>
              <a:defRPr sz="1350" b="0" i="0">
                <a:solidFill>
                  <a:srgbClr val="13233A"/>
                </a:solidFill>
              </a:defRPr>
            </a:pPr>
            <a:r>
              <a:rPr sz="1350" b="0" i="0">
                <a:solidFill>
                  <a:srgbClr val="13233A"/>
                </a:solidFill>
              </a:rPr>
              <a:t>• Escritura produce PySpice/netlist</a:t>
            </a:r>
          </a:p>
          <a:p>
            <a:pPr algn="l">
              <a:buNone/>
              <a:defRPr sz="1350" b="0" i="0">
                <a:solidFill>
                  <a:srgbClr val="13233A"/>
                </a:solidFill>
              </a:defRPr>
            </a:pPr>
            <a:r>
              <a:rPr sz="1350" b="0" i="0">
                <a:solidFill>
                  <a:srgbClr val="13233A"/>
                </a:solidFill>
              </a:rPr>
              <a:t>• Shell ejecuta ngspice</a:t>
            </a:r>
          </a:p>
          <a:p>
            <a:pPr algn="l">
              <a:buNone/>
              <a:defRPr sz="1350" b="0" i="0">
                <a:solidFill>
                  <a:srgbClr val="13233A"/>
                </a:solidFill>
              </a:defRPr>
            </a:pPr>
            <a:r>
              <a:rPr sz="1350" b="0" i="0">
                <a:solidFill>
                  <a:srgbClr val="13233A"/>
                </a:solidFill>
              </a:rPr>
              <a:t>• Curador decide</a:t>
            </a:r>
          </a:p>
        </p:txBody>
      </p:sp>
    </p:spTree>
    <p:extLst>
      <p:ext uri="{BB962C8B-B14F-4D97-AF65-F5344CB8AC3E}">
        <p14:creationId xmlns:p14="http://schemas.microsoft.com/office/powerpoint/2010/main" val="964282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518B30E-A1D5-49BB-9816-100FBBAA2DCF}"/>
              </a:ext>
            </a:extLst>
          </p:cNvPr>
          <p:cNvSpPr>
            <a:spLocks noGrp="1"/>
          </p:cNvSpPr>
          <p:nvPr/>
        </p:nvSpPr>
        <p:spPr>
          <a:xfrm>
            <a:off x="11525250" y="0"/>
            <a:ext cx="666750" cy="6858000"/>
          </a:xfrm>
          <a:prstGeom prst="rect">
            <a:avLst/>
          </a:prstGeom>
          <a:solidFill>
            <a:srgbClr val="7A003C"/>
          </a:solidFill>
          <a:ln w="0">
            <a:solidFill>
              <a:srgbClr val="7A00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33A6E55-4340-4CBF-9F78-6356DFD303E8}"/>
              </a:ext>
            </a:extLst>
          </p:cNvPr>
          <p:cNvSpPr>
            <a:spLocks noGrp="1"/>
          </p:cNvSpPr>
          <p:nvPr/>
        </p:nvSpPr>
        <p:spPr>
          <a:xfrm>
            <a:off x="438150" y="1066800"/>
            <a:ext cx="57150" cy="4953000"/>
          </a:xfrm>
          <a:prstGeom prst="rect">
            <a:avLst/>
          </a:prstGeom>
          <a:solidFill>
            <a:srgbClr val="7A003C"/>
          </a:solidFill>
          <a:ln w="0">
            <a:solidFill>
              <a:srgbClr val="7A00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11DD02F-48BA-444A-AEB6-811324FC03CC}"/>
              </a:ext>
            </a:extLst>
          </p:cNvPr>
          <p:cNvSpPr>
            <a:spLocks noGrp="1"/>
          </p:cNvSpPr>
          <p:nvPr/>
        </p:nvSpPr>
        <p:spPr>
          <a:xfrm>
            <a:off x="590550" y="1066800"/>
            <a:ext cx="28575" cy="4953000"/>
          </a:xfrm>
          <a:prstGeom prst="rect">
            <a:avLst/>
          </a:prstGeom>
          <a:solidFill>
            <a:srgbClr val="9A174D"/>
          </a:solidFill>
          <a:ln w="0">
            <a:solidFill>
              <a:srgbClr val="9A17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655679-4711-403F-AC0D-A9D6A68968CF}"/>
              </a:ext>
            </a:extLst>
          </p:cNvPr>
          <p:cNvSpPr>
            <a:spLocks noGrp="1"/>
          </p:cNvSpPr>
          <p:nvPr/>
        </p:nvSpPr>
        <p:spPr>
          <a:xfrm>
            <a:off x="857250" y="285750"/>
            <a:ext cx="723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 i="0">
                <a:solidFill>
                  <a:srgbClr val="667085"/>
                </a:solidFill>
              </a:defRPr>
            </a:pPr>
            <a:r>
              <a:rPr sz="1050" b="1" i="0">
                <a:solidFill>
                  <a:srgbClr val="667085"/>
                </a:solidFill>
              </a:rPr>
              <a:t>Instituto Politécnico Nacional · ESIME Culhuacán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9097EB-FF77-466E-9656-6138A8985129}"/>
              </a:ext>
            </a:extLst>
          </p:cNvPr>
          <p:cNvSpPr>
            <a:spLocks noGrp="1"/>
          </p:cNvSpPr>
          <p:nvPr/>
        </p:nvSpPr>
        <p:spPr>
          <a:xfrm>
            <a:off x="857250" y="590550"/>
            <a:ext cx="9144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550" b="1" i="0">
                <a:solidFill>
                  <a:srgbClr val="13233A"/>
                </a:solidFill>
              </a:defRPr>
            </a:pPr>
            <a:r>
              <a:rPr sz="2550" b="1" i="0">
                <a:solidFill>
                  <a:srgbClr val="13233A"/>
                </a:solidFill>
              </a:rPr>
              <a:t>Ecosistema de agentes: explicación por zonas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F86C397-9EBC-4AD0-8DA2-22F6A1E5BB4F}"/>
              </a:ext>
            </a:extLst>
          </p:cNvPr>
          <p:cNvSpPr>
            <a:spLocks noGrp="1"/>
          </p:cNvSpPr>
          <p:nvPr/>
        </p:nvSpPr>
        <p:spPr>
          <a:xfrm>
            <a:off x="10572750" y="6286500"/>
            <a:ext cx="5524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0" i="0">
                <a:solidFill>
                  <a:srgbClr val="667085"/>
                </a:solidFill>
              </a:defRPr>
            </a:pPr>
            <a:r>
              <a:rPr sz="1050" b="0" i="0">
                <a:solidFill>
                  <a:srgbClr val="667085"/>
                </a:solidFill>
              </a:rPr>
              <a:t>13/17</a:t>
            </a:r>
          </a:p>
        </p:txBody>
      </p:sp>
      <p:pic>
        <p:nvPicPr>
          <p:cNvPr id="18" name="Picture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81063" y="1143000"/>
            <a:ext cx="7148512" cy="5588000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707EEA7-0A38-4705-883F-BFE086EBA59A}"/>
              </a:ext>
            </a:extLst>
          </p:cNvPr>
          <p:cNvSpPr>
            <a:spLocks noGrp="1"/>
          </p:cNvSpPr>
          <p:nvPr/>
        </p:nvSpPr>
        <p:spPr>
          <a:xfrm>
            <a:off x="8429625" y="1428750"/>
            <a:ext cx="2524125" cy="85725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B88A44"/>
            </a:solidFill>
            <a:prstDash val="solid"/>
          </a:ln>
        </p:spPr>
        <p:txBody>
          <a:bodyPr/>
          <a:lstStyle/>
          <a:p>
            <a:pPr algn="ctr">
              <a:buNone/>
              <a:defRPr sz="1425" b="1">
                <a:solidFill>
                  <a:srgbClr val="13233A"/>
                </a:solidFill>
              </a:defRPr>
            </a:pPr>
            <a:r>
              <a:rPr sz="1425" b="1">
                <a:solidFill>
                  <a:srgbClr val="13233A"/>
                </a:solidFill>
              </a:rPr>
              <a:t>1 Coordinación</a:t>
            </a:r>
          </a:p>
          <a:p>
            <a:pPr algn="ctr">
              <a:buNone/>
              <a:defRPr sz="1425" b="1">
                <a:solidFill>
                  <a:srgbClr val="13233A"/>
                </a:solidFill>
              </a:defRPr>
            </a:pPr>
            <a:r>
              <a:rPr sz="1425" b="1">
                <a:solidFill>
                  <a:srgbClr val="13233A"/>
                </a:solidFill>
              </a:rPr>
              <a:t>Orquestador + checkpointer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932E129-4182-4C69-94A7-CC1871519ACC}"/>
              </a:ext>
            </a:extLst>
          </p:cNvPr>
          <p:cNvSpPr>
            <a:spLocks noGrp="1"/>
          </p:cNvSpPr>
          <p:nvPr/>
        </p:nvSpPr>
        <p:spPr>
          <a:xfrm>
            <a:off x="8429625" y="2667000"/>
            <a:ext cx="2524125" cy="85725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B88A44"/>
            </a:solidFill>
            <a:prstDash val="solid"/>
          </a:ln>
        </p:spPr>
        <p:txBody>
          <a:bodyPr/>
          <a:lstStyle/>
          <a:p>
            <a:pPr algn="ctr">
              <a:buNone/>
              <a:defRPr sz="1425" b="1">
                <a:solidFill>
                  <a:srgbClr val="13233A"/>
                </a:solidFill>
              </a:defRPr>
            </a:pPr>
            <a:r>
              <a:rPr sz="1425" b="1">
                <a:solidFill>
                  <a:srgbClr val="13233A"/>
                </a:solidFill>
              </a:rPr>
              <a:t>2 Construcción</a:t>
            </a:r>
          </a:p>
          <a:p>
            <a:pPr algn="ctr">
              <a:buNone/>
              <a:defRPr sz="1425" b="1">
                <a:solidFill>
                  <a:srgbClr val="13233A"/>
                </a:solidFill>
              </a:defRPr>
            </a:pPr>
            <a:r>
              <a:rPr sz="1425" b="1">
                <a:solidFill>
                  <a:srgbClr val="13233A"/>
                </a:solidFill>
              </a:rPr>
              <a:t>Cálculo + workers + escritura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0DC476D-CCAD-4BA3-BB37-75A8092A1950}"/>
              </a:ext>
            </a:extLst>
          </p:cNvPr>
          <p:cNvSpPr>
            <a:spLocks noGrp="1"/>
          </p:cNvSpPr>
          <p:nvPr/>
        </p:nvSpPr>
        <p:spPr>
          <a:xfrm>
            <a:off x="8429625" y="3905250"/>
            <a:ext cx="2524125" cy="857250"/>
          </a:xfrm>
          <a:prstGeom prst="roundRect">
            <a:avLst>
              <a:gd name="adj" fmla="val 8889"/>
            </a:avLst>
          </a:prstGeom>
          <a:solidFill>
            <a:srgbClr val="7A003C"/>
          </a:solidFill>
          <a:ln w="9525">
            <a:solidFill>
              <a:srgbClr val="7A003C"/>
            </a:solidFill>
            <a:prstDash val="solid"/>
          </a:ln>
        </p:spPr>
        <p:txBody>
          <a:bodyPr/>
          <a:lstStyle/>
          <a:p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3 Validación</a:t>
            </a:r>
          </a:p>
          <a:p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Shell + ngspice + curador</a:t>
            </a:r>
          </a:p>
        </p:txBody>
      </p:sp>
    </p:spTree>
    <p:extLst>
      <p:ext uri="{BB962C8B-B14F-4D97-AF65-F5344CB8AC3E}">
        <p14:creationId xmlns:p14="http://schemas.microsoft.com/office/powerpoint/2010/main" val="1957542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E348B97-1BA5-44F4-87C2-EA60771118BB}"/>
              </a:ext>
            </a:extLst>
          </p:cNvPr>
          <p:cNvSpPr>
            <a:spLocks noGrp="1"/>
          </p:cNvSpPr>
          <p:nvPr/>
        </p:nvSpPr>
        <p:spPr>
          <a:xfrm>
            <a:off x="11525250" y="0"/>
            <a:ext cx="666750" cy="6858000"/>
          </a:xfrm>
          <a:prstGeom prst="rect">
            <a:avLst/>
          </a:prstGeom>
          <a:solidFill>
            <a:srgbClr val="7A003C"/>
          </a:solidFill>
          <a:ln w="0">
            <a:solidFill>
              <a:srgbClr val="7A00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0B2512E-5021-4DA6-9195-A4EB8A27ADA1}"/>
              </a:ext>
            </a:extLst>
          </p:cNvPr>
          <p:cNvSpPr>
            <a:spLocks noGrp="1"/>
          </p:cNvSpPr>
          <p:nvPr/>
        </p:nvSpPr>
        <p:spPr>
          <a:xfrm>
            <a:off x="438150" y="1066800"/>
            <a:ext cx="57150" cy="4953000"/>
          </a:xfrm>
          <a:prstGeom prst="rect">
            <a:avLst/>
          </a:prstGeom>
          <a:solidFill>
            <a:srgbClr val="7A003C"/>
          </a:solidFill>
          <a:ln w="0">
            <a:solidFill>
              <a:srgbClr val="7A00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AA756D0-A059-459F-A1ED-F298ED5A2EF6}"/>
              </a:ext>
            </a:extLst>
          </p:cNvPr>
          <p:cNvSpPr>
            <a:spLocks noGrp="1"/>
          </p:cNvSpPr>
          <p:nvPr/>
        </p:nvSpPr>
        <p:spPr>
          <a:xfrm>
            <a:off x="590550" y="1066800"/>
            <a:ext cx="28575" cy="4953000"/>
          </a:xfrm>
          <a:prstGeom prst="rect">
            <a:avLst/>
          </a:prstGeom>
          <a:solidFill>
            <a:srgbClr val="9A174D"/>
          </a:solidFill>
          <a:ln w="0">
            <a:solidFill>
              <a:srgbClr val="9A17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4396B54-F7FD-4EF5-9066-58BD89F08FDD}"/>
              </a:ext>
            </a:extLst>
          </p:cNvPr>
          <p:cNvSpPr>
            <a:spLocks noGrp="1"/>
          </p:cNvSpPr>
          <p:nvPr/>
        </p:nvSpPr>
        <p:spPr>
          <a:xfrm>
            <a:off x="857250" y="285750"/>
            <a:ext cx="723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 i="0">
                <a:solidFill>
                  <a:srgbClr val="667085"/>
                </a:solidFill>
              </a:defRPr>
            </a:pPr>
            <a:r>
              <a:rPr sz="1050" b="1" i="0">
                <a:solidFill>
                  <a:srgbClr val="667085"/>
                </a:solidFill>
              </a:rPr>
              <a:t>Instituto Politécnico Nacional · ESIME Culhuacán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9ADFAB2-39E1-43B4-AA5F-345D755792E1}"/>
              </a:ext>
            </a:extLst>
          </p:cNvPr>
          <p:cNvSpPr>
            <a:spLocks noGrp="1"/>
          </p:cNvSpPr>
          <p:nvPr/>
        </p:nvSpPr>
        <p:spPr>
          <a:xfrm>
            <a:off x="857250" y="590550"/>
            <a:ext cx="9144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550" b="1" i="0">
                <a:solidFill>
                  <a:srgbClr val="13233A"/>
                </a:solidFill>
              </a:defRPr>
            </a:pPr>
            <a:r>
              <a:rPr sz="2550" b="1" i="0">
                <a:solidFill>
                  <a:srgbClr val="13233A"/>
                </a:solidFill>
              </a:rPr>
              <a:t>Flujo de construcción del circuito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EF3D02-ED4A-40F7-A9AB-D78972AB2A1C}"/>
              </a:ext>
            </a:extLst>
          </p:cNvPr>
          <p:cNvSpPr>
            <a:spLocks noGrp="1"/>
          </p:cNvSpPr>
          <p:nvPr/>
        </p:nvSpPr>
        <p:spPr>
          <a:xfrm>
            <a:off x="10572750" y="6286500"/>
            <a:ext cx="5524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0" i="0">
                <a:solidFill>
                  <a:srgbClr val="667085"/>
                </a:solidFill>
              </a:defRPr>
            </a:pPr>
            <a:r>
              <a:rPr sz="1050" b="0" i="0">
                <a:solidFill>
                  <a:srgbClr val="667085"/>
                </a:solidFill>
              </a:rPr>
              <a:t>14/17</a:t>
            </a:r>
          </a:p>
        </p:txBody>
      </p:sp>
      <p:pic>
        <p:nvPicPr>
          <p:cNvPr id="16" name="Picture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78668" y="1139824"/>
            <a:ext cx="8231982" cy="553298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20057FD-69DA-4184-B32E-A9998DAC0443}"/>
              </a:ext>
            </a:extLst>
          </p:cNvPr>
          <p:cNvSpPr>
            <a:spLocks noGrp="1"/>
          </p:cNvSpPr>
          <p:nvPr/>
        </p:nvSpPr>
        <p:spPr>
          <a:xfrm>
            <a:off x="9079707" y="1123950"/>
            <a:ext cx="2333625" cy="2857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 i="0">
                <a:solidFill>
                  <a:srgbClr val="13233A"/>
                </a:solidFill>
              </a:defRPr>
            </a:pPr>
            <a:r>
              <a:rPr sz="1350" b="0" i="0" dirty="0">
                <a:solidFill>
                  <a:srgbClr val="13233A"/>
                </a:solidFill>
              </a:rPr>
              <a:t>• Entrada: </a:t>
            </a:r>
            <a:r>
              <a:rPr sz="1350" b="0" i="0" dirty="0" err="1">
                <a:solidFill>
                  <a:srgbClr val="13233A"/>
                </a:solidFill>
              </a:rPr>
              <a:t>descripción</a:t>
            </a:r>
            <a:r>
              <a:rPr sz="1350" b="0" i="0" dirty="0">
                <a:solidFill>
                  <a:srgbClr val="13233A"/>
                </a:solidFill>
              </a:rPr>
              <a:t> y </a:t>
            </a:r>
            <a:r>
              <a:rPr sz="1350" b="0" i="0" dirty="0" err="1">
                <a:solidFill>
                  <a:srgbClr val="13233A"/>
                </a:solidFill>
              </a:rPr>
              <a:t>parámetros</a:t>
            </a:r>
            <a:endParaRPr sz="1350" b="0" i="0" dirty="0">
              <a:solidFill>
                <a:srgbClr val="13233A"/>
              </a:solidFill>
            </a:endParaRPr>
          </a:p>
          <a:p>
            <a:pPr algn="l">
              <a:buNone/>
              <a:defRPr sz="1350" b="0" i="0">
                <a:solidFill>
                  <a:srgbClr val="13233A"/>
                </a:solidFill>
              </a:defRPr>
            </a:pPr>
            <a:r>
              <a:rPr sz="1350" b="0" i="0" dirty="0">
                <a:solidFill>
                  <a:srgbClr val="13233A"/>
                </a:solidFill>
              </a:rPr>
              <a:t>• </a:t>
            </a:r>
            <a:r>
              <a:rPr sz="1350" b="0" i="0" dirty="0" err="1">
                <a:solidFill>
                  <a:srgbClr val="13233A"/>
                </a:solidFill>
              </a:rPr>
              <a:t>Cálculo</a:t>
            </a:r>
            <a:r>
              <a:rPr sz="1350" b="0" i="0" dirty="0">
                <a:solidFill>
                  <a:srgbClr val="13233A"/>
                </a:solidFill>
              </a:rPr>
              <a:t>: sub-</a:t>
            </a:r>
            <a:r>
              <a:rPr sz="1350" b="0" i="0" dirty="0" err="1">
                <a:solidFill>
                  <a:srgbClr val="13233A"/>
                </a:solidFill>
              </a:rPr>
              <a:t>bloques</a:t>
            </a:r>
            <a:r>
              <a:rPr sz="1350" b="0" i="0" dirty="0">
                <a:solidFill>
                  <a:srgbClr val="13233A"/>
                </a:solidFill>
              </a:rPr>
              <a:t> </a:t>
            </a:r>
            <a:r>
              <a:rPr sz="1350" b="0" i="0" dirty="0" err="1">
                <a:solidFill>
                  <a:srgbClr val="13233A"/>
                </a:solidFill>
              </a:rPr>
              <a:t>en</a:t>
            </a:r>
            <a:r>
              <a:rPr sz="1350" b="0" i="0" dirty="0">
                <a:solidFill>
                  <a:srgbClr val="13233A"/>
                </a:solidFill>
              </a:rPr>
              <a:t> </a:t>
            </a:r>
            <a:r>
              <a:rPr sz="1350" b="0" i="0" dirty="0" err="1">
                <a:solidFill>
                  <a:srgbClr val="13233A"/>
                </a:solidFill>
              </a:rPr>
              <a:t>paralelo</a:t>
            </a:r>
            <a:endParaRPr sz="1350" b="0" i="0" dirty="0">
              <a:solidFill>
                <a:srgbClr val="13233A"/>
              </a:solidFill>
            </a:endParaRPr>
          </a:p>
          <a:p>
            <a:pPr algn="l">
              <a:buNone/>
              <a:defRPr sz="1350" b="0" i="0">
                <a:solidFill>
                  <a:srgbClr val="13233A"/>
                </a:solidFill>
              </a:defRPr>
            </a:pPr>
            <a:r>
              <a:rPr sz="1350" b="0" i="0" dirty="0">
                <a:solidFill>
                  <a:srgbClr val="13233A"/>
                </a:solidFill>
              </a:rPr>
              <a:t>• </a:t>
            </a:r>
            <a:r>
              <a:rPr sz="1350" b="0" i="0" dirty="0" err="1">
                <a:solidFill>
                  <a:srgbClr val="13233A"/>
                </a:solidFill>
              </a:rPr>
              <a:t>Simulación</a:t>
            </a:r>
            <a:r>
              <a:rPr sz="1350" b="0" i="0" dirty="0">
                <a:solidFill>
                  <a:srgbClr val="13233A"/>
                </a:solidFill>
              </a:rPr>
              <a:t>: </a:t>
            </a:r>
            <a:r>
              <a:rPr sz="1350" b="0" i="0" dirty="0" err="1">
                <a:solidFill>
                  <a:srgbClr val="13233A"/>
                </a:solidFill>
              </a:rPr>
              <a:t>PySpice</a:t>
            </a:r>
            <a:r>
              <a:rPr sz="1350" b="0" i="0" dirty="0">
                <a:solidFill>
                  <a:srgbClr val="13233A"/>
                </a:solidFill>
              </a:rPr>
              <a:t> y </a:t>
            </a:r>
            <a:r>
              <a:rPr sz="1350" b="0" i="0" dirty="0" err="1">
                <a:solidFill>
                  <a:srgbClr val="13233A"/>
                </a:solidFill>
              </a:rPr>
              <a:t>ngspice</a:t>
            </a:r>
            <a:endParaRPr sz="1350" b="0" i="0" dirty="0">
              <a:solidFill>
                <a:srgbClr val="13233A"/>
              </a:solidFill>
            </a:endParaRPr>
          </a:p>
          <a:p>
            <a:pPr algn="l">
              <a:buNone/>
              <a:defRPr sz="1350" b="0" i="0">
                <a:solidFill>
                  <a:srgbClr val="13233A"/>
                </a:solidFill>
              </a:defRPr>
            </a:pPr>
            <a:r>
              <a:rPr sz="1350" b="0" i="0" dirty="0">
                <a:solidFill>
                  <a:srgbClr val="13233A"/>
                </a:solidFill>
              </a:rPr>
              <a:t>• </a:t>
            </a:r>
            <a:r>
              <a:rPr sz="1350" b="0" i="0" dirty="0" err="1">
                <a:solidFill>
                  <a:srgbClr val="13233A"/>
                </a:solidFill>
              </a:rPr>
              <a:t>Decisión</a:t>
            </a:r>
            <a:r>
              <a:rPr sz="1350" b="0" i="0" dirty="0">
                <a:solidFill>
                  <a:srgbClr val="13233A"/>
                </a:solidFill>
              </a:rPr>
              <a:t>: </a:t>
            </a:r>
            <a:r>
              <a:rPr sz="1350" b="0" i="0" dirty="0" err="1">
                <a:solidFill>
                  <a:srgbClr val="13233A"/>
                </a:solidFill>
              </a:rPr>
              <a:t>métricas</a:t>
            </a:r>
            <a:r>
              <a:rPr sz="1350" b="0" i="0" dirty="0">
                <a:solidFill>
                  <a:srgbClr val="13233A"/>
                </a:solidFill>
              </a:rPr>
              <a:t> y </a:t>
            </a:r>
            <a:r>
              <a:rPr sz="1350" b="0" i="0" dirty="0" err="1">
                <a:solidFill>
                  <a:srgbClr val="13233A"/>
                </a:solidFill>
              </a:rPr>
              <a:t>curador</a:t>
            </a:r>
            <a:endParaRPr sz="1350" b="0" i="0" dirty="0">
              <a:solidFill>
                <a:srgbClr val="13233A"/>
              </a:solidFill>
            </a:endParaRPr>
          </a:p>
          <a:p>
            <a:pPr algn="l">
              <a:buNone/>
              <a:defRPr sz="1350" b="0" i="0">
                <a:solidFill>
                  <a:srgbClr val="13233A"/>
                </a:solidFill>
              </a:defRPr>
            </a:pPr>
            <a:r>
              <a:rPr sz="1350" b="0" i="0" dirty="0">
                <a:solidFill>
                  <a:srgbClr val="13233A"/>
                </a:solidFill>
              </a:rPr>
              <a:t>• </a:t>
            </a:r>
            <a:r>
              <a:rPr sz="1350" b="0" i="0" dirty="0" err="1">
                <a:solidFill>
                  <a:srgbClr val="13233A"/>
                </a:solidFill>
              </a:rPr>
              <a:t>Resultado</a:t>
            </a:r>
            <a:r>
              <a:rPr sz="1350" b="0" i="0" dirty="0">
                <a:solidFill>
                  <a:srgbClr val="13233A"/>
                </a:solidFill>
              </a:rPr>
              <a:t>: netlist e </a:t>
            </a:r>
            <a:r>
              <a:rPr sz="1350" b="0" i="0" dirty="0" err="1">
                <a:solidFill>
                  <a:srgbClr val="13233A"/>
                </a:solidFill>
              </a:rPr>
              <a:t>historial</a:t>
            </a:r>
            <a:endParaRPr sz="1350" b="0" i="0" dirty="0">
              <a:solidFill>
                <a:srgbClr val="13233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853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79F7203-1334-44F9-AACF-C82DDFB6A372}"/>
              </a:ext>
            </a:extLst>
          </p:cNvPr>
          <p:cNvSpPr>
            <a:spLocks noGrp="1"/>
          </p:cNvSpPr>
          <p:nvPr/>
        </p:nvSpPr>
        <p:spPr>
          <a:xfrm>
            <a:off x="11525250" y="0"/>
            <a:ext cx="666750" cy="6858000"/>
          </a:xfrm>
          <a:prstGeom prst="rect">
            <a:avLst/>
          </a:prstGeom>
          <a:solidFill>
            <a:srgbClr val="7A003C"/>
          </a:solidFill>
          <a:ln w="0">
            <a:solidFill>
              <a:srgbClr val="7A00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97F6200-BC83-4C3B-8B5E-914344FB3909}"/>
              </a:ext>
            </a:extLst>
          </p:cNvPr>
          <p:cNvSpPr>
            <a:spLocks noGrp="1"/>
          </p:cNvSpPr>
          <p:nvPr/>
        </p:nvSpPr>
        <p:spPr>
          <a:xfrm>
            <a:off x="438150" y="1066800"/>
            <a:ext cx="57150" cy="4953000"/>
          </a:xfrm>
          <a:prstGeom prst="rect">
            <a:avLst/>
          </a:prstGeom>
          <a:solidFill>
            <a:srgbClr val="7A003C"/>
          </a:solidFill>
          <a:ln w="0">
            <a:solidFill>
              <a:srgbClr val="7A00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4EFE553-3CFF-44B1-97E7-29F0C19856D0}"/>
              </a:ext>
            </a:extLst>
          </p:cNvPr>
          <p:cNvSpPr>
            <a:spLocks noGrp="1"/>
          </p:cNvSpPr>
          <p:nvPr/>
        </p:nvSpPr>
        <p:spPr>
          <a:xfrm>
            <a:off x="590550" y="1066800"/>
            <a:ext cx="28575" cy="4953000"/>
          </a:xfrm>
          <a:prstGeom prst="rect">
            <a:avLst/>
          </a:prstGeom>
          <a:solidFill>
            <a:srgbClr val="9A174D"/>
          </a:solidFill>
          <a:ln w="0">
            <a:solidFill>
              <a:srgbClr val="9A17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21293D-F848-4C2F-84E7-D618C20B71EE}"/>
              </a:ext>
            </a:extLst>
          </p:cNvPr>
          <p:cNvSpPr>
            <a:spLocks noGrp="1"/>
          </p:cNvSpPr>
          <p:nvPr/>
        </p:nvSpPr>
        <p:spPr>
          <a:xfrm>
            <a:off x="857250" y="285750"/>
            <a:ext cx="723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 i="0">
                <a:solidFill>
                  <a:srgbClr val="667085"/>
                </a:solidFill>
              </a:defRPr>
            </a:pPr>
            <a:r>
              <a:rPr sz="1050" b="1" i="0">
                <a:solidFill>
                  <a:srgbClr val="667085"/>
                </a:solidFill>
              </a:rPr>
              <a:t>Instituto Politécnico Nacional · ESIME Culhuacán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907F576-312C-473A-B68C-5C2F98E50459}"/>
              </a:ext>
            </a:extLst>
          </p:cNvPr>
          <p:cNvSpPr>
            <a:spLocks noGrp="1"/>
          </p:cNvSpPr>
          <p:nvPr/>
        </p:nvSpPr>
        <p:spPr>
          <a:xfrm>
            <a:off x="857250" y="590550"/>
            <a:ext cx="9144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550" b="1" i="0">
                <a:solidFill>
                  <a:srgbClr val="13233A"/>
                </a:solidFill>
              </a:defRPr>
            </a:pPr>
            <a:r>
              <a:rPr sz="2550" b="1" i="0">
                <a:solidFill>
                  <a:srgbClr val="13233A"/>
                </a:solidFill>
              </a:rPr>
              <a:t>Lazo de validación y ajuste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7558BC-B37A-4EEA-A510-C6A1ED70EE3F}"/>
              </a:ext>
            </a:extLst>
          </p:cNvPr>
          <p:cNvSpPr>
            <a:spLocks noGrp="1"/>
          </p:cNvSpPr>
          <p:nvPr/>
        </p:nvSpPr>
        <p:spPr>
          <a:xfrm>
            <a:off x="10572750" y="6286500"/>
            <a:ext cx="5524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0" i="0">
                <a:solidFill>
                  <a:srgbClr val="667085"/>
                </a:solidFill>
              </a:defRPr>
            </a:pPr>
            <a:r>
              <a:rPr sz="1050" b="0" i="0">
                <a:solidFill>
                  <a:srgbClr val="667085"/>
                </a:solidFill>
              </a:rPr>
              <a:t>15/17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1B213A4-464E-4AF4-AA4D-5D2E29BD6432}"/>
              </a:ext>
            </a:extLst>
          </p:cNvPr>
          <p:cNvSpPr>
            <a:spLocks noGrp="1"/>
          </p:cNvSpPr>
          <p:nvPr/>
        </p:nvSpPr>
        <p:spPr>
          <a:xfrm>
            <a:off x="4762500" y="2857500"/>
            <a:ext cx="2190750" cy="952500"/>
          </a:xfrm>
          <a:prstGeom prst="roundRect">
            <a:avLst>
              <a:gd name="adj" fmla="val 8000"/>
            </a:avLst>
          </a:prstGeom>
          <a:solidFill>
            <a:srgbClr val="7A003C"/>
          </a:solidFill>
          <a:ln w="9525">
            <a:solidFill>
              <a:srgbClr val="7A003C"/>
            </a:solidFill>
            <a:prstDash val="solid"/>
          </a:ln>
        </p:spPr>
        <p:txBody>
          <a:bodyPr/>
          <a:lstStyle/>
          <a:p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Curador RL</a:t>
            </a:r>
          </a:p>
          <a:p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acepta · ajusta · rechaza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76C02E3-59D1-4992-B0D2-C260558381FE}"/>
              </a:ext>
            </a:extLst>
          </p:cNvPr>
          <p:cNvSpPr>
            <a:spLocks noGrp="1"/>
          </p:cNvSpPr>
          <p:nvPr/>
        </p:nvSpPr>
        <p:spPr>
          <a:xfrm>
            <a:off x="1333500" y="1762125"/>
            <a:ext cx="1666875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  <p:txBody>
          <a:bodyPr/>
          <a:lstStyle/>
          <a:p>
            <a:pPr algn="ctr">
              <a:buNone/>
              <a:defRPr sz="1500" b="1">
                <a:solidFill>
                  <a:srgbClr val="13233A"/>
                </a:solidFill>
              </a:defRPr>
            </a:pPr>
            <a:r>
              <a:rPr sz="1500" b="1">
                <a:solidFill>
                  <a:srgbClr val="13233A"/>
                </a:solidFill>
              </a:rPr>
              <a:t>Netlist</a:t>
            </a:r>
          </a:p>
          <a:p>
            <a:pPr algn="ctr">
              <a:buNone/>
              <a:defRPr sz="1500" b="1">
                <a:solidFill>
                  <a:srgbClr val="13233A"/>
                </a:solidFill>
              </a:defRPr>
            </a:pPr>
            <a:r>
              <a:rPr sz="1500" b="1">
                <a:solidFill>
                  <a:srgbClr val="13233A"/>
                </a:solidFill>
              </a:rPr>
              <a:t>propuesto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150DD40-EC96-4087-BAC7-A9AFABB7AFFB}"/>
              </a:ext>
            </a:extLst>
          </p:cNvPr>
          <p:cNvSpPr>
            <a:spLocks noGrp="1"/>
          </p:cNvSpPr>
          <p:nvPr/>
        </p:nvSpPr>
        <p:spPr>
          <a:xfrm>
            <a:off x="4095749" y="1762125"/>
            <a:ext cx="1666875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  <p:txBody>
          <a:bodyPr/>
          <a:lstStyle/>
          <a:p>
            <a:pPr algn="ctr">
              <a:buNone/>
              <a:defRPr sz="1500" b="1">
                <a:solidFill>
                  <a:srgbClr val="13233A"/>
                </a:solidFill>
              </a:defRPr>
            </a:pPr>
            <a:r>
              <a:rPr sz="1500" b="1">
                <a:solidFill>
                  <a:srgbClr val="13233A"/>
                </a:solidFill>
              </a:rPr>
              <a:t>Simulación</a:t>
            </a:r>
          </a:p>
          <a:p>
            <a:pPr algn="ctr">
              <a:buNone/>
              <a:defRPr sz="1500" b="1">
                <a:solidFill>
                  <a:srgbClr val="13233A"/>
                </a:solidFill>
              </a:defRPr>
            </a:pPr>
            <a:r>
              <a:rPr sz="1500" b="1">
                <a:solidFill>
                  <a:srgbClr val="13233A"/>
                </a:solidFill>
              </a:rPr>
              <a:t>ngspice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D715F3F-2527-4949-9B8A-42B57A21DF40}"/>
              </a:ext>
            </a:extLst>
          </p:cNvPr>
          <p:cNvSpPr>
            <a:spLocks noGrp="1"/>
          </p:cNvSpPr>
          <p:nvPr/>
        </p:nvSpPr>
        <p:spPr>
          <a:xfrm>
            <a:off x="7000875" y="1762125"/>
            <a:ext cx="1666875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  <p:txBody>
          <a:bodyPr/>
          <a:lstStyle/>
          <a:p>
            <a:pPr algn="ctr">
              <a:buNone/>
              <a:defRPr sz="1500" b="1">
                <a:solidFill>
                  <a:srgbClr val="13233A"/>
                </a:solidFill>
              </a:defRPr>
            </a:pPr>
            <a:r>
              <a:rPr sz="1500" b="1">
                <a:solidFill>
                  <a:srgbClr val="13233A"/>
                </a:solidFill>
              </a:rPr>
              <a:t>Métricas</a:t>
            </a:r>
          </a:p>
          <a:p>
            <a:pPr algn="ctr">
              <a:buNone/>
              <a:defRPr sz="1500" b="1">
                <a:solidFill>
                  <a:srgbClr val="13233A"/>
                </a:solidFill>
              </a:defRPr>
            </a:pPr>
            <a:r>
              <a:rPr sz="1500" b="1">
                <a:solidFill>
                  <a:srgbClr val="13233A"/>
                </a:solidFill>
              </a:rPr>
              <a:t>eléctricas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4684E79-A959-451A-96DB-FFD6A9D953D6}"/>
              </a:ext>
            </a:extLst>
          </p:cNvPr>
          <p:cNvSpPr>
            <a:spLocks noGrp="1"/>
          </p:cNvSpPr>
          <p:nvPr/>
        </p:nvSpPr>
        <p:spPr>
          <a:xfrm>
            <a:off x="4095750" y="4762500"/>
            <a:ext cx="1666875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  <p:txBody>
          <a:bodyPr/>
          <a:lstStyle/>
          <a:p>
            <a:pPr algn="ctr">
              <a:buNone/>
              <a:defRPr sz="1500" b="1">
                <a:solidFill>
                  <a:srgbClr val="13233A"/>
                </a:solidFill>
              </a:defRPr>
            </a:pPr>
            <a:r>
              <a:rPr sz="1500" b="1">
                <a:solidFill>
                  <a:srgbClr val="13233A"/>
                </a:solidFill>
              </a:rPr>
              <a:t>Ajuste de</a:t>
            </a:r>
          </a:p>
          <a:p>
            <a:pPr algn="ctr">
              <a:buNone/>
              <a:defRPr sz="1500" b="1">
                <a:solidFill>
                  <a:srgbClr val="13233A"/>
                </a:solidFill>
              </a:defRPr>
            </a:pPr>
            <a:r>
              <a:rPr sz="1500" b="1">
                <a:solidFill>
                  <a:srgbClr val="13233A"/>
                </a:solidFill>
              </a:rPr>
              <a:t>valores</a:t>
            </a:r>
          </a:p>
        </p:txBody>
      </p:sp>
      <p:cxnSp>
        <p:nvCxnSpPr>
          <p:cNvPr id="77" name="Straight Arrow Connector 28"/>
          <p:cNvCxnSpPr>
            <a:stCxn id="8" idx="3"/>
            <a:endCxn id="9" idx="1"/>
          </p:cNvCxnSpPr>
          <p:nvPr/>
        </p:nvCxnSpPr>
        <p:spPr>
          <a:xfrm>
            <a:off x="3000375" y="2143125"/>
            <a:ext cx="1095374" cy="0"/>
          </a:xfrm>
          <a:prstGeom prst="straightConnector1">
            <a:avLst/>
          </a:prstGeom>
          <a:ln w="19050">
            <a:solidFill>
              <a:srgbClr val="667085"/>
            </a:solidFill>
            <a:prstDash val="solid"/>
            <a:tailEnd type="arrow" w="med" len="med"/>
          </a:ln>
        </p:spPr>
      </p:cxnSp>
      <p:cxnSp>
        <p:nvCxnSpPr>
          <p:cNvPr id="78" name="Straight Arrow Connector 29"/>
          <p:cNvCxnSpPr>
            <a:stCxn id="9" idx="3"/>
            <a:endCxn id="10" idx="1"/>
          </p:cNvCxnSpPr>
          <p:nvPr/>
        </p:nvCxnSpPr>
        <p:spPr>
          <a:xfrm>
            <a:off x="5762624" y="2143125"/>
            <a:ext cx="1238251" cy="0"/>
          </a:xfrm>
          <a:prstGeom prst="straightConnector1">
            <a:avLst/>
          </a:prstGeom>
          <a:ln w="19050">
            <a:solidFill>
              <a:srgbClr val="667085"/>
            </a:solidFill>
            <a:prstDash val="solid"/>
            <a:tailEnd type="arrow" w="med" len="med"/>
          </a:ln>
        </p:spPr>
      </p:cxnSp>
      <p:cxnSp>
        <p:nvCxnSpPr>
          <p:cNvPr id="79" name="Connector: Elbow 30"/>
          <p:cNvCxnSpPr>
            <a:stCxn id="10" idx="2"/>
            <a:endCxn id="7" idx="3"/>
          </p:cNvCxnSpPr>
          <p:nvPr/>
        </p:nvCxnSpPr>
        <p:spPr>
          <a:xfrm flipH="1">
            <a:off x="6953250" y="2524125"/>
            <a:ext cx="881063" cy="809625"/>
          </a:xfrm>
          <a:prstGeom prst="bentConnector5">
            <a:avLst>
              <a:gd name="adj1" fmla="val 0"/>
              <a:gd name="adj2" fmla="val 28235"/>
              <a:gd name="adj3" fmla="val 74054"/>
            </a:avLst>
          </a:prstGeom>
          <a:ln w="19050">
            <a:solidFill>
              <a:srgbClr val="B88A44"/>
            </a:solidFill>
            <a:prstDash val="solid"/>
            <a:tailEnd type="arrow" w="med" len="med"/>
          </a:ln>
        </p:spPr>
      </p:cxnSp>
      <p:cxnSp>
        <p:nvCxnSpPr>
          <p:cNvPr id="80" name="Connector: Elbow 31"/>
          <p:cNvCxnSpPr>
            <a:stCxn id="7" idx="2"/>
            <a:endCxn id="11" idx="0"/>
          </p:cNvCxnSpPr>
          <p:nvPr/>
        </p:nvCxnSpPr>
        <p:spPr>
          <a:xfrm flipH="1">
            <a:off x="4929188" y="3810000"/>
            <a:ext cx="928688" cy="95250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B88A44"/>
            </a:solidFill>
            <a:prstDash val="solid"/>
            <a:tailEnd type="arrow" w="med" len="med"/>
          </a:ln>
        </p:spPr>
      </p:cxnSp>
      <p:cxnSp>
        <p:nvCxnSpPr>
          <p:cNvPr id="81" name="Connector: Elbow 32"/>
          <p:cNvCxnSpPr>
            <a:stCxn id="11" idx="1"/>
            <a:endCxn id="8" idx="2"/>
          </p:cNvCxnSpPr>
          <p:nvPr/>
        </p:nvCxnSpPr>
        <p:spPr>
          <a:xfrm flipH="1" flipV="1">
            <a:off x="2166938" y="2524125"/>
            <a:ext cx="1928813" cy="2619375"/>
          </a:xfrm>
          <a:prstGeom prst="bentConnector2">
            <a:avLst/>
          </a:prstGeom>
          <a:ln w="19050">
            <a:solidFill>
              <a:srgbClr val="B88A44"/>
            </a:solidFill>
            <a:prstDash val="solid"/>
            <a:tailEnd type="arrow" w="med" len="med"/>
          </a:ln>
        </p:spPr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A4EE85B-3CDC-4452-A57C-5AF5682EFFDB}"/>
              </a:ext>
            </a:extLst>
          </p:cNvPr>
          <p:cNvSpPr>
            <a:spLocks noGrp="1"/>
          </p:cNvSpPr>
          <p:nvPr/>
        </p:nvSpPr>
        <p:spPr>
          <a:xfrm>
            <a:off x="8143875" y="4143375"/>
            <a:ext cx="2333625" cy="1000125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B88A44"/>
            </a:solidFill>
            <a:prstDash val="solid"/>
          </a:ln>
        </p:spPr>
        <p:txBody>
          <a:bodyPr/>
          <a:lstStyle/>
          <a:p>
            <a:pPr algn="ctr">
              <a:buNone/>
              <a:defRPr sz="1500" b="1">
                <a:solidFill>
                  <a:srgbClr val="13233A"/>
                </a:solidFill>
              </a:defRPr>
            </a:pPr>
            <a:r>
              <a:rPr sz="1500" b="1">
                <a:solidFill>
                  <a:srgbClr val="13233A"/>
                </a:solidFill>
              </a:rPr>
              <a:t>El sistema no solo genera: valida físicamente y corrige dentro del ciclo.</a:t>
            </a:r>
          </a:p>
        </p:txBody>
      </p:sp>
    </p:spTree>
    <p:extLst>
      <p:ext uri="{BB962C8B-B14F-4D97-AF65-F5344CB8AC3E}">
        <p14:creationId xmlns:p14="http://schemas.microsoft.com/office/powerpoint/2010/main" val="21412356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E1F056-6DD8-1FED-800E-2953427C6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9ADD0C35-1412-7F77-1625-81A4FECF4AD3}"/>
              </a:ext>
            </a:extLst>
          </p:cNvPr>
          <p:cNvSpPr>
            <a:spLocks noGrp="1"/>
          </p:cNvSpPr>
          <p:nvPr/>
        </p:nvSpPr>
        <p:spPr>
          <a:xfrm>
            <a:off x="11525250" y="0"/>
            <a:ext cx="666750" cy="6858000"/>
          </a:xfrm>
          <a:prstGeom prst="rect">
            <a:avLst/>
          </a:prstGeom>
          <a:solidFill>
            <a:srgbClr val="7A003C"/>
          </a:solidFill>
          <a:ln w="0">
            <a:solidFill>
              <a:srgbClr val="7A00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46995E1-C368-4B62-C3B7-1A6B4E8A8545}"/>
              </a:ext>
            </a:extLst>
          </p:cNvPr>
          <p:cNvSpPr>
            <a:spLocks noGrp="1"/>
          </p:cNvSpPr>
          <p:nvPr/>
        </p:nvSpPr>
        <p:spPr>
          <a:xfrm>
            <a:off x="438150" y="1066800"/>
            <a:ext cx="57150" cy="4953000"/>
          </a:xfrm>
          <a:prstGeom prst="rect">
            <a:avLst/>
          </a:prstGeom>
          <a:solidFill>
            <a:srgbClr val="7A003C"/>
          </a:solidFill>
          <a:ln w="0">
            <a:solidFill>
              <a:srgbClr val="7A00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E043E74-CF8B-9D4E-E7DD-3CC19B2316D4}"/>
              </a:ext>
            </a:extLst>
          </p:cNvPr>
          <p:cNvSpPr>
            <a:spLocks noGrp="1"/>
          </p:cNvSpPr>
          <p:nvPr/>
        </p:nvSpPr>
        <p:spPr>
          <a:xfrm>
            <a:off x="590550" y="1066800"/>
            <a:ext cx="28575" cy="4953000"/>
          </a:xfrm>
          <a:prstGeom prst="rect">
            <a:avLst/>
          </a:prstGeom>
          <a:solidFill>
            <a:srgbClr val="9A174D"/>
          </a:solidFill>
          <a:ln w="0">
            <a:solidFill>
              <a:srgbClr val="9A17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062317E-10B5-16A4-7EDC-C9DF8145E1B9}"/>
              </a:ext>
            </a:extLst>
          </p:cNvPr>
          <p:cNvSpPr>
            <a:spLocks noGrp="1"/>
          </p:cNvSpPr>
          <p:nvPr/>
        </p:nvSpPr>
        <p:spPr>
          <a:xfrm>
            <a:off x="857250" y="285750"/>
            <a:ext cx="723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 i="0">
                <a:solidFill>
                  <a:srgbClr val="667085"/>
                </a:solidFill>
              </a:defRPr>
            </a:pPr>
            <a:r>
              <a:rPr sz="1050" b="1" i="0">
                <a:solidFill>
                  <a:srgbClr val="667085"/>
                </a:solidFill>
              </a:rPr>
              <a:t>Instituto Politécnico Nacional · ESIME Culhuacán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DDBDF06-1166-C070-CD74-1BFB6A399904}"/>
              </a:ext>
            </a:extLst>
          </p:cNvPr>
          <p:cNvSpPr>
            <a:spLocks noGrp="1"/>
          </p:cNvSpPr>
          <p:nvPr/>
        </p:nvSpPr>
        <p:spPr>
          <a:xfrm>
            <a:off x="857250" y="590550"/>
            <a:ext cx="9144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550" b="1" i="0">
                <a:solidFill>
                  <a:srgbClr val="13233A"/>
                </a:solidFill>
              </a:defRPr>
            </a:pPr>
            <a:r>
              <a:rPr lang="es-MX" sz="2550" b="1" dirty="0">
                <a:solidFill>
                  <a:srgbClr val="13233A"/>
                </a:solidFill>
              </a:rPr>
              <a:t>Demostración</a:t>
            </a:r>
            <a:endParaRPr sz="2550" b="1" i="0" dirty="0">
              <a:solidFill>
                <a:srgbClr val="13233A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C81A39-913A-26AE-05CB-4D5178A8F230}"/>
              </a:ext>
            </a:extLst>
          </p:cNvPr>
          <p:cNvSpPr>
            <a:spLocks noGrp="1"/>
          </p:cNvSpPr>
          <p:nvPr/>
        </p:nvSpPr>
        <p:spPr>
          <a:xfrm>
            <a:off x="10572750" y="6286500"/>
            <a:ext cx="5524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0" i="0">
                <a:solidFill>
                  <a:srgbClr val="667085"/>
                </a:solidFill>
              </a:defRPr>
            </a:pPr>
            <a:r>
              <a:rPr sz="1050" b="0" i="0">
                <a:solidFill>
                  <a:srgbClr val="667085"/>
                </a:solidFill>
              </a:rPr>
              <a:t>15/17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1EB196B-8926-0DAF-4089-01B39FA27B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2558" y="1066800"/>
            <a:ext cx="7694101" cy="550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32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9336E0-41A7-730D-5261-987260448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9F2BA6E-754C-AA31-03DD-222D96228D56}"/>
              </a:ext>
            </a:extLst>
          </p:cNvPr>
          <p:cNvSpPr>
            <a:spLocks noGrp="1"/>
          </p:cNvSpPr>
          <p:nvPr/>
        </p:nvSpPr>
        <p:spPr>
          <a:xfrm>
            <a:off x="11525250" y="0"/>
            <a:ext cx="666750" cy="6858000"/>
          </a:xfrm>
          <a:prstGeom prst="rect">
            <a:avLst/>
          </a:prstGeom>
          <a:solidFill>
            <a:srgbClr val="7A003C"/>
          </a:solidFill>
          <a:ln w="0">
            <a:solidFill>
              <a:srgbClr val="7A00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48F95AB-EBE8-BDC0-94CF-157060D4A58B}"/>
              </a:ext>
            </a:extLst>
          </p:cNvPr>
          <p:cNvSpPr>
            <a:spLocks noGrp="1"/>
          </p:cNvSpPr>
          <p:nvPr/>
        </p:nvSpPr>
        <p:spPr>
          <a:xfrm>
            <a:off x="438150" y="1066800"/>
            <a:ext cx="57150" cy="4953000"/>
          </a:xfrm>
          <a:prstGeom prst="rect">
            <a:avLst/>
          </a:prstGeom>
          <a:solidFill>
            <a:srgbClr val="7A003C"/>
          </a:solidFill>
          <a:ln w="0">
            <a:solidFill>
              <a:srgbClr val="7A00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E3AF645-29AD-835C-6679-BCE4533C1B22}"/>
              </a:ext>
            </a:extLst>
          </p:cNvPr>
          <p:cNvSpPr>
            <a:spLocks noGrp="1"/>
          </p:cNvSpPr>
          <p:nvPr/>
        </p:nvSpPr>
        <p:spPr>
          <a:xfrm>
            <a:off x="590550" y="1066800"/>
            <a:ext cx="28575" cy="4953000"/>
          </a:xfrm>
          <a:prstGeom prst="rect">
            <a:avLst/>
          </a:prstGeom>
          <a:solidFill>
            <a:srgbClr val="9A174D"/>
          </a:solidFill>
          <a:ln w="0">
            <a:solidFill>
              <a:srgbClr val="9A17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A4BDB92-BBFF-6F42-E383-8DB8BA933E99}"/>
              </a:ext>
            </a:extLst>
          </p:cNvPr>
          <p:cNvSpPr>
            <a:spLocks noGrp="1"/>
          </p:cNvSpPr>
          <p:nvPr/>
        </p:nvSpPr>
        <p:spPr>
          <a:xfrm>
            <a:off x="857250" y="285750"/>
            <a:ext cx="723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 i="0">
                <a:solidFill>
                  <a:srgbClr val="667085"/>
                </a:solidFill>
              </a:defRPr>
            </a:pPr>
            <a:r>
              <a:rPr sz="1050" b="1" i="0">
                <a:solidFill>
                  <a:srgbClr val="667085"/>
                </a:solidFill>
              </a:rPr>
              <a:t>Instituto Politécnico Nacional · ESIME Culhuacán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24344BB-1ADC-A7D7-A66B-15BD75561C90}"/>
              </a:ext>
            </a:extLst>
          </p:cNvPr>
          <p:cNvSpPr>
            <a:spLocks noGrp="1"/>
          </p:cNvSpPr>
          <p:nvPr/>
        </p:nvSpPr>
        <p:spPr>
          <a:xfrm>
            <a:off x="857250" y="590550"/>
            <a:ext cx="9144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550" b="1" i="0">
                <a:solidFill>
                  <a:srgbClr val="13233A"/>
                </a:solidFill>
              </a:defRPr>
            </a:pPr>
            <a:r>
              <a:rPr lang="es-MX" sz="2550" b="1" dirty="0">
                <a:solidFill>
                  <a:srgbClr val="13233A"/>
                </a:solidFill>
              </a:rPr>
              <a:t>Demostración</a:t>
            </a:r>
            <a:endParaRPr sz="2550" b="1" i="0" dirty="0">
              <a:solidFill>
                <a:srgbClr val="13233A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C6C0736-0F68-0C55-D104-02C9E125DBFD}"/>
              </a:ext>
            </a:extLst>
          </p:cNvPr>
          <p:cNvSpPr>
            <a:spLocks noGrp="1"/>
          </p:cNvSpPr>
          <p:nvPr/>
        </p:nvSpPr>
        <p:spPr>
          <a:xfrm>
            <a:off x="10572750" y="6286500"/>
            <a:ext cx="5524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0" i="0">
                <a:solidFill>
                  <a:srgbClr val="667085"/>
                </a:solidFill>
              </a:defRPr>
            </a:pPr>
            <a:r>
              <a:rPr sz="1050" b="0" i="0">
                <a:solidFill>
                  <a:srgbClr val="667085"/>
                </a:solidFill>
              </a:rPr>
              <a:t>15/17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0205A9D-941E-A35F-2A20-2B3325F7E2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2078" y="1018663"/>
            <a:ext cx="7594344" cy="5553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965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3C8E84F-8AD6-4258-9225-D1B6BB101750}"/>
              </a:ext>
            </a:extLst>
          </p:cNvPr>
          <p:cNvSpPr>
            <a:spLocks noGrp="1"/>
          </p:cNvSpPr>
          <p:nvPr/>
        </p:nvSpPr>
        <p:spPr>
          <a:xfrm>
            <a:off x="438150" y="1066800"/>
            <a:ext cx="57150" cy="4953000"/>
          </a:xfrm>
          <a:prstGeom prst="rect">
            <a:avLst/>
          </a:prstGeom>
          <a:solidFill>
            <a:srgbClr val="7A003C"/>
          </a:solidFill>
          <a:ln w="0">
            <a:solidFill>
              <a:srgbClr val="7A00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1D611CE-9AF2-4BF1-89EE-61A26E52CE2C}"/>
              </a:ext>
            </a:extLst>
          </p:cNvPr>
          <p:cNvSpPr>
            <a:spLocks noGrp="1"/>
          </p:cNvSpPr>
          <p:nvPr/>
        </p:nvSpPr>
        <p:spPr>
          <a:xfrm>
            <a:off x="590550" y="1066800"/>
            <a:ext cx="28575" cy="4953000"/>
          </a:xfrm>
          <a:prstGeom prst="rect">
            <a:avLst/>
          </a:prstGeom>
          <a:solidFill>
            <a:srgbClr val="9A174D"/>
          </a:solidFill>
          <a:ln w="0">
            <a:solidFill>
              <a:srgbClr val="9A17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2F0854-1DFB-4855-A953-9E97E2BBD855}"/>
              </a:ext>
            </a:extLst>
          </p:cNvPr>
          <p:cNvSpPr>
            <a:spLocks noGrp="1"/>
          </p:cNvSpPr>
          <p:nvPr/>
        </p:nvSpPr>
        <p:spPr>
          <a:xfrm>
            <a:off x="857250" y="285750"/>
            <a:ext cx="723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 i="0">
                <a:solidFill>
                  <a:srgbClr val="667085"/>
                </a:solidFill>
              </a:defRPr>
            </a:pPr>
            <a:r>
              <a:rPr sz="1050" b="1" i="0">
                <a:solidFill>
                  <a:srgbClr val="667085"/>
                </a:solidFill>
              </a:rPr>
              <a:t>Instituto Politécnico Nacional · ESIME Culhuacán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E7975F-D122-46A6-84F5-E1F9DF91CE14}"/>
              </a:ext>
            </a:extLst>
          </p:cNvPr>
          <p:cNvSpPr>
            <a:spLocks noGrp="1"/>
          </p:cNvSpPr>
          <p:nvPr/>
        </p:nvSpPr>
        <p:spPr>
          <a:xfrm>
            <a:off x="857250" y="590550"/>
            <a:ext cx="9144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550" b="1" i="0">
                <a:solidFill>
                  <a:srgbClr val="13233A"/>
                </a:solidFill>
              </a:defRPr>
            </a:pPr>
            <a:r>
              <a:rPr sz="2550" b="1" i="0">
                <a:solidFill>
                  <a:srgbClr val="13233A"/>
                </a:solidFill>
              </a:rPr>
              <a:t>Referencias clave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0177144-EA5B-4640-9274-04B42DB53D0E}"/>
              </a:ext>
            </a:extLst>
          </p:cNvPr>
          <p:cNvSpPr>
            <a:spLocks noGrp="1"/>
          </p:cNvSpPr>
          <p:nvPr/>
        </p:nvSpPr>
        <p:spPr>
          <a:xfrm>
            <a:off x="10572750" y="6286500"/>
            <a:ext cx="5524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0" i="0">
                <a:solidFill>
                  <a:srgbClr val="667085"/>
                </a:solidFill>
              </a:defRPr>
            </a:pPr>
            <a:r>
              <a:rPr sz="1050" b="0" i="0">
                <a:solidFill>
                  <a:srgbClr val="667085"/>
                </a:solidFill>
              </a:rPr>
              <a:t>16/17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7E13F0-BD9C-45C9-AA6E-3D76B0C91180}"/>
              </a:ext>
            </a:extLst>
          </p:cNvPr>
          <p:cNvSpPr>
            <a:spLocks noGrp="1"/>
          </p:cNvSpPr>
          <p:nvPr/>
        </p:nvSpPr>
        <p:spPr>
          <a:xfrm>
            <a:off x="1047750" y="1219200"/>
            <a:ext cx="8096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 i="0">
                <a:solidFill>
                  <a:srgbClr val="667085"/>
                </a:solidFill>
              </a:defRPr>
            </a:pPr>
            <a:r>
              <a:rPr sz="1500" b="0" i="0">
                <a:solidFill>
                  <a:srgbClr val="667085"/>
                </a:solidFill>
              </a:rPr>
              <a:t>Fuentes usadas para sostener marco teórico, estado del arte y herramientas del sistema.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CBF7311-D59F-440A-A2E7-542521C90CA9}"/>
              </a:ext>
            </a:extLst>
          </p:cNvPr>
          <p:cNvSpPr>
            <a:spLocks noGrp="1"/>
          </p:cNvSpPr>
          <p:nvPr/>
        </p:nvSpPr>
        <p:spPr>
          <a:xfrm>
            <a:off x="1238250" y="1952625"/>
            <a:ext cx="4095750" cy="514350"/>
          </a:xfrm>
          <a:prstGeom prst="roundRect">
            <a:avLst>
              <a:gd name="adj" fmla="val 14815"/>
            </a:avLst>
          </a:prstGeom>
          <a:solidFill>
            <a:srgbClr val="7A003C"/>
          </a:solidFill>
          <a:ln w="9525">
            <a:solidFill>
              <a:srgbClr val="7A003C"/>
            </a:solidFill>
            <a:prstDash val="solid"/>
          </a:ln>
        </p:spPr>
        <p:txBody>
          <a:bodyPr/>
          <a:lstStyle/>
          <a:p>
            <a:pPr algn="ctr"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Estado del arte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EB06865-7919-48D4-AD82-E8A585DB6C4B}"/>
              </a:ext>
            </a:extLst>
          </p:cNvPr>
          <p:cNvSpPr>
            <a:spLocks noGrp="1"/>
          </p:cNvSpPr>
          <p:nvPr/>
        </p:nvSpPr>
        <p:spPr>
          <a:xfrm>
            <a:off x="1476375" y="2714625"/>
            <a:ext cx="3714750" cy="2095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0" i="0">
                <a:solidFill>
                  <a:srgbClr val="13233A"/>
                </a:solidFill>
              </a:defRPr>
            </a:pPr>
            <a:r>
              <a:rPr sz="1575" b="0" i="0">
                <a:solidFill>
                  <a:srgbClr val="13233A"/>
                </a:solidFill>
              </a:rPr>
              <a:t>• AnalogCoder (AAAI 2025)</a:t>
            </a:r>
          </a:p>
          <a:p>
            <a:pPr algn="l">
              <a:buNone/>
              <a:defRPr sz="1575" b="0" i="0">
                <a:solidFill>
                  <a:srgbClr val="13233A"/>
                </a:solidFill>
              </a:defRPr>
            </a:pPr>
            <a:r>
              <a:rPr sz="1575" b="0" i="0">
                <a:solidFill>
                  <a:srgbClr val="13233A"/>
                </a:solidFill>
              </a:rPr>
              <a:t>• AnalogAgent (arXiv 2026)</a:t>
            </a:r>
          </a:p>
          <a:p>
            <a:pPr algn="l">
              <a:buNone/>
              <a:defRPr sz="1575" b="0" i="0">
                <a:solidFill>
                  <a:srgbClr val="13233A"/>
                </a:solidFill>
              </a:defRPr>
            </a:pPr>
            <a:r>
              <a:rPr sz="1575" b="0" i="0">
                <a:solidFill>
                  <a:srgbClr val="13233A"/>
                </a:solidFill>
              </a:rPr>
              <a:t>• CircuitLM (arXiv 2026)</a:t>
            </a:r>
          </a:p>
          <a:p>
            <a:pPr algn="l">
              <a:buNone/>
              <a:defRPr sz="1575" b="0" i="0">
                <a:solidFill>
                  <a:srgbClr val="13233A"/>
                </a:solidFill>
              </a:defRPr>
            </a:pPr>
            <a:r>
              <a:rPr sz="1575" b="0" i="0">
                <a:solidFill>
                  <a:srgbClr val="13233A"/>
                </a:solidFill>
              </a:rPr>
              <a:t>• AnalogSAGE (arXiv 2025)</a:t>
            </a:r>
          </a:p>
          <a:p>
            <a:pPr algn="l">
              <a:buNone/>
              <a:defRPr sz="1575" b="0" i="0">
                <a:solidFill>
                  <a:srgbClr val="13233A"/>
                </a:solidFill>
              </a:defRPr>
            </a:pPr>
            <a:r>
              <a:rPr sz="1575" b="0" i="0">
                <a:solidFill>
                  <a:srgbClr val="13233A"/>
                </a:solidFill>
              </a:rPr>
              <a:t>• PCBSchemaGen (arXiv 2026)</a:t>
            </a:r>
          </a:p>
          <a:p>
            <a:pPr algn="l">
              <a:buNone/>
              <a:defRPr sz="1575" b="0" i="0">
                <a:solidFill>
                  <a:srgbClr val="13233A"/>
                </a:solidFill>
              </a:defRPr>
            </a:pPr>
            <a:r>
              <a:rPr sz="1575" b="0" i="0">
                <a:solidFill>
                  <a:srgbClr val="13233A"/>
                </a:solidFill>
              </a:rPr>
              <a:t>• HWE-Bench (arXiv 2026)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6FCE5B5-1529-40AE-90BE-A673F1FAEE95}"/>
              </a:ext>
            </a:extLst>
          </p:cNvPr>
          <p:cNvSpPr>
            <a:spLocks noGrp="1"/>
          </p:cNvSpPr>
          <p:nvPr/>
        </p:nvSpPr>
        <p:spPr>
          <a:xfrm>
            <a:off x="6286500" y="1952625"/>
            <a:ext cx="4095750" cy="514350"/>
          </a:xfrm>
          <a:prstGeom prst="roundRect">
            <a:avLst>
              <a:gd name="adj" fmla="val 14815"/>
            </a:avLst>
          </a:prstGeom>
          <a:solidFill>
            <a:srgbClr val="13233A"/>
          </a:solidFill>
          <a:ln w="9525">
            <a:solidFill>
              <a:srgbClr val="13233A"/>
            </a:solidFill>
            <a:prstDash val="solid"/>
          </a:ln>
        </p:spPr>
        <p:txBody>
          <a:bodyPr/>
          <a:lstStyle/>
          <a:p>
            <a:pPr algn="ctr"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Base técnica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CA66728-EBDD-4411-B67D-6C08CEE67D80}"/>
              </a:ext>
            </a:extLst>
          </p:cNvPr>
          <p:cNvSpPr>
            <a:spLocks noGrp="1"/>
          </p:cNvSpPr>
          <p:nvPr/>
        </p:nvSpPr>
        <p:spPr>
          <a:xfrm>
            <a:off x="6524625" y="2714625"/>
            <a:ext cx="3714750" cy="228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0" i="0">
                <a:solidFill>
                  <a:srgbClr val="13233A"/>
                </a:solidFill>
              </a:defRPr>
            </a:pPr>
            <a:r>
              <a:rPr sz="1575" b="0" i="0">
                <a:solidFill>
                  <a:srgbClr val="13233A"/>
                </a:solidFill>
              </a:rPr>
              <a:t>• Ngspice User's Manual</a:t>
            </a:r>
          </a:p>
          <a:p>
            <a:pPr algn="l">
              <a:buNone/>
              <a:defRPr sz="1575" b="0" i="0">
                <a:solidFill>
                  <a:srgbClr val="13233A"/>
                </a:solidFill>
              </a:defRPr>
            </a:pPr>
            <a:r>
              <a:rPr sz="1575" b="0" i="0">
                <a:solidFill>
                  <a:srgbClr val="13233A"/>
                </a:solidFill>
              </a:rPr>
              <a:t>• PySpice documentation</a:t>
            </a:r>
          </a:p>
          <a:p>
            <a:pPr algn="l">
              <a:buNone/>
              <a:defRPr sz="1575" b="0" i="0">
                <a:solidFill>
                  <a:srgbClr val="13233A"/>
                </a:solidFill>
              </a:defRPr>
            </a:pPr>
            <a:r>
              <a:rPr sz="1575" b="0" i="0">
                <a:solidFill>
                  <a:srgbClr val="13233A"/>
                </a:solidFill>
              </a:rPr>
              <a:t>• LangGraph documentation</a:t>
            </a:r>
          </a:p>
          <a:p>
            <a:pPr algn="l">
              <a:buNone/>
              <a:defRPr sz="1575" b="0" i="0">
                <a:solidFill>
                  <a:srgbClr val="13233A"/>
                </a:solidFill>
              </a:defRPr>
            </a:pPr>
            <a:r>
              <a:rPr sz="1575" b="0" i="0">
                <a:solidFill>
                  <a:srgbClr val="13233A"/>
                </a:solidFill>
              </a:rPr>
              <a:t>• Sutton &amp; Barto: Reinforcement Learning</a:t>
            </a:r>
          </a:p>
          <a:p>
            <a:pPr algn="l">
              <a:buNone/>
              <a:defRPr sz="1575" b="0" i="0">
                <a:solidFill>
                  <a:srgbClr val="13233A"/>
                </a:solidFill>
              </a:defRPr>
            </a:pPr>
            <a:r>
              <a:rPr sz="1575" b="0" i="0">
                <a:solidFill>
                  <a:srgbClr val="13233A"/>
                </a:solidFill>
              </a:rPr>
              <a:t>• SPICE: Nagel &amp; Pederson</a:t>
            </a:r>
          </a:p>
          <a:p>
            <a:pPr algn="l">
              <a:buNone/>
              <a:defRPr sz="1575" b="0" i="0">
                <a:solidFill>
                  <a:srgbClr val="13233A"/>
                </a:solidFill>
              </a:defRPr>
            </a:pPr>
            <a:r>
              <a:rPr sz="1575" b="0" i="0">
                <a:solidFill>
                  <a:srgbClr val="13233A"/>
                </a:solidFill>
              </a:rPr>
              <a:t>• Sedra &amp; Smith: Microelectronic Circuits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067A6D7-8F0B-4A00-9FF5-35322B654032}"/>
              </a:ext>
            </a:extLst>
          </p:cNvPr>
          <p:cNvSpPr>
            <a:spLocks noGrp="1"/>
          </p:cNvSpPr>
          <p:nvPr/>
        </p:nvSpPr>
        <p:spPr>
          <a:xfrm>
            <a:off x="1619250" y="5619750"/>
            <a:ext cx="7810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0" i="0">
                <a:solidFill>
                  <a:srgbClr val="667085"/>
                </a:solidFill>
              </a:defRPr>
            </a:pPr>
            <a:r>
              <a:rPr sz="1350" b="0" i="0">
                <a:solidFill>
                  <a:srgbClr val="667085"/>
                </a:solidFill>
              </a:rPr>
              <a:t>La bibliografía completa permanece en la tesina; aquí se muestran solo las referencias necesarias para la exposición.</a:t>
            </a:r>
          </a:p>
        </p:txBody>
      </p:sp>
    </p:spTree>
    <p:extLst>
      <p:ext uri="{BB962C8B-B14F-4D97-AF65-F5344CB8AC3E}">
        <p14:creationId xmlns:p14="http://schemas.microsoft.com/office/powerpoint/2010/main" val="20638630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8DB6470-E9BA-460C-9C9D-A4D1661DD7A5}"/>
              </a:ext>
            </a:extLst>
          </p:cNvPr>
          <p:cNvSpPr>
            <a:spLocks noGrp="1"/>
          </p:cNvSpPr>
          <p:nvPr/>
        </p:nvSpPr>
        <p:spPr>
          <a:xfrm>
            <a:off x="11525250" y="0"/>
            <a:ext cx="666750" cy="6858000"/>
          </a:xfrm>
          <a:prstGeom prst="rect">
            <a:avLst/>
          </a:prstGeom>
          <a:solidFill>
            <a:srgbClr val="7A003C"/>
          </a:solidFill>
          <a:ln w="0">
            <a:solidFill>
              <a:srgbClr val="7A00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71DE44-B922-4ECD-9AD5-8E805D55A96B}"/>
              </a:ext>
            </a:extLst>
          </p:cNvPr>
          <p:cNvSpPr>
            <a:spLocks noGrp="1"/>
          </p:cNvSpPr>
          <p:nvPr/>
        </p:nvSpPr>
        <p:spPr>
          <a:xfrm>
            <a:off x="438150" y="1066800"/>
            <a:ext cx="57150" cy="4953000"/>
          </a:xfrm>
          <a:prstGeom prst="rect">
            <a:avLst/>
          </a:prstGeom>
          <a:solidFill>
            <a:srgbClr val="7A003C"/>
          </a:solidFill>
          <a:ln w="0">
            <a:solidFill>
              <a:srgbClr val="7A00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8D32301-F73A-480E-93D5-CA8159A8795D}"/>
              </a:ext>
            </a:extLst>
          </p:cNvPr>
          <p:cNvSpPr>
            <a:spLocks noGrp="1"/>
          </p:cNvSpPr>
          <p:nvPr/>
        </p:nvSpPr>
        <p:spPr>
          <a:xfrm>
            <a:off x="590550" y="1066800"/>
            <a:ext cx="28575" cy="4953000"/>
          </a:xfrm>
          <a:prstGeom prst="rect">
            <a:avLst/>
          </a:prstGeom>
          <a:solidFill>
            <a:srgbClr val="9A174D"/>
          </a:solidFill>
          <a:ln w="0">
            <a:solidFill>
              <a:srgbClr val="9A17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F2133D2-AA70-455B-A38B-D2B138F53821}"/>
              </a:ext>
            </a:extLst>
          </p:cNvPr>
          <p:cNvSpPr>
            <a:spLocks noGrp="1"/>
          </p:cNvSpPr>
          <p:nvPr/>
        </p:nvSpPr>
        <p:spPr>
          <a:xfrm>
            <a:off x="857250" y="285750"/>
            <a:ext cx="723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 i="0">
                <a:solidFill>
                  <a:srgbClr val="667085"/>
                </a:solidFill>
              </a:defRPr>
            </a:pPr>
            <a:r>
              <a:rPr sz="1050" b="1" i="0">
                <a:solidFill>
                  <a:srgbClr val="667085"/>
                </a:solidFill>
              </a:rPr>
              <a:t>Instituto Politécnico Nacional · ESIME Culhuacán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38FABB-7CE3-4E2C-93AD-48F118AD051D}"/>
              </a:ext>
            </a:extLst>
          </p:cNvPr>
          <p:cNvSpPr>
            <a:spLocks noGrp="1"/>
          </p:cNvSpPr>
          <p:nvPr/>
        </p:nvSpPr>
        <p:spPr>
          <a:xfrm>
            <a:off x="10572750" y="6286500"/>
            <a:ext cx="5524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0" i="0">
                <a:solidFill>
                  <a:srgbClr val="667085"/>
                </a:solidFill>
              </a:defRPr>
            </a:pPr>
            <a:r>
              <a:rPr sz="1050" b="0" i="0">
                <a:solidFill>
                  <a:srgbClr val="667085"/>
                </a:solidFill>
              </a:rPr>
              <a:t>17/17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87C7ED1-822F-4648-AA67-26FCB60E1444}"/>
              </a:ext>
            </a:extLst>
          </p:cNvPr>
          <p:cNvSpPr>
            <a:spLocks noGrp="1"/>
          </p:cNvSpPr>
          <p:nvPr/>
        </p:nvSpPr>
        <p:spPr>
          <a:xfrm>
            <a:off x="3844924" y="5486400"/>
            <a:ext cx="3673475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250" b="1" i="0">
                <a:solidFill>
                  <a:srgbClr val="7A003C"/>
                </a:solidFill>
              </a:defRPr>
            </a:pPr>
            <a:r>
              <a:rPr sz="2250" b="1" i="0" dirty="0">
                <a:solidFill>
                  <a:srgbClr val="7A003C"/>
                </a:solidFill>
              </a:rPr>
              <a:t>Gracias</a:t>
            </a:r>
          </a:p>
        </p:txBody>
      </p:sp>
      <p:pic>
        <p:nvPicPr>
          <p:cNvPr id="13" name="Picture 12" descr="Instalaciones de la ESIME Unidad Culhuacan | IPN Oficial">
            <a:extLst>
              <a:ext uri="{FF2B5EF4-FFF2-40B4-BE49-F238E27FC236}">
                <a16:creationId xmlns:a16="http://schemas.microsoft.com/office/drawing/2014/main" id="{4881D7F1-6791-AED5-6530-2CAAEDE9A3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793" y="1375504"/>
            <a:ext cx="9148764" cy="4113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51507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</TotalTime>
  <Words>891</Words>
  <Application>Microsoft Office PowerPoint</Application>
  <DocSecurity>0</DocSecurity>
  <PresentationFormat>Widescreen</PresentationFormat>
  <Paragraphs>206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1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Antonio De Jesus Torres Martinez</cp:lastModifiedBy>
  <cp:revision>8</cp:revision>
  <dcterms:created xsi:type="dcterms:W3CDTF">2026-06-28T01:45:28Z</dcterms:created>
  <dcterms:modified xsi:type="dcterms:W3CDTF">2026-07-15T20:27:07Z</dcterms:modified>
</cp:coreProperties>
</file>