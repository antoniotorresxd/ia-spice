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62B631-CA26-4ACE-B604-3DB81EDA2840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1FD73D-AC85-416C-9B26-4FCFB847E01D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66675" cy="4333875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589C2A-30EF-4B2F-B119-CE9A7BFAE89F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38100" cy="4333875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501079"/>
            <a:ext cx="952500" cy="67424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810750" y="333876"/>
            <a:ext cx="1095375" cy="98007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EE7DA14-3E8E-44A6-AADC-CC818CEEC804}"/>
              </a:ext>
            </a:extLst>
          </p:cNvPr>
          <p:cNvSpPr>
            <a:spLocks noGrp="1"/>
          </p:cNvSpPr>
          <p:nvPr/>
        </p:nvSpPr>
        <p:spPr>
          <a:xfrm>
            <a:off x="1952625" y="361950"/>
            <a:ext cx="7429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13233A"/>
                </a:solidFill>
              </a:defRPr>
            </a:pPr>
            <a:r>
              <a:rPr sz="1875" b="1" i="0">
                <a:solidFill>
                  <a:srgbClr val="13233A"/>
                </a:solidFill>
              </a:rPr>
              <a:t>INSTITUTO POLITÉCNICO NACIONAL</a:t>
            </a:r>
          </a:p>
          <a:p>
            <a:pPr algn="ctr">
              <a:defRPr sz="1875" b="1" i="0">
                <a:solidFill>
                  <a:srgbClr val="13233A"/>
                </a:solidFill>
              </a:defRPr>
            </a:pPr>
            <a:r>
              <a:rPr sz="1875" b="1" i="0">
                <a:solidFill>
                  <a:srgbClr val="13233A"/>
                </a:solidFill>
              </a:rPr>
              <a:t>ESCUELA SUPERIOR DE INGENIERÍA MECÁNICA Y ELÉCTRICA</a:t>
            </a:r>
          </a:p>
          <a:p>
            <a:pPr algn="ctr">
              <a:defRPr sz="1875" b="1" i="0">
                <a:solidFill>
                  <a:srgbClr val="13233A"/>
                </a:solidFill>
              </a:defRPr>
            </a:pPr>
            <a:r>
              <a:rPr sz="1875" b="1" i="0">
                <a:solidFill>
                  <a:srgbClr val="13233A"/>
                </a:solidFill>
              </a:rPr>
              <a:t>UNIDAD CULHUACÁN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7A482E-76DB-4606-981D-37322B464C70}"/>
              </a:ext>
            </a:extLst>
          </p:cNvPr>
          <p:cNvSpPr>
            <a:spLocks noGrp="1"/>
          </p:cNvSpPr>
          <p:nvPr/>
        </p:nvSpPr>
        <p:spPr>
          <a:xfrm>
            <a:off x="2000250" y="173355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7A003C"/>
                </a:solidFill>
              </a:defRPr>
            </a:pPr>
            <a:r>
              <a:rPr sz="1875" b="1" i="0">
                <a:solidFill>
                  <a:srgbClr val="7A003C"/>
                </a:solidFill>
              </a:rPr>
              <a:t>TESINA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7A5500-8A10-438E-9B2D-CF2577A39CEC}"/>
              </a:ext>
            </a:extLst>
          </p:cNvPr>
          <p:cNvSpPr>
            <a:spLocks noGrp="1"/>
          </p:cNvSpPr>
          <p:nvPr/>
        </p:nvSpPr>
        <p:spPr>
          <a:xfrm>
            <a:off x="2000250" y="2190750"/>
            <a:ext cx="7620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13233A"/>
                </a:solidFill>
              </a:defRPr>
            </a:pPr>
            <a:r>
              <a:rPr sz="2250" b="1" i="0">
                <a:solidFill>
                  <a:srgbClr val="13233A"/>
                </a:solidFill>
              </a:rPr>
              <a:t>Ecosistema multiagente basado en LLM y aprendizaje por refuerzo para la generación y validación de circuitos analógicos CA/CD a partir de lenguaje natural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2CA780-EBB8-4034-96B7-FA3F2D5203FD}"/>
              </a:ext>
            </a:extLst>
          </p:cNvPr>
          <p:cNvSpPr>
            <a:spLocks noGrp="1"/>
          </p:cNvSpPr>
          <p:nvPr/>
        </p:nvSpPr>
        <p:spPr>
          <a:xfrm>
            <a:off x="2000250" y="357187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Para obtener el título de Ingeniero en Computación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E35FC5-A66A-4ADD-9E47-B1CC6938A81A}"/>
              </a:ext>
            </a:extLst>
          </p:cNvPr>
          <p:cNvSpPr>
            <a:spLocks noGrp="1"/>
          </p:cNvSpPr>
          <p:nvPr/>
        </p:nvSpPr>
        <p:spPr>
          <a:xfrm>
            <a:off x="2000250" y="4095750"/>
            <a:ext cx="495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13233A"/>
                </a:solidFill>
              </a:defRPr>
            </a:pPr>
            <a:r>
              <a:rPr sz="1575" b="1" i="0">
                <a:solidFill>
                  <a:srgbClr val="13233A"/>
                </a:solidFill>
              </a:rPr>
              <a:t>Antonio de Jesus Torres Martínez</a:t>
            </a:r>
          </a:p>
          <a:p>
            <a:pPr algn="l">
              <a:defRPr sz="1575" b="1" i="0">
                <a:solidFill>
                  <a:srgbClr val="13233A"/>
                </a:solidFill>
              </a:defRPr>
            </a:pPr>
            <a:r>
              <a:rPr sz="1575" b="1" i="0">
                <a:solidFill>
                  <a:srgbClr val="13233A"/>
                </a:solidFill>
              </a:rPr>
              <a:t>Diego Jesus Gutierrez Delgado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9A83DD-4FF0-4F89-8C07-95957620F288}"/>
              </a:ext>
            </a:extLst>
          </p:cNvPr>
          <p:cNvSpPr>
            <a:spLocks noGrp="1"/>
          </p:cNvSpPr>
          <p:nvPr/>
        </p:nvSpPr>
        <p:spPr>
          <a:xfrm>
            <a:off x="2000250" y="5191125"/>
            <a:ext cx="590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Asesor: Ricardo Israel Calzada Salas</a:t>
            </a:r>
          </a:p>
          <a:p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Ciudad de México · junio 2026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DA9AA1-0225-4539-B586-A34D4DDD01D1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1/14</a:t>
            </a:r>
          </a:p>
        </p:txBody>
      </p:sp>
    </p:spTree>
    <p:extLst>
      <p:ext uri="{BB962C8B-B14F-4D97-AF65-F5344CB8AC3E}">
        <p14:creationId xmlns:p14="http://schemas.microsoft.com/office/powerpoint/2010/main" val="624776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0406F0D-4761-49B2-BA1D-968E931F4276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30A058-F9DE-4350-957E-916D627C8B47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5C298E-C5E8-4B97-9323-03A5EFD2AF32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CF7750-B1EF-4C08-A460-78CF196773F3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11D02C-F9AB-45AA-9693-0921B61E5A1E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Ruta de la exposición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621E5E-C38A-405D-B87B-FBA06A038B20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2/14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C914D01-C2B8-4F46-85E7-A9EF651D7C9F}"/>
              </a:ext>
            </a:extLst>
          </p:cNvPr>
          <p:cNvSpPr>
            <a:spLocks noGrp="1"/>
          </p:cNvSpPr>
          <p:nvPr/>
        </p:nvSpPr>
        <p:spPr>
          <a:xfrm>
            <a:off x="1123950" y="2667000"/>
            <a:ext cx="1381125" cy="1000125"/>
          </a:xfrm>
          <a:prstGeom prst="roundRect">
            <a:avLst>
              <a:gd name="adj" fmla="val 7619"/>
            </a:avLst>
          </a:prstGeom>
          <a:solidFill>
            <a:srgbClr val="7A003C"/>
          </a:solidFill>
          <a:ln w="9525">
            <a:solidFill>
              <a:srgbClr val="7A003C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Problema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8BBD87-99F3-4EBE-88A6-9D2698B2F9E9}"/>
              </a:ext>
            </a:extLst>
          </p:cNvPr>
          <p:cNvSpPr>
            <a:spLocks noGrp="1"/>
          </p:cNvSpPr>
          <p:nvPr/>
        </p:nvSpPr>
        <p:spPr>
          <a:xfrm>
            <a:off x="3076575" y="2667000"/>
            <a:ext cx="138112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2</a:t>
            </a:r>
          </a:p>
          <a:p>
            <a:pPr algn="ctr"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Brecha</a:t>
            </a:r>
          </a:p>
        </p:txBody>
      </p:sp>
      <p:cxnSp>
        <p:nvCxnSpPr>
          <p:cNvPr id="25" name="Straight Arrow Connector 24"/>
          <p:cNvCxnSpPr>
            <a:stCxn id="7" idx="3"/>
            <a:endCxn id="8" idx="1"/>
          </p:cNvCxnSpPr>
          <p:nvPr/>
        </p:nvCxnSpPr>
        <p:spPr>
          <a:xfrm>
            <a:off x="2505075" y="3167063"/>
            <a:ext cx="571500" cy="0"/>
          </a:xfrm>
          <a:prstGeom prst="straightConnector1">
            <a:avLst/>
          </a:prstGeom>
          <a:ln w="19050">
            <a:solidFill>
              <a:srgbClr val="B88A44"/>
            </a:solidFill>
            <a:prstDash val="solid"/>
            <a:tailEnd type="arrow" w="med" len="med"/>
          </a:ln>
        </p:spPr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3614462-8D3F-4F69-ACCF-353E13E825D4}"/>
              </a:ext>
            </a:extLst>
          </p:cNvPr>
          <p:cNvSpPr>
            <a:spLocks noGrp="1"/>
          </p:cNvSpPr>
          <p:nvPr/>
        </p:nvSpPr>
        <p:spPr>
          <a:xfrm>
            <a:off x="5029200" y="2667000"/>
            <a:ext cx="138112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3</a:t>
            </a:r>
          </a:p>
          <a:p>
            <a:pPr algn="ctr"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Solución</a:t>
            </a:r>
          </a:p>
        </p:txBody>
      </p:sp>
      <p:cxnSp>
        <p:nvCxnSpPr>
          <p:cNvPr id="27" name="Straight Arrow Connector 26"/>
          <p:cNvCxnSpPr>
            <a:stCxn id="8" idx="3"/>
            <a:endCxn id="10" idx="1"/>
          </p:cNvCxnSpPr>
          <p:nvPr/>
        </p:nvCxnSpPr>
        <p:spPr>
          <a:xfrm>
            <a:off x="4457700" y="3167063"/>
            <a:ext cx="571500" cy="0"/>
          </a:xfrm>
          <a:prstGeom prst="straightConnector1">
            <a:avLst/>
          </a:prstGeom>
          <a:ln w="19050">
            <a:solidFill>
              <a:srgbClr val="B88A44"/>
            </a:solidFill>
            <a:prstDash val="solid"/>
            <a:tailEnd type="arrow" w="med" len="med"/>
          </a:ln>
        </p:spPr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4B96A3A-3F9B-4A4B-BC64-FBBC08A62FFB}"/>
              </a:ext>
            </a:extLst>
          </p:cNvPr>
          <p:cNvSpPr>
            <a:spLocks noGrp="1"/>
          </p:cNvSpPr>
          <p:nvPr/>
        </p:nvSpPr>
        <p:spPr>
          <a:xfrm>
            <a:off x="6981825" y="2667000"/>
            <a:ext cx="138112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4</a:t>
            </a:r>
          </a:p>
          <a:p>
            <a:pPr algn="ctr"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Construcción</a:t>
            </a:r>
          </a:p>
        </p:txBody>
      </p:sp>
      <p:cxnSp>
        <p:nvCxnSpPr>
          <p:cNvPr id="29" name="Straight Arrow Connector 28"/>
          <p:cNvCxnSpPr>
            <a:stCxn id="10" idx="3"/>
            <a:endCxn id="12" idx="1"/>
          </p:cNvCxnSpPr>
          <p:nvPr/>
        </p:nvCxnSpPr>
        <p:spPr>
          <a:xfrm>
            <a:off x="6410325" y="3167063"/>
            <a:ext cx="571500" cy="0"/>
          </a:xfrm>
          <a:prstGeom prst="straightConnector1">
            <a:avLst/>
          </a:prstGeom>
          <a:ln w="19050">
            <a:solidFill>
              <a:srgbClr val="B88A44"/>
            </a:solidFill>
            <a:prstDash val="solid"/>
            <a:tailEnd type="arrow" w="med" len="med"/>
          </a:ln>
        </p:spPr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94DCDE9-A510-4D2F-8F68-171ADA518F42}"/>
              </a:ext>
            </a:extLst>
          </p:cNvPr>
          <p:cNvSpPr>
            <a:spLocks noGrp="1"/>
          </p:cNvSpPr>
          <p:nvPr/>
        </p:nvSpPr>
        <p:spPr>
          <a:xfrm>
            <a:off x="8934450" y="2667000"/>
            <a:ext cx="138112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5</a:t>
            </a:r>
          </a:p>
          <a:p>
            <a:pPr algn="ctr"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Flujo final</a:t>
            </a:r>
          </a:p>
        </p:txBody>
      </p:sp>
      <p:cxnSp>
        <p:nvCxnSpPr>
          <p:cNvPr id="31" name="Straight Arrow Connector 30"/>
          <p:cNvCxnSpPr>
            <a:stCxn id="12" idx="3"/>
            <a:endCxn id="14" idx="1"/>
          </p:cNvCxnSpPr>
          <p:nvPr/>
        </p:nvCxnSpPr>
        <p:spPr>
          <a:xfrm>
            <a:off x="8362950" y="3167063"/>
            <a:ext cx="571500" cy="0"/>
          </a:xfrm>
          <a:prstGeom prst="straightConnector1">
            <a:avLst/>
          </a:prstGeom>
          <a:ln w="19050">
            <a:solidFill>
              <a:srgbClr val="B88A44"/>
            </a:solidFill>
            <a:prstDash val="solid"/>
            <a:tailEnd type="arrow" w="med" len="med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1760469-1767-4635-89AD-1024429C40A6}"/>
              </a:ext>
            </a:extLst>
          </p:cNvPr>
          <p:cNvSpPr>
            <a:spLocks noGrp="1"/>
          </p:cNvSpPr>
          <p:nvPr/>
        </p:nvSpPr>
        <p:spPr>
          <a:xfrm>
            <a:off x="1381125" y="40957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 i="0">
                <a:solidFill>
                  <a:srgbClr val="667085"/>
                </a:solidFill>
              </a:defRPr>
            </a:pPr>
            <a:r>
              <a:rPr sz="1800" b="0" i="0">
                <a:solidFill>
                  <a:srgbClr val="667085"/>
                </a:solidFill>
              </a:rPr>
              <a:t>Cinco pasos para explicar cómo se pasa de una descripción en lenguaje natural a un netlist validado.</a:t>
            </a:r>
          </a:p>
        </p:txBody>
      </p:sp>
    </p:spTree>
    <p:extLst>
      <p:ext uri="{BB962C8B-B14F-4D97-AF65-F5344CB8AC3E}">
        <p14:creationId xmlns:p14="http://schemas.microsoft.com/office/powerpoint/2010/main" val="642275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E2F201D-88C2-4D8A-A566-0FD152FD98DB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C8E84F-8AD6-4258-9225-D1B6BB101750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D611CE-9AF2-4BF1-89EE-61A26E52CE2C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2F0854-1DFB-4855-A953-9E97E2BBD855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E7975F-D122-46A6-84F5-E1F9DF91CE14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Problema técnico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177144-EA5B-4640-9274-04B42DB53D0E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3/14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4DE3C2-3D09-4948-BFE5-77D1B5692C86}"/>
              </a:ext>
            </a:extLst>
          </p:cNvPr>
          <p:cNvSpPr>
            <a:spLocks noGrp="1"/>
          </p:cNvSpPr>
          <p:nvPr/>
        </p:nvSpPr>
        <p:spPr>
          <a:xfrm>
            <a:off x="1047750" y="1381125"/>
            <a:ext cx="8953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3233A"/>
                </a:solidFill>
              </a:defRPr>
            </a:pPr>
            <a:r>
              <a:rPr sz="1875" b="1" i="0">
                <a:solidFill>
                  <a:srgbClr val="13233A"/>
                </a:solidFill>
              </a:rPr>
              <a:t>El diseño analógico requiere iteración, simulación y ajuste; un LLM puede proponer circuitos, pero no garantiza que funcionen físicamente.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9EDF983-E099-42BA-A74F-8ECF6C612C77}"/>
              </a:ext>
            </a:extLst>
          </p:cNvPr>
          <p:cNvSpPr>
            <a:spLocks noGrp="1"/>
          </p:cNvSpPr>
          <p:nvPr/>
        </p:nvSpPr>
        <p:spPr>
          <a:xfrm>
            <a:off x="1000125" y="2952750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3233A"/>
                </a:solidFill>
              </a:defRPr>
            </a:pPr>
            <a:r>
              <a:rPr sz="1350" b="0">
                <a:solidFill>
                  <a:srgbClr val="13233A"/>
                </a:solidFill>
              </a:rPr>
              <a:t>Especificación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04C423E-FAAD-44BD-B4B4-DFD256FFDE3A}"/>
              </a:ext>
            </a:extLst>
          </p:cNvPr>
          <p:cNvSpPr>
            <a:spLocks noGrp="1"/>
          </p:cNvSpPr>
          <p:nvPr/>
        </p:nvSpPr>
        <p:spPr>
          <a:xfrm>
            <a:off x="2905125" y="2952750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EFE8DD"/>
          </a:solidFill>
          <a:ln w="9525">
            <a:solidFill>
              <a:srgbClr val="B88A44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3233A"/>
                </a:solidFill>
              </a:defRPr>
            </a:pPr>
            <a:r>
              <a:rPr sz="1350" b="1">
                <a:solidFill>
                  <a:srgbClr val="13233A"/>
                </a:solidFill>
              </a:rPr>
              <a:t>Propuesta</a:t>
            </a:r>
          </a:p>
        </p:txBody>
      </p:sp>
      <p:cxnSp>
        <p:nvCxnSpPr>
          <p:cNvPr id="27" name="Straight Arrow Connector 26"/>
          <p:cNvCxnSpPr>
            <a:stCxn id="8" idx="3"/>
            <a:endCxn id="9" idx="1"/>
          </p:cNvCxnSpPr>
          <p:nvPr/>
        </p:nvCxnSpPr>
        <p:spPr>
          <a:xfrm>
            <a:off x="2428875" y="3286125"/>
            <a:ext cx="476250" cy="0"/>
          </a:xfrm>
          <a:prstGeom prst="straightConnector1">
            <a:avLst/>
          </a:prstGeom>
          <a:ln w="19050">
            <a:solidFill>
              <a:srgbClr val="B88A44"/>
            </a:solidFill>
            <a:prstDash val="solid"/>
            <a:tailEnd type="arrow" w="med" len="med"/>
          </a:ln>
        </p:spPr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82B38BF-AA91-4383-916F-449F8AA80A15}"/>
              </a:ext>
            </a:extLst>
          </p:cNvPr>
          <p:cNvSpPr>
            <a:spLocks noGrp="1"/>
          </p:cNvSpPr>
          <p:nvPr/>
        </p:nvSpPr>
        <p:spPr>
          <a:xfrm>
            <a:off x="4810125" y="2952750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3233A"/>
                </a:solidFill>
              </a:defRPr>
            </a:pPr>
            <a:r>
              <a:rPr sz="1350" b="0">
                <a:solidFill>
                  <a:srgbClr val="13233A"/>
                </a:solidFill>
              </a:rPr>
              <a:t>Simulación</a:t>
            </a:r>
          </a:p>
        </p:txBody>
      </p:sp>
      <p:cxnSp>
        <p:nvCxnSpPr>
          <p:cNvPr id="29" name="Straight Arrow Connector 28"/>
          <p:cNvCxnSpPr>
            <a:stCxn id="9" idx="3"/>
            <a:endCxn id="11" idx="1"/>
          </p:cNvCxnSpPr>
          <p:nvPr/>
        </p:nvCxnSpPr>
        <p:spPr>
          <a:xfrm>
            <a:off x="4333875" y="3286125"/>
            <a:ext cx="476250" cy="0"/>
          </a:xfrm>
          <a:prstGeom prst="straightConnector1">
            <a:avLst/>
          </a:prstGeom>
          <a:ln w="19050">
            <a:solidFill>
              <a:srgbClr val="667085"/>
            </a:solidFill>
            <a:prstDash val="solid"/>
            <a:tailEnd type="arrow" w="med" len="med"/>
          </a:ln>
        </p:spPr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C438433-E05A-4ECB-AF5B-F142551068B5}"/>
              </a:ext>
            </a:extLst>
          </p:cNvPr>
          <p:cNvSpPr>
            <a:spLocks noGrp="1"/>
          </p:cNvSpPr>
          <p:nvPr/>
        </p:nvSpPr>
        <p:spPr>
          <a:xfrm>
            <a:off x="6715125" y="2952750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3233A"/>
                </a:solidFill>
              </a:defRPr>
            </a:pPr>
            <a:r>
              <a:rPr sz="1350" b="0">
                <a:solidFill>
                  <a:srgbClr val="13233A"/>
                </a:solidFill>
              </a:rPr>
              <a:t>Ajuste</a:t>
            </a:r>
          </a:p>
        </p:txBody>
      </p:sp>
      <p:cxnSp>
        <p:nvCxnSpPr>
          <p:cNvPr id="31" name="Straight Arrow Connector 30"/>
          <p:cNvCxnSpPr>
            <a:stCxn id="11" idx="3"/>
            <a:endCxn id="13" idx="1"/>
          </p:cNvCxnSpPr>
          <p:nvPr/>
        </p:nvCxnSpPr>
        <p:spPr>
          <a:xfrm>
            <a:off x="6238875" y="3286125"/>
            <a:ext cx="476250" cy="0"/>
          </a:xfrm>
          <a:prstGeom prst="straightConnector1">
            <a:avLst/>
          </a:prstGeom>
          <a:ln w="19050">
            <a:solidFill>
              <a:srgbClr val="667085"/>
            </a:solidFill>
            <a:prstDash val="solid"/>
            <a:tailEnd type="arrow" w="med" len="med"/>
          </a:ln>
        </p:spPr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23E1357-73EE-4CF0-B21C-9D8682FB4E3C}"/>
              </a:ext>
            </a:extLst>
          </p:cNvPr>
          <p:cNvSpPr>
            <a:spLocks noGrp="1"/>
          </p:cNvSpPr>
          <p:nvPr/>
        </p:nvSpPr>
        <p:spPr>
          <a:xfrm>
            <a:off x="8620125" y="2952750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3233A"/>
                </a:solidFill>
              </a:defRPr>
            </a:pPr>
            <a:r>
              <a:rPr sz="1350" b="0">
                <a:solidFill>
                  <a:srgbClr val="13233A"/>
                </a:solidFill>
              </a:rPr>
              <a:t>Nueva propuesta</a:t>
            </a:r>
          </a:p>
        </p:txBody>
      </p:sp>
      <p:cxnSp>
        <p:nvCxnSpPr>
          <p:cNvPr id="33" name="Straight Arrow Connector 32"/>
          <p:cNvCxnSpPr>
            <a:stCxn id="13" idx="3"/>
            <a:endCxn id="15" idx="1"/>
          </p:cNvCxnSpPr>
          <p:nvPr/>
        </p:nvCxnSpPr>
        <p:spPr>
          <a:xfrm>
            <a:off x="8143875" y="3286125"/>
            <a:ext cx="476250" cy="0"/>
          </a:xfrm>
          <a:prstGeom prst="straightConnector1">
            <a:avLst/>
          </a:prstGeom>
          <a:ln w="19050">
            <a:solidFill>
              <a:srgbClr val="667085"/>
            </a:solidFill>
            <a:prstDash val="solid"/>
            <a:tailEnd type="arrow" w="med" len="med"/>
          </a:ln>
        </p:spPr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5360D69-F96A-4E8E-BC37-98BF48BF2CC1}"/>
              </a:ext>
            </a:extLst>
          </p:cNvPr>
          <p:cNvSpPr>
            <a:spLocks noGrp="1"/>
          </p:cNvSpPr>
          <p:nvPr/>
        </p:nvSpPr>
        <p:spPr>
          <a:xfrm>
            <a:off x="3238500" y="4238625"/>
            <a:ext cx="4095750" cy="552450"/>
          </a:xfrm>
          <a:prstGeom prst="roundRect">
            <a:avLst>
              <a:gd name="adj" fmla="val 13793"/>
            </a:avLst>
          </a:prstGeom>
          <a:solidFill>
            <a:srgbClr val="7A003C"/>
          </a:solidFill>
          <a:ln w="9525">
            <a:solidFill>
              <a:srgbClr val="7A003C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Punto débil: sin verificación física automática</a:t>
            </a:r>
          </a:p>
        </p:txBody>
      </p:sp>
    </p:spTree>
    <p:extLst>
      <p:ext uri="{BB962C8B-B14F-4D97-AF65-F5344CB8AC3E}">
        <p14:creationId xmlns:p14="http://schemas.microsoft.com/office/powerpoint/2010/main" val="2063863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DA5973-0E6E-4E0D-9C8A-C147CA494582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217305-4F2A-4CCC-BD7F-F49FFA871565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480A8D-A003-477B-B006-FF44A6572644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89B417-0EF0-4461-A891-641E904083A9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D1CE70-D183-4B6E-9343-5DD70D235E43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Brecha detectada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BDEB2E-C166-48E4-8C2E-DEC1B5817937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4/14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5375" y="1405334"/>
            <a:ext cx="7239000" cy="4237831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EAC987A-3717-46B0-A65C-40755EC48466}"/>
              </a:ext>
            </a:extLst>
          </p:cNvPr>
          <p:cNvSpPr>
            <a:spLocks noGrp="1"/>
          </p:cNvSpPr>
          <p:nvPr/>
        </p:nvSpPr>
        <p:spPr>
          <a:xfrm>
            <a:off x="8572500" y="2000250"/>
            <a:ext cx="2333625" cy="1676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B88A44"/>
            </a:solidFill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3233A"/>
                </a:solidFill>
              </a:defRPr>
            </a:pPr>
            <a:r>
              <a:rPr sz="1650" b="1" dirty="0">
                <a:solidFill>
                  <a:srgbClr val="13233A"/>
                </a:solidFill>
              </a:rPr>
              <a:t>Este </a:t>
            </a:r>
            <a:r>
              <a:rPr sz="1650" b="1" dirty="0" err="1">
                <a:solidFill>
                  <a:srgbClr val="13233A"/>
                </a:solidFill>
              </a:rPr>
              <a:t>proyecto</a:t>
            </a:r>
            <a:r>
              <a:rPr sz="1650" b="1" dirty="0">
                <a:solidFill>
                  <a:srgbClr val="13233A"/>
                </a:solidFill>
              </a:rPr>
              <a:t> </a:t>
            </a:r>
            <a:r>
              <a:rPr sz="1650" b="1" dirty="0" err="1">
                <a:solidFill>
                  <a:srgbClr val="13233A"/>
                </a:solidFill>
              </a:rPr>
              <a:t>busca</a:t>
            </a:r>
            <a:r>
              <a:rPr sz="1650" b="1" dirty="0">
                <a:solidFill>
                  <a:srgbClr val="13233A"/>
                </a:solidFill>
              </a:rPr>
              <a:t> </a:t>
            </a:r>
            <a:r>
              <a:rPr sz="1650" b="1" dirty="0" err="1">
                <a:solidFill>
                  <a:srgbClr val="13233A"/>
                </a:solidFill>
              </a:rPr>
              <a:t>el</a:t>
            </a:r>
            <a:r>
              <a:rPr sz="1650" b="1" dirty="0">
                <a:solidFill>
                  <a:srgbClr val="13233A"/>
                </a:solidFill>
              </a:rPr>
              <a:t> </a:t>
            </a:r>
            <a:r>
              <a:rPr sz="1650" b="1" dirty="0" err="1">
                <a:solidFill>
                  <a:srgbClr val="13233A"/>
                </a:solidFill>
              </a:rPr>
              <a:t>cruce</a:t>
            </a:r>
            <a:r>
              <a:rPr sz="1650" b="1" dirty="0">
                <a:solidFill>
                  <a:srgbClr val="13233A"/>
                </a:solidFill>
              </a:rPr>
              <a:t> entre </a:t>
            </a:r>
            <a:r>
              <a:rPr sz="1650" b="1" dirty="0" err="1">
                <a:solidFill>
                  <a:srgbClr val="13233A"/>
                </a:solidFill>
              </a:rPr>
              <a:t>componentes</a:t>
            </a:r>
            <a:r>
              <a:rPr sz="1650" b="1" dirty="0">
                <a:solidFill>
                  <a:srgbClr val="13233A"/>
                </a:solidFill>
              </a:rPr>
              <a:t> </a:t>
            </a:r>
            <a:r>
              <a:rPr sz="1650" b="1" dirty="0" err="1">
                <a:solidFill>
                  <a:srgbClr val="13233A"/>
                </a:solidFill>
              </a:rPr>
              <a:t>comerciales</a:t>
            </a:r>
            <a:r>
              <a:rPr sz="1650" b="1" dirty="0">
                <a:solidFill>
                  <a:srgbClr val="13233A"/>
                </a:solidFill>
              </a:rPr>
              <a:t> y </a:t>
            </a:r>
            <a:r>
              <a:rPr sz="1650" b="1" dirty="0" err="1">
                <a:solidFill>
                  <a:srgbClr val="13233A"/>
                </a:solidFill>
              </a:rPr>
              <a:t>simulación</a:t>
            </a:r>
            <a:r>
              <a:rPr sz="1650" b="1" dirty="0">
                <a:solidFill>
                  <a:srgbClr val="13233A"/>
                </a:solidFill>
              </a:rPr>
              <a:t> SPICE </a:t>
            </a:r>
            <a:r>
              <a:rPr sz="1650" b="1" dirty="0" err="1">
                <a:solidFill>
                  <a:srgbClr val="13233A"/>
                </a:solidFill>
              </a:rPr>
              <a:t>dentro</a:t>
            </a:r>
            <a:r>
              <a:rPr sz="1650" b="1" dirty="0">
                <a:solidFill>
                  <a:srgbClr val="13233A"/>
                </a:solidFill>
              </a:rPr>
              <a:t> del </a:t>
            </a:r>
            <a:r>
              <a:rPr sz="1650" b="1" dirty="0" err="1">
                <a:solidFill>
                  <a:srgbClr val="13233A"/>
                </a:solidFill>
              </a:rPr>
              <a:t>lazo</a:t>
            </a:r>
            <a:r>
              <a:rPr sz="1650" b="1" dirty="0">
                <a:solidFill>
                  <a:srgbClr val="13233A"/>
                </a:solidFill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3F3810-2A21-4C02-9CDB-6375283300FC}"/>
              </a:ext>
            </a:extLst>
          </p:cNvPr>
          <p:cNvSpPr>
            <a:spLocks noGrp="1"/>
          </p:cNvSpPr>
          <p:nvPr/>
        </p:nvSpPr>
        <p:spPr>
          <a:xfrm>
            <a:off x="8572500" y="3762375"/>
            <a:ext cx="23336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La posición se tomó de la tesina: AnalogCoder, AnalogAgent, CircuitLM, AnalogSAGE, PCBSchemaGen y HWE-Bench.</a:t>
            </a:r>
          </a:p>
        </p:txBody>
      </p:sp>
    </p:spTree>
    <p:extLst>
      <p:ext uri="{BB962C8B-B14F-4D97-AF65-F5344CB8AC3E}">
        <p14:creationId xmlns:p14="http://schemas.microsoft.com/office/powerpoint/2010/main" val="479072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B696CA-7FA4-4EC5-861E-E31CC573EFA4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3B5852-03D5-4AE5-9618-0F7A5E3086C6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8971A8-4978-4711-BD78-4AB67D116BEC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13E9A6-9DA6-476D-A282-440D7F809301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B811A4-B09C-4D0D-B81E-B7D9A628881D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Idea central de la solución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8AEB24-BF10-4C3E-9CBF-A8C83BC044A8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5/14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C2E34B-032D-470A-88BD-CF4129C87332}"/>
              </a:ext>
            </a:extLst>
          </p:cNvPr>
          <p:cNvSpPr>
            <a:spLocks noGrp="1"/>
          </p:cNvSpPr>
          <p:nvPr/>
        </p:nvSpPr>
        <p:spPr>
          <a:xfrm>
            <a:off x="876300" y="2047875"/>
            <a:ext cx="1762125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3233A"/>
                </a:solidFill>
              </a:defRPr>
            </a:pPr>
            <a:r>
              <a:rPr sz="1350" b="1">
                <a:solidFill>
                  <a:srgbClr val="13233A"/>
                </a:solidFill>
              </a:rPr>
              <a:t>Lenguaje natural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1A06D75-4C8E-4FC0-B0BF-F9E0F4A4C546}"/>
              </a:ext>
            </a:extLst>
          </p:cNvPr>
          <p:cNvSpPr>
            <a:spLocks noGrp="1"/>
          </p:cNvSpPr>
          <p:nvPr/>
        </p:nvSpPr>
        <p:spPr>
          <a:xfrm>
            <a:off x="3448050" y="2047875"/>
            <a:ext cx="1762125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3233A"/>
                </a:solidFill>
              </a:defRPr>
            </a:pPr>
            <a:r>
              <a:rPr sz="1350" b="1">
                <a:solidFill>
                  <a:srgbClr val="13233A"/>
                </a:solidFill>
              </a:rPr>
              <a:t>Agentes especializados</a:t>
            </a:r>
          </a:p>
        </p:txBody>
      </p:sp>
      <p:cxnSp>
        <p:nvCxnSpPr>
          <p:cNvPr id="29" name="Straight Arrow Connector 28"/>
          <p:cNvCxnSpPr>
            <a:stCxn id="7" idx="3"/>
            <a:endCxn id="8" idx="1"/>
          </p:cNvCxnSpPr>
          <p:nvPr/>
        </p:nvCxnSpPr>
        <p:spPr>
          <a:xfrm>
            <a:off x="2638425" y="2400300"/>
            <a:ext cx="809625" cy="0"/>
          </a:xfrm>
          <a:prstGeom prst="straightConnector1">
            <a:avLst/>
          </a:prstGeom>
          <a:ln w="19050">
            <a:solidFill>
              <a:srgbClr val="667085"/>
            </a:solidFill>
            <a:prstDash val="solid"/>
            <a:tailEnd type="arrow" w="med" len="med"/>
          </a:ln>
        </p:spPr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6CEFBF3-A1D8-4E27-9651-EC1BF2A6C9EC}"/>
              </a:ext>
            </a:extLst>
          </p:cNvPr>
          <p:cNvSpPr>
            <a:spLocks noGrp="1"/>
          </p:cNvSpPr>
          <p:nvPr/>
        </p:nvSpPr>
        <p:spPr>
          <a:xfrm>
            <a:off x="6019800" y="2047875"/>
            <a:ext cx="1762125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3233A"/>
                </a:solidFill>
              </a:defRPr>
            </a:pPr>
            <a:r>
              <a:rPr sz="1350" b="1">
                <a:solidFill>
                  <a:srgbClr val="13233A"/>
                </a:solidFill>
              </a:rPr>
              <a:t>Netlist</a:t>
            </a:r>
          </a:p>
        </p:txBody>
      </p:sp>
      <p:cxnSp>
        <p:nvCxnSpPr>
          <p:cNvPr id="31" name="Straight Arrow Connector 30"/>
          <p:cNvCxnSpPr>
            <a:stCxn id="8" idx="3"/>
            <a:endCxn id="10" idx="1"/>
          </p:cNvCxnSpPr>
          <p:nvPr/>
        </p:nvCxnSpPr>
        <p:spPr>
          <a:xfrm>
            <a:off x="5210175" y="2400300"/>
            <a:ext cx="809625" cy="0"/>
          </a:xfrm>
          <a:prstGeom prst="straightConnector1">
            <a:avLst/>
          </a:prstGeom>
          <a:ln w="19050">
            <a:solidFill>
              <a:srgbClr val="667085"/>
            </a:solidFill>
            <a:prstDash val="solid"/>
            <a:tailEnd type="arrow" w="med" len="med"/>
          </a:ln>
        </p:spPr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4E20CE3-1A8F-4A17-B035-F9F327979920}"/>
              </a:ext>
            </a:extLst>
          </p:cNvPr>
          <p:cNvSpPr>
            <a:spLocks noGrp="1"/>
          </p:cNvSpPr>
          <p:nvPr/>
        </p:nvSpPr>
        <p:spPr>
          <a:xfrm>
            <a:off x="8591550" y="2047875"/>
            <a:ext cx="1762125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3233A"/>
                </a:solidFill>
              </a:defRPr>
            </a:pPr>
            <a:r>
              <a:rPr sz="1350" b="1">
                <a:solidFill>
                  <a:srgbClr val="13233A"/>
                </a:solidFill>
              </a:rPr>
              <a:t>ngspice</a:t>
            </a:r>
          </a:p>
        </p:txBody>
      </p:sp>
      <p:cxnSp>
        <p:nvCxnSpPr>
          <p:cNvPr id="33" name="Straight Arrow Connector 32"/>
          <p:cNvCxnSpPr>
            <a:stCxn id="10" idx="3"/>
            <a:endCxn id="12" idx="1"/>
          </p:cNvCxnSpPr>
          <p:nvPr/>
        </p:nvCxnSpPr>
        <p:spPr>
          <a:xfrm>
            <a:off x="7781925" y="2400300"/>
            <a:ext cx="809625" cy="0"/>
          </a:xfrm>
          <a:prstGeom prst="straightConnector1">
            <a:avLst/>
          </a:prstGeom>
          <a:ln w="19050">
            <a:solidFill>
              <a:srgbClr val="667085"/>
            </a:solidFill>
            <a:prstDash val="solid"/>
            <a:tailEnd type="arrow" w="med" len="med"/>
          </a:ln>
        </p:spPr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6D195EB-C148-48CD-B03A-FB05229402C2}"/>
              </a:ext>
            </a:extLst>
          </p:cNvPr>
          <p:cNvSpPr>
            <a:spLocks noGrp="1"/>
          </p:cNvSpPr>
          <p:nvPr/>
        </p:nvSpPr>
        <p:spPr>
          <a:xfrm>
            <a:off x="1847850" y="3975100"/>
            <a:ext cx="1762125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3233A"/>
                </a:solidFill>
              </a:defRPr>
            </a:pPr>
            <a:r>
              <a:rPr sz="1350" b="1">
                <a:solidFill>
                  <a:srgbClr val="13233A"/>
                </a:solidFill>
              </a:rPr>
              <a:t>Métricas</a:t>
            </a:r>
          </a:p>
        </p:txBody>
      </p:sp>
      <p:cxnSp>
        <p:nvCxnSpPr>
          <p:cNvPr id="35" name="Straight Arrow Connector 34"/>
          <p:cNvCxnSpPr>
            <a:cxnSpLocks/>
            <a:stCxn id="12" idx="3"/>
          </p:cNvCxnSpPr>
          <p:nvPr/>
        </p:nvCxnSpPr>
        <p:spPr>
          <a:xfrm>
            <a:off x="10353675" y="2400300"/>
            <a:ext cx="396875" cy="0"/>
          </a:xfrm>
          <a:prstGeom prst="straightConnector1">
            <a:avLst/>
          </a:prstGeom>
          <a:ln w="19050">
            <a:solidFill>
              <a:srgbClr val="667085"/>
            </a:solidFill>
            <a:prstDash val="solid"/>
            <a:tailEnd type="arrow" w="med" len="med"/>
          </a:ln>
        </p:spPr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8C1B310-6851-4629-942A-AB3BDE16C858}"/>
              </a:ext>
            </a:extLst>
          </p:cNvPr>
          <p:cNvSpPr>
            <a:spLocks noGrp="1"/>
          </p:cNvSpPr>
          <p:nvPr/>
        </p:nvSpPr>
        <p:spPr>
          <a:xfrm>
            <a:off x="4419600" y="3975100"/>
            <a:ext cx="1762125" cy="704850"/>
          </a:xfrm>
          <a:prstGeom prst="roundRect">
            <a:avLst>
              <a:gd name="adj" fmla="val 10811"/>
            </a:avLst>
          </a:prstGeom>
          <a:solidFill>
            <a:srgbClr val="7A003C"/>
          </a:solidFill>
          <a:ln w="9525">
            <a:solidFill>
              <a:srgbClr val="7A003C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Curador</a:t>
            </a:r>
          </a:p>
        </p:txBody>
      </p:sp>
      <p:cxnSp>
        <p:nvCxnSpPr>
          <p:cNvPr id="37" name="Straight Arrow Connector 36"/>
          <p:cNvCxnSpPr>
            <a:stCxn id="14" idx="3"/>
            <a:endCxn id="16" idx="1"/>
          </p:cNvCxnSpPr>
          <p:nvPr/>
        </p:nvCxnSpPr>
        <p:spPr>
          <a:xfrm>
            <a:off x="3609975" y="4327525"/>
            <a:ext cx="809625" cy="0"/>
          </a:xfrm>
          <a:prstGeom prst="straightConnector1">
            <a:avLst/>
          </a:prstGeom>
          <a:ln w="19050">
            <a:solidFill>
              <a:srgbClr val="667085"/>
            </a:solidFill>
            <a:prstDash val="solid"/>
            <a:tailEnd type="arrow" w="med" len="med"/>
          </a:ln>
        </p:spPr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DB9ACAD-874D-4E45-85B4-CFB9A8D582AD}"/>
              </a:ext>
            </a:extLst>
          </p:cNvPr>
          <p:cNvSpPr>
            <a:spLocks noGrp="1"/>
          </p:cNvSpPr>
          <p:nvPr/>
        </p:nvSpPr>
        <p:spPr>
          <a:xfrm>
            <a:off x="6991350" y="3975100"/>
            <a:ext cx="1762125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3233A"/>
                </a:solidFill>
              </a:defRPr>
            </a:pPr>
            <a:r>
              <a:rPr sz="1350" b="1">
                <a:solidFill>
                  <a:srgbClr val="13233A"/>
                </a:solidFill>
              </a:rPr>
              <a:t>Ajuste o aceptación</a:t>
            </a:r>
          </a:p>
        </p:txBody>
      </p:sp>
      <p:cxnSp>
        <p:nvCxnSpPr>
          <p:cNvPr id="39" name="Straight Arrow Connector 38"/>
          <p:cNvCxnSpPr>
            <a:stCxn id="16" idx="3"/>
            <a:endCxn id="18" idx="1"/>
          </p:cNvCxnSpPr>
          <p:nvPr/>
        </p:nvCxnSpPr>
        <p:spPr>
          <a:xfrm>
            <a:off x="6181725" y="4327525"/>
            <a:ext cx="809625" cy="0"/>
          </a:xfrm>
          <a:prstGeom prst="straightConnector1">
            <a:avLst/>
          </a:prstGeom>
          <a:ln w="19050">
            <a:solidFill>
              <a:srgbClr val="667085"/>
            </a:solidFill>
            <a:prstDash val="solid"/>
            <a:tailEnd type="arrow" w="med" len="med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3AAF51C-A46D-4D32-A427-90C676E3ACA4}"/>
              </a:ext>
            </a:extLst>
          </p:cNvPr>
          <p:cNvSpPr>
            <a:spLocks noGrp="1"/>
          </p:cNvSpPr>
          <p:nvPr/>
        </p:nvSpPr>
        <p:spPr>
          <a:xfrm>
            <a:off x="1428750" y="5429250"/>
            <a:ext cx="800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7A003C"/>
                </a:solidFill>
              </a:defRPr>
            </a:pPr>
            <a:r>
              <a:rPr sz="1875" b="1" i="0">
                <a:solidFill>
                  <a:srgbClr val="7A003C"/>
                </a:solidFill>
              </a:rPr>
              <a:t>La aportación es cerrar el ciclo: generar, simular, medir y decidir.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1DC4DF-5300-1C07-B99E-20340511B3F5}"/>
              </a:ext>
            </a:extLst>
          </p:cNvPr>
          <p:cNvCxnSpPr>
            <a:cxnSpLocks/>
          </p:cNvCxnSpPr>
          <p:nvPr/>
        </p:nvCxnSpPr>
        <p:spPr>
          <a:xfrm>
            <a:off x="1450975" y="4327525"/>
            <a:ext cx="396875" cy="0"/>
          </a:xfrm>
          <a:prstGeom prst="straightConnector1">
            <a:avLst/>
          </a:prstGeom>
          <a:ln w="19050">
            <a:solidFill>
              <a:srgbClr val="667085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466267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C5DD4A9-3C25-45D5-9D4F-7AACAC77A0DF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4D3CE4-5C7A-4259-AFB1-F19C07F103BB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E23BC4-6C83-47BF-8B7F-7530B2EA3D50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985BFC-4B18-425C-AFE9-E854D01A19A8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915681-6FB6-4459-B71A-4F4F2DCCC076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Objetivo técnico resumido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731D1C-C596-48B5-99A2-9B290CD4F613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6/14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509443-BE80-4F1C-A403-4E19ED1A01ED}"/>
              </a:ext>
            </a:extLst>
          </p:cNvPr>
          <p:cNvSpPr>
            <a:spLocks noGrp="1"/>
          </p:cNvSpPr>
          <p:nvPr/>
        </p:nvSpPr>
        <p:spPr>
          <a:xfrm>
            <a:off x="1095375" y="1381125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 i="0">
                <a:solidFill>
                  <a:srgbClr val="13233A"/>
                </a:solidFill>
              </a:defRPr>
            </a:pPr>
            <a:r>
              <a:rPr sz="2175" b="1" i="0">
                <a:solidFill>
                  <a:srgbClr val="13233A"/>
                </a:solidFill>
              </a:rPr>
              <a:t>Construir un ecosistema multiagente que genere, simule y ajuste circuitos analógicos CA/CD a partir de lenguaje natural.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6FA84B-3BBA-48F8-B7E1-2740FE6FDA6C}"/>
              </a:ext>
            </a:extLst>
          </p:cNvPr>
          <p:cNvSpPr>
            <a:spLocks noGrp="1"/>
          </p:cNvSpPr>
          <p:nvPr/>
        </p:nvSpPr>
        <p:spPr>
          <a:xfrm>
            <a:off x="1285875" y="3048000"/>
            <a:ext cx="1762125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3233A"/>
                </a:solidFill>
              </a:defRPr>
            </a:pPr>
            <a:r>
              <a:rPr sz="1725" b="1">
                <a:solidFill>
                  <a:srgbClr val="13233A"/>
                </a:solidFill>
              </a:rPr>
              <a:t>Interpretar</a:t>
            </a:r>
          </a:p>
          <a:p>
            <a:pPr algn="ctr">
              <a:defRPr sz="1725" b="1">
                <a:solidFill>
                  <a:srgbClr val="13233A"/>
                </a:solidFill>
              </a:defRPr>
            </a:pPr>
            <a:r>
              <a:rPr sz="1725" b="1">
                <a:solidFill>
                  <a:srgbClr val="13233A"/>
                </a:solidFill>
              </a:rPr>
              <a:t>especificación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9112BE9-A9F9-4B76-9277-03F323DCB1DD}"/>
              </a:ext>
            </a:extLst>
          </p:cNvPr>
          <p:cNvSpPr>
            <a:spLocks noGrp="1"/>
          </p:cNvSpPr>
          <p:nvPr/>
        </p:nvSpPr>
        <p:spPr>
          <a:xfrm>
            <a:off x="3571875" y="3048000"/>
            <a:ext cx="1762125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3233A"/>
                </a:solidFill>
              </a:defRPr>
            </a:pPr>
            <a:r>
              <a:rPr sz="1725" b="1">
                <a:solidFill>
                  <a:srgbClr val="13233A"/>
                </a:solidFill>
              </a:rPr>
              <a:t>Calcular</a:t>
            </a:r>
          </a:p>
          <a:p>
            <a:pPr algn="ctr">
              <a:defRPr sz="1725" b="1">
                <a:solidFill>
                  <a:srgbClr val="13233A"/>
                </a:solidFill>
              </a:defRPr>
            </a:pPr>
            <a:r>
              <a:rPr sz="1725" b="1">
                <a:solidFill>
                  <a:srgbClr val="13233A"/>
                </a:solidFill>
              </a:rPr>
              <a:t>componentes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9B6180D-E99E-429D-AE0E-A07EEAC3F876}"/>
              </a:ext>
            </a:extLst>
          </p:cNvPr>
          <p:cNvSpPr>
            <a:spLocks noGrp="1"/>
          </p:cNvSpPr>
          <p:nvPr/>
        </p:nvSpPr>
        <p:spPr>
          <a:xfrm>
            <a:off x="5857875" y="3048000"/>
            <a:ext cx="1762125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3233A"/>
                </a:solidFill>
              </a:defRPr>
            </a:pPr>
            <a:r>
              <a:rPr sz="1725" b="1">
                <a:solidFill>
                  <a:srgbClr val="13233A"/>
                </a:solidFill>
              </a:rPr>
              <a:t>Simular</a:t>
            </a:r>
          </a:p>
          <a:p>
            <a:pPr algn="ctr">
              <a:defRPr sz="1725" b="1">
                <a:solidFill>
                  <a:srgbClr val="13233A"/>
                </a:solidFill>
              </a:defRPr>
            </a:pPr>
            <a:r>
              <a:rPr sz="1725" b="1">
                <a:solidFill>
                  <a:srgbClr val="13233A"/>
                </a:solidFill>
              </a:rPr>
              <a:t>en ngspice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CFC5B17-A137-4FA0-BC3D-4FC766C8675F}"/>
              </a:ext>
            </a:extLst>
          </p:cNvPr>
          <p:cNvSpPr>
            <a:spLocks noGrp="1"/>
          </p:cNvSpPr>
          <p:nvPr/>
        </p:nvSpPr>
        <p:spPr>
          <a:xfrm>
            <a:off x="8143875" y="3048000"/>
            <a:ext cx="1762125" cy="1047750"/>
          </a:xfrm>
          <a:prstGeom prst="roundRect">
            <a:avLst>
              <a:gd name="adj" fmla="val 7273"/>
            </a:avLst>
          </a:prstGeom>
          <a:solidFill>
            <a:srgbClr val="7A003C"/>
          </a:solidFill>
          <a:ln w="9525">
            <a:solidFill>
              <a:srgbClr val="7A003C"/>
            </a:solidFill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Ajustar</a:t>
            </a:r>
          </a:p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con curador</a:t>
            </a:r>
          </a:p>
        </p:txBody>
      </p:sp>
    </p:spTree>
    <p:extLst>
      <p:ext uri="{BB962C8B-B14F-4D97-AF65-F5344CB8AC3E}">
        <p14:creationId xmlns:p14="http://schemas.microsoft.com/office/powerpoint/2010/main" val="534141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6076D2C-D86F-4C8C-B865-049C89035851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55E950-1541-4ADC-A99A-E998C25F2AED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CE8906-BD7D-406F-A6ED-05EDC23DC971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45B9F7-E0BB-4E4D-8132-09811FA1EC3A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F04A9A-05A6-4513-B1AD-D5A6A727C988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Alcance de la solución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713CD7-8B96-4700-940D-61876A95984D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7/14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8C9CCED-DA45-4B86-AC46-ABB6B806A945}"/>
              </a:ext>
            </a:extLst>
          </p:cNvPr>
          <p:cNvSpPr>
            <a:spLocks noGrp="1"/>
          </p:cNvSpPr>
          <p:nvPr/>
        </p:nvSpPr>
        <p:spPr>
          <a:xfrm>
            <a:off x="1238250" y="1428750"/>
            <a:ext cx="4095750" cy="533400"/>
          </a:xfrm>
          <a:prstGeom prst="roundRect">
            <a:avLst>
              <a:gd name="adj" fmla="val 14286"/>
            </a:avLst>
          </a:prstGeom>
          <a:solidFill>
            <a:srgbClr val="7A003C"/>
          </a:solidFill>
          <a:ln w="9525">
            <a:solidFill>
              <a:srgbClr val="7A003C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Sí contempla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01642E-2AE2-4B4C-AF22-392EF598DDBD}"/>
              </a:ext>
            </a:extLst>
          </p:cNvPr>
          <p:cNvSpPr>
            <a:spLocks noGrp="1"/>
          </p:cNvSpPr>
          <p:nvPr/>
        </p:nvSpPr>
        <p:spPr>
          <a:xfrm>
            <a:off x="1428750" y="2190750"/>
            <a:ext cx="37147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3233A"/>
                </a:solidFill>
              </a:defRPr>
            </a:pPr>
            <a:r>
              <a:rPr sz="1725" b="0" i="0">
                <a:solidFill>
                  <a:srgbClr val="13233A"/>
                </a:solidFill>
              </a:rPr>
              <a:t>• Circuitos analógicos CA/CD</a:t>
            </a:r>
          </a:p>
          <a:p>
            <a:pPr algn="l">
              <a:defRPr sz="1725" b="0" i="0">
                <a:solidFill>
                  <a:srgbClr val="13233A"/>
                </a:solidFill>
              </a:defRPr>
            </a:pPr>
            <a:r>
              <a:rPr sz="1725" b="0" i="0">
                <a:solidFill>
                  <a:srgbClr val="13233A"/>
                </a:solidFill>
              </a:rPr>
              <a:t>• Componentes comerciales con modelo SPICE</a:t>
            </a:r>
          </a:p>
          <a:p>
            <a:pPr algn="l">
              <a:defRPr sz="1725" b="0" i="0">
                <a:solidFill>
                  <a:srgbClr val="13233A"/>
                </a:solidFill>
              </a:defRPr>
            </a:pPr>
            <a:r>
              <a:rPr sz="1725" b="0" i="0">
                <a:solidFill>
                  <a:srgbClr val="13233A"/>
                </a:solidFill>
              </a:rPr>
              <a:t>• Generación de netlist</a:t>
            </a:r>
          </a:p>
          <a:p>
            <a:pPr algn="l">
              <a:defRPr sz="1725" b="0" i="0">
                <a:solidFill>
                  <a:srgbClr val="13233A"/>
                </a:solidFill>
              </a:defRPr>
            </a:pPr>
            <a:r>
              <a:rPr sz="1725" b="0" i="0">
                <a:solidFill>
                  <a:srgbClr val="13233A"/>
                </a:solidFill>
              </a:rPr>
              <a:t>• Simulación en ngspice</a:t>
            </a:r>
          </a:p>
          <a:p>
            <a:pPr algn="l">
              <a:defRPr sz="1725" b="0" i="0">
                <a:solidFill>
                  <a:srgbClr val="13233A"/>
                </a:solidFill>
              </a:defRPr>
            </a:pPr>
            <a:r>
              <a:rPr sz="1725" b="0" i="0">
                <a:solidFill>
                  <a:srgbClr val="13233A"/>
                </a:solidFill>
              </a:rPr>
              <a:t>• Historial de iteraciones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27F198-34F2-4BAB-8933-F30AEBB61C1C}"/>
              </a:ext>
            </a:extLst>
          </p:cNvPr>
          <p:cNvSpPr>
            <a:spLocks noGrp="1"/>
          </p:cNvSpPr>
          <p:nvPr/>
        </p:nvSpPr>
        <p:spPr>
          <a:xfrm>
            <a:off x="6286500" y="1428750"/>
            <a:ext cx="4095750" cy="533400"/>
          </a:xfrm>
          <a:prstGeom prst="roundRect">
            <a:avLst>
              <a:gd name="adj" fmla="val 14286"/>
            </a:avLst>
          </a:prstGeom>
          <a:solidFill>
            <a:srgbClr val="13233A"/>
          </a:solidFill>
          <a:ln w="9525">
            <a:solidFill>
              <a:srgbClr val="13233A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No contempla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876C7E-D0B4-4197-8AA5-44017C8AAB8B}"/>
              </a:ext>
            </a:extLst>
          </p:cNvPr>
          <p:cNvSpPr>
            <a:spLocks noGrp="1"/>
          </p:cNvSpPr>
          <p:nvPr/>
        </p:nvSpPr>
        <p:spPr>
          <a:xfrm>
            <a:off x="6477000" y="2190750"/>
            <a:ext cx="37147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3233A"/>
                </a:solidFill>
              </a:defRPr>
            </a:pPr>
            <a:r>
              <a:rPr sz="1725" b="0" i="0">
                <a:solidFill>
                  <a:srgbClr val="13233A"/>
                </a:solidFill>
              </a:rPr>
              <a:t>• Diseño PCB</a:t>
            </a:r>
          </a:p>
          <a:p>
            <a:pPr algn="l">
              <a:defRPr sz="1725" b="0" i="0">
                <a:solidFill>
                  <a:srgbClr val="13233A"/>
                </a:solidFill>
              </a:defRPr>
            </a:pPr>
            <a:r>
              <a:rPr sz="1725" b="0" i="0">
                <a:solidFill>
                  <a:srgbClr val="13233A"/>
                </a:solidFill>
              </a:rPr>
              <a:t>• Síntesis a nivel transistor</a:t>
            </a:r>
          </a:p>
          <a:p>
            <a:pPr algn="l">
              <a:defRPr sz="1725" b="0" i="0">
                <a:solidFill>
                  <a:srgbClr val="13233A"/>
                </a:solidFill>
              </a:defRPr>
            </a:pPr>
            <a:r>
              <a:rPr sz="1725" b="0" i="0">
                <a:solidFill>
                  <a:srgbClr val="13233A"/>
                </a:solidFill>
              </a:rPr>
              <a:t>• PDK propietario</a:t>
            </a:r>
          </a:p>
          <a:p>
            <a:pPr algn="l">
              <a:defRPr sz="1725" b="0" i="0">
                <a:solidFill>
                  <a:srgbClr val="13233A"/>
                </a:solidFill>
              </a:defRPr>
            </a:pPr>
            <a:r>
              <a:rPr sz="1725" b="0" i="0">
                <a:solidFill>
                  <a:srgbClr val="13233A"/>
                </a:solidFill>
              </a:rPr>
              <a:t>• Esquemáticos gráficos</a:t>
            </a:r>
          </a:p>
          <a:p>
            <a:pPr algn="l">
              <a:defRPr sz="1725" b="0" i="0">
                <a:solidFill>
                  <a:srgbClr val="13233A"/>
                </a:solidFill>
              </a:defRPr>
            </a:pPr>
            <a:r>
              <a:rPr sz="1725" b="0" i="0">
                <a:solidFill>
                  <a:srgbClr val="13233A"/>
                </a:solidFill>
              </a:rPr>
              <a:t>• Componentes sin modelo SPICE</a:t>
            </a:r>
          </a:p>
        </p:txBody>
      </p:sp>
    </p:spTree>
    <p:extLst>
      <p:ext uri="{BB962C8B-B14F-4D97-AF65-F5344CB8AC3E}">
        <p14:creationId xmlns:p14="http://schemas.microsoft.com/office/powerpoint/2010/main" val="28519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FBECC9-E34C-4A0F-8BE5-372EAD345EB8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5E6AC1-898F-4B5B-BC4A-B781D3F96A84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139BF0-40B8-49B3-9923-B805E565DF76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12F5ED-9890-4AB2-96E3-DF93023EA846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CC9E6C-71EC-4206-A22E-34F78700946C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Arquitectura general: vista completa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6E8BBB-D108-46DB-A8EC-5A59BA022A2B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8/14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59002" y="1238250"/>
            <a:ext cx="6311747" cy="4762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8A5C552-06B2-4FC5-A6EF-ED9466DDB7C5}"/>
              </a:ext>
            </a:extLst>
          </p:cNvPr>
          <p:cNvSpPr>
            <a:spLocks noGrp="1"/>
          </p:cNvSpPr>
          <p:nvPr/>
        </p:nvSpPr>
        <p:spPr>
          <a:xfrm>
            <a:off x="8667750" y="1809750"/>
            <a:ext cx="2238375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3233A"/>
                </a:solidFill>
              </a:defRPr>
            </a:pPr>
            <a:r>
              <a:rPr sz="1350" b="0" i="0">
                <a:solidFill>
                  <a:srgbClr val="13233A"/>
                </a:solidFill>
              </a:rPr>
              <a:t>• Cliente web: acceso y solicitudes</a:t>
            </a:r>
          </a:p>
          <a:p>
            <a:pPr algn="l">
              <a:defRPr sz="1350" b="0" i="0">
                <a:solidFill>
                  <a:srgbClr val="13233A"/>
                </a:solidFill>
              </a:defRPr>
            </a:pPr>
            <a:r>
              <a:rPr sz="1350" b="0" i="0">
                <a:solidFill>
                  <a:srgbClr val="13233A"/>
                </a:solidFill>
              </a:rPr>
              <a:t>• Servidor: ecosistema de agentes</a:t>
            </a:r>
          </a:p>
          <a:p>
            <a:pPr algn="l">
              <a:defRPr sz="1350" b="0" i="0">
                <a:solidFill>
                  <a:srgbClr val="13233A"/>
                </a:solidFill>
              </a:defRPr>
            </a:pPr>
            <a:r>
              <a:rPr sz="1350" b="0" i="0">
                <a:solidFill>
                  <a:srgbClr val="13233A"/>
                </a:solidFill>
              </a:rPr>
              <a:t>• PostgreSQL: estado e historial</a:t>
            </a:r>
          </a:p>
          <a:p>
            <a:pPr algn="l">
              <a:defRPr sz="1350" b="0" i="0">
                <a:solidFill>
                  <a:srgbClr val="13233A"/>
                </a:solidFill>
              </a:defRPr>
            </a:pPr>
            <a:r>
              <a:rPr sz="1350" b="0" i="0">
                <a:solidFill>
                  <a:srgbClr val="13233A"/>
                </a:solidFill>
              </a:rPr>
              <a:t>• LLM y ngspice: servicios externos</a:t>
            </a:r>
          </a:p>
        </p:txBody>
      </p:sp>
    </p:spTree>
    <p:extLst>
      <p:ext uri="{BB962C8B-B14F-4D97-AF65-F5344CB8AC3E}">
        <p14:creationId xmlns:p14="http://schemas.microsoft.com/office/powerpoint/2010/main" val="2098184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050A72D-78AD-432E-9595-7997C9EFDF28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E5B577-7B99-4F03-97D3-EE5919CA2835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7C89DD-D087-4D27-B6FC-238F53E87AF6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4C35E0-DF96-4591-A5D0-89927F36A302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5CED0A-E9FE-4321-BAF1-090F6BCF70B8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Arquitectura general: recorrido de una solicitud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544159-0666-4CF7-AB8F-D52B82B9D2E4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9/14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11377" y="1219200"/>
            <a:ext cx="6311747" cy="47625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3884E90-925F-4CB0-A892-975222B1C71A}"/>
              </a:ext>
            </a:extLst>
          </p:cNvPr>
          <p:cNvSpPr>
            <a:spLocks noGrp="1"/>
          </p:cNvSpPr>
          <p:nvPr/>
        </p:nvSpPr>
        <p:spPr>
          <a:xfrm>
            <a:off x="1587500" y="6076950"/>
            <a:ext cx="1143000" cy="419100"/>
          </a:xfrm>
          <a:prstGeom prst="roundRect">
            <a:avLst>
              <a:gd name="adj" fmla="val 18182"/>
            </a:avLst>
          </a:prstGeom>
          <a:solidFill>
            <a:srgbClr val="7A003C"/>
          </a:solidFill>
          <a:ln w="9525">
            <a:solidFill>
              <a:srgbClr val="7A003C"/>
            </a:solidFill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 dirty="0">
                <a:solidFill>
                  <a:srgbClr val="FFFFFF"/>
                </a:solidFill>
              </a:rPr>
              <a:t>1 </a:t>
            </a:r>
            <a:r>
              <a:rPr sz="1275" b="1" dirty="0" err="1">
                <a:solidFill>
                  <a:srgbClr val="FFFFFF"/>
                </a:solidFill>
              </a:rPr>
              <a:t>Usuario</a:t>
            </a:r>
            <a:endParaRPr sz="1275" b="1" dirty="0">
              <a:solidFill>
                <a:srgbClr val="FFFFFF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3B9E49F-13BA-4A88-97D0-8EEBA611A24C}"/>
              </a:ext>
            </a:extLst>
          </p:cNvPr>
          <p:cNvSpPr>
            <a:spLocks noGrp="1"/>
          </p:cNvSpPr>
          <p:nvPr/>
        </p:nvSpPr>
        <p:spPr>
          <a:xfrm>
            <a:off x="3348038" y="6076950"/>
            <a:ext cx="1143000" cy="419100"/>
          </a:xfrm>
          <a:prstGeom prst="roundRect">
            <a:avLst>
              <a:gd name="adj" fmla="val 18182"/>
            </a:avLst>
          </a:prstGeom>
          <a:solidFill>
            <a:srgbClr val="7A003C"/>
          </a:solidFill>
          <a:ln w="9525">
            <a:solidFill>
              <a:srgbClr val="7A003C"/>
            </a:solidFill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 Cliente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05B159-6432-4359-9EE0-DD0A8ED21AFD}"/>
              </a:ext>
            </a:extLst>
          </p:cNvPr>
          <p:cNvSpPr>
            <a:spLocks noGrp="1"/>
          </p:cNvSpPr>
          <p:nvPr/>
        </p:nvSpPr>
        <p:spPr>
          <a:xfrm>
            <a:off x="5016500" y="6076950"/>
            <a:ext cx="1143000" cy="419100"/>
          </a:xfrm>
          <a:prstGeom prst="roundRect">
            <a:avLst>
              <a:gd name="adj" fmla="val 18182"/>
            </a:avLst>
          </a:prstGeom>
          <a:solidFill>
            <a:srgbClr val="7A003C"/>
          </a:solidFill>
          <a:ln w="9525">
            <a:solidFill>
              <a:srgbClr val="7A003C"/>
            </a:solidFill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 dirty="0">
                <a:solidFill>
                  <a:srgbClr val="FFFFFF"/>
                </a:solidFill>
              </a:rPr>
              <a:t>3 </a:t>
            </a:r>
            <a:r>
              <a:rPr sz="1275" b="1" dirty="0" err="1">
                <a:solidFill>
                  <a:srgbClr val="FFFFFF"/>
                </a:solidFill>
              </a:rPr>
              <a:t>Servidor</a:t>
            </a:r>
            <a:endParaRPr sz="1275" b="1" dirty="0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347CF9E-A3E3-406E-9E9D-606FF6BCA849}"/>
              </a:ext>
            </a:extLst>
          </p:cNvPr>
          <p:cNvSpPr>
            <a:spLocks noGrp="1"/>
          </p:cNvSpPr>
          <p:nvPr/>
        </p:nvSpPr>
        <p:spPr>
          <a:xfrm>
            <a:off x="6651625" y="6076950"/>
            <a:ext cx="1143000" cy="419100"/>
          </a:xfrm>
          <a:prstGeom prst="roundRect">
            <a:avLst>
              <a:gd name="adj" fmla="val 18182"/>
            </a:avLst>
          </a:prstGeom>
          <a:solidFill>
            <a:srgbClr val="7A003C"/>
          </a:solidFill>
          <a:ln w="9525">
            <a:solidFill>
              <a:srgbClr val="7A003C"/>
            </a:solidFill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 dirty="0">
                <a:solidFill>
                  <a:srgbClr val="FFFFFF"/>
                </a:solidFill>
              </a:rPr>
              <a:t>4 </a:t>
            </a:r>
            <a:r>
              <a:rPr sz="1275" b="1" dirty="0" err="1">
                <a:solidFill>
                  <a:srgbClr val="FFFFFF"/>
                </a:solidFill>
              </a:rPr>
              <a:t>Resultado</a:t>
            </a:r>
            <a:endParaRPr sz="1275" b="1" dirty="0">
              <a:solidFill>
                <a:srgbClr val="FFFFFF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0588EBC-9E1D-4CD3-BDC0-4F7330151C4D}"/>
              </a:ext>
            </a:extLst>
          </p:cNvPr>
          <p:cNvSpPr>
            <a:spLocks noGrp="1"/>
          </p:cNvSpPr>
          <p:nvPr/>
        </p:nvSpPr>
        <p:spPr>
          <a:xfrm>
            <a:off x="8667750" y="2238375"/>
            <a:ext cx="2286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B88A44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La información viaja autenticada, se procesa en agentes y regresa como netlist, métricas e historial.</a:t>
            </a:r>
          </a:p>
        </p:txBody>
      </p:sp>
    </p:spTree>
    <p:extLst>
      <p:ext uri="{BB962C8B-B14F-4D97-AF65-F5344CB8AC3E}">
        <p14:creationId xmlns:p14="http://schemas.microsoft.com/office/powerpoint/2010/main" val="708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2D4C6D-07A4-4832-A669-0DC69963FF4E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53595E-1B01-4A24-A4E9-5CAF7447C89C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70651C-3532-49A3-9711-6BD9F70C72EF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BD3A36-4124-4439-88E7-3CA859056C97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0DA3F3-97ED-47E1-8C7F-5235FF302092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Ecosistema de agentes: vista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66B4E0-645B-4EBC-8156-7EC501A8F601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10/14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32359" y="1162050"/>
            <a:ext cx="6012656" cy="48101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1302D05-8BB0-4B1B-A7A6-1D3B541B61CE}"/>
              </a:ext>
            </a:extLst>
          </p:cNvPr>
          <p:cNvSpPr>
            <a:spLocks noGrp="1"/>
          </p:cNvSpPr>
          <p:nvPr/>
        </p:nvSpPr>
        <p:spPr>
          <a:xfrm>
            <a:off x="8763000" y="1619250"/>
            <a:ext cx="2190750" cy="2619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3233A"/>
                </a:solidFill>
              </a:defRPr>
            </a:pPr>
            <a:r>
              <a:rPr sz="1350" b="0" i="0">
                <a:solidFill>
                  <a:srgbClr val="13233A"/>
                </a:solidFill>
              </a:rPr>
              <a:t>• Orquestador coordina el flujo</a:t>
            </a:r>
          </a:p>
          <a:p>
            <a:pPr algn="l">
              <a:defRPr sz="1350" b="0" i="0">
                <a:solidFill>
                  <a:srgbClr val="13233A"/>
                </a:solidFill>
              </a:defRPr>
            </a:pPr>
            <a:r>
              <a:rPr sz="1350" b="0" i="0">
                <a:solidFill>
                  <a:srgbClr val="13233A"/>
                </a:solidFill>
              </a:rPr>
              <a:t>• Cálculo divide sub-bloques</a:t>
            </a:r>
          </a:p>
          <a:p>
            <a:pPr algn="l">
              <a:defRPr sz="1350" b="0" i="0">
                <a:solidFill>
                  <a:srgbClr val="13233A"/>
                </a:solidFill>
              </a:defRPr>
            </a:pPr>
            <a:r>
              <a:rPr sz="1350" b="0" i="0">
                <a:solidFill>
                  <a:srgbClr val="13233A"/>
                </a:solidFill>
              </a:rPr>
              <a:t>• Escritura produce PySpice/netlist</a:t>
            </a:r>
          </a:p>
          <a:p>
            <a:pPr algn="l">
              <a:defRPr sz="1350" b="0" i="0">
                <a:solidFill>
                  <a:srgbClr val="13233A"/>
                </a:solidFill>
              </a:defRPr>
            </a:pPr>
            <a:r>
              <a:rPr sz="1350" b="0" i="0">
                <a:solidFill>
                  <a:srgbClr val="13233A"/>
                </a:solidFill>
              </a:rPr>
              <a:t>• Shell ejecuta ngspice</a:t>
            </a:r>
          </a:p>
          <a:p>
            <a:pPr algn="l">
              <a:defRPr sz="1350" b="0" i="0">
                <a:solidFill>
                  <a:srgbClr val="13233A"/>
                </a:solidFill>
              </a:defRPr>
            </a:pPr>
            <a:r>
              <a:rPr sz="1350" b="0" i="0">
                <a:solidFill>
                  <a:srgbClr val="13233A"/>
                </a:solidFill>
              </a:rPr>
              <a:t>• Curador decide</a:t>
            </a:r>
          </a:p>
        </p:txBody>
      </p:sp>
    </p:spTree>
    <p:extLst>
      <p:ext uri="{BB962C8B-B14F-4D97-AF65-F5344CB8AC3E}">
        <p14:creationId xmlns:p14="http://schemas.microsoft.com/office/powerpoint/2010/main" val="96428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518B30E-A1D5-49BB-9816-100FBBAA2DCF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3A6E55-4340-4CBF-9F78-6356DFD303E8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1DD02F-48BA-444A-AEB6-811324FC03CC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655679-4711-403F-AC0D-A9D6A68968CF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9097EB-FF77-466E-9656-6138A8985129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Ecosistema de agentes: explicación por zonas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86C397-9EBC-4AD0-8DA2-22F6A1E5BB4F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11/14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62113" y="1162050"/>
            <a:ext cx="5953125" cy="47625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707EEA7-0A38-4705-883F-BFE086EBA59A}"/>
              </a:ext>
            </a:extLst>
          </p:cNvPr>
          <p:cNvSpPr>
            <a:spLocks noGrp="1"/>
          </p:cNvSpPr>
          <p:nvPr/>
        </p:nvSpPr>
        <p:spPr>
          <a:xfrm>
            <a:off x="8429625" y="1428750"/>
            <a:ext cx="2524125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B88A44"/>
            </a:solidFill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1 Coordinación</a:t>
            </a:r>
          </a:p>
          <a:p>
            <a:pPr algn="ctr"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Orquestador + checkpointer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932E129-4182-4C69-94A7-CC1871519ACC}"/>
              </a:ext>
            </a:extLst>
          </p:cNvPr>
          <p:cNvSpPr>
            <a:spLocks noGrp="1"/>
          </p:cNvSpPr>
          <p:nvPr/>
        </p:nvSpPr>
        <p:spPr>
          <a:xfrm>
            <a:off x="8429625" y="2667000"/>
            <a:ext cx="2524125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B88A44"/>
            </a:solidFill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2 Construcción</a:t>
            </a:r>
          </a:p>
          <a:p>
            <a:pPr algn="ctr"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Cálculo + workers + escritura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0DC476D-CCAD-4BA3-BB37-75A8092A1950}"/>
              </a:ext>
            </a:extLst>
          </p:cNvPr>
          <p:cNvSpPr>
            <a:spLocks noGrp="1"/>
          </p:cNvSpPr>
          <p:nvPr/>
        </p:nvSpPr>
        <p:spPr>
          <a:xfrm>
            <a:off x="8429625" y="3905250"/>
            <a:ext cx="2524125" cy="857250"/>
          </a:xfrm>
          <a:prstGeom prst="roundRect">
            <a:avLst>
              <a:gd name="adj" fmla="val 8889"/>
            </a:avLst>
          </a:prstGeom>
          <a:solidFill>
            <a:srgbClr val="7A003C"/>
          </a:solidFill>
          <a:ln w="9525">
            <a:solidFill>
              <a:srgbClr val="7A003C"/>
            </a:solidFill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 Validación</a:t>
            </a:r>
          </a:p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Shell + ngspice + curador</a:t>
            </a:r>
          </a:p>
        </p:txBody>
      </p:sp>
    </p:spTree>
    <p:extLst>
      <p:ext uri="{BB962C8B-B14F-4D97-AF65-F5344CB8AC3E}">
        <p14:creationId xmlns:p14="http://schemas.microsoft.com/office/powerpoint/2010/main" val="195754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E348B97-1BA5-44F4-87C2-EA60771118BB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B2512E-5021-4DA6-9195-A4EB8A27ADA1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A756D0-A059-459F-A1ED-F298ED5A2EF6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396B54-F7FD-4EF5-9066-58BD89F08FDD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ADFAB2-39E1-43B4-AA5F-345D755792E1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Flujo de construcción del circuito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EF3D02-ED4A-40F7-A9AB-D78972AB2A1C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12/14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48531" y="1200150"/>
            <a:ext cx="7342188" cy="4762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20057FD-69DA-4184-B32E-A9998DAC0443}"/>
              </a:ext>
            </a:extLst>
          </p:cNvPr>
          <p:cNvSpPr>
            <a:spLocks noGrp="1"/>
          </p:cNvSpPr>
          <p:nvPr/>
        </p:nvSpPr>
        <p:spPr>
          <a:xfrm>
            <a:off x="8620125" y="1571625"/>
            <a:ext cx="2333625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3233A"/>
                </a:solidFill>
              </a:defRPr>
            </a:pPr>
            <a:r>
              <a:rPr sz="1350" b="0" i="0">
                <a:solidFill>
                  <a:srgbClr val="13233A"/>
                </a:solidFill>
              </a:rPr>
              <a:t>• Entrada: descripción y parámetros</a:t>
            </a:r>
          </a:p>
          <a:p>
            <a:pPr algn="l">
              <a:defRPr sz="1350" b="0" i="0">
                <a:solidFill>
                  <a:srgbClr val="13233A"/>
                </a:solidFill>
              </a:defRPr>
            </a:pPr>
            <a:r>
              <a:rPr sz="1350" b="0" i="0">
                <a:solidFill>
                  <a:srgbClr val="13233A"/>
                </a:solidFill>
              </a:rPr>
              <a:t>• Cálculo: sub-bloques en paralelo</a:t>
            </a:r>
          </a:p>
          <a:p>
            <a:pPr algn="l">
              <a:defRPr sz="1350" b="0" i="0">
                <a:solidFill>
                  <a:srgbClr val="13233A"/>
                </a:solidFill>
              </a:defRPr>
            </a:pPr>
            <a:r>
              <a:rPr sz="1350" b="0" i="0">
                <a:solidFill>
                  <a:srgbClr val="13233A"/>
                </a:solidFill>
              </a:rPr>
              <a:t>• Simulación: PySpice y ngspice</a:t>
            </a:r>
          </a:p>
          <a:p>
            <a:pPr algn="l">
              <a:defRPr sz="1350" b="0" i="0">
                <a:solidFill>
                  <a:srgbClr val="13233A"/>
                </a:solidFill>
              </a:defRPr>
            </a:pPr>
            <a:r>
              <a:rPr sz="1350" b="0" i="0">
                <a:solidFill>
                  <a:srgbClr val="13233A"/>
                </a:solidFill>
              </a:rPr>
              <a:t>• Decisión: métricas y curador</a:t>
            </a:r>
          </a:p>
          <a:p>
            <a:pPr algn="l">
              <a:defRPr sz="1350" b="0" i="0">
                <a:solidFill>
                  <a:srgbClr val="13233A"/>
                </a:solidFill>
              </a:defRPr>
            </a:pPr>
            <a:r>
              <a:rPr sz="1350" b="0" i="0">
                <a:solidFill>
                  <a:srgbClr val="13233A"/>
                </a:solidFill>
              </a:rPr>
              <a:t>• Resultado: netlist e historial</a:t>
            </a:r>
          </a:p>
        </p:txBody>
      </p:sp>
    </p:spTree>
    <p:extLst>
      <p:ext uri="{BB962C8B-B14F-4D97-AF65-F5344CB8AC3E}">
        <p14:creationId xmlns:p14="http://schemas.microsoft.com/office/powerpoint/2010/main" val="24985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79F7203-1334-44F9-AACF-C82DDFB6A372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7F6200-BC83-4C3B-8B5E-914344FB3909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EFE553-3CFF-44B1-97E7-29F0C19856D0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21293D-F848-4C2F-84E7-D618C20B71EE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07F576-312C-473A-B68C-5C2F98E50459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Lazo de validación y ajuste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558BC-B37A-4EEA-A510-C6A1ED70EE3F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13/14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B213A4-464E-4AF4-AA4D-5D2E29BD6432}"/>
              </a:ext>
            </a:extLst>
          </p:cNvPr>
          <p:cNvSpPr>
            <a:spLocks noGrp="1"/>
          </p:cNvSpPr>
          <p:nvPr/>
        </p:nvSpPr>
        <p:spPr>
          <a:xfrm>
            <a:off x="4762500" y="2857500"/>
            <a:ext cx="2190750" cy="952500"/>
          </a:xfrm>
          <a:prstGeom prst="roundRect">
            <a:avLst>
              <a:gd name="adj" fmla="val 8000"/>
            </a:avLst>
          </a:prstGeom>
          <a:solidFill>
            <a:srgbClr val="7A003C"/>
          </a:solidFill>
          <a:ln w="9525">
            <a:solidFill>
              <a:srgbClr val="7A003C"/>
            </a:solidFill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Curador RL</a:t>
            </a:r>
          </a:p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acepta · ajusta · rechaza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6C02E3-59D1-4992-B0D2-C260558381FE}"/>
              </a:ext>
            </a:extLst>
          </p:cNvPr>
          <p:cNvSpPr>
            <a:spLocks noGrp="1"/>
          </p:cNvSpPr>
          <p:nvPr/>
        </p:nvSpPr>
        <p:spPr>
          <a:xfrm>
            <a:off x="1333500" y="1762125"/>
            <a:ext cx="16668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Netlist</a:t>
            </a:r>
          </a:p>
          <a:p>
            <a:pPr algn="ctr"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propuesto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150DD40-EC96-4087-BAC7-A9AFABB7AFFB}"/>
              </a:ext>
            </a:extLst>
          </p:cNvPr>
          <p:cNvSpPr>
            <a:spLocks noGrp="1"/>
          </p:cNvSpPr>
          <p:nvPr/>
        </p:nvSpPr>
        <p:spPr>
          <a:xfrm>
            <a:off x="4095749" y="1762125"/>
            <a:ext cx="16668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3233A"/>
                </a:solidFill>
              </a:defRPr>
            </a:pPr>
            <a:r>
              <a:rPr sz="1500" b="1" dirty="0" err="1">
                <a:solidFill>
                  <a:srgbClr val="13233A"/>
                </a:solidFill>
              </a:rPr>
              <a:t>Simulación</a:t>
            </a:r>
            <a:endParaRPr sz="1500" b="1" dirty="0">
              <a:solidFill>
                <a:srgbClr val="13233A"/>
              </a:solidFill>
            </a:endParaRPr>
          </a:p>
          <a:p>
            <a:pPr algn="ctr">
              <a:defRPr sz="1500" b="1">
                <a:solidFill>
                  <a:srgbClr val="13233A"/>
                </a:solidFill>
              </a:defRPr>
            </a:pPr>
            <a:r>
              <a:rPr sz="1500" b="1" dirty="0" err="1">
                <a:solidFill>
                  <a:srgbClr val="13233A"/>
                </a:solidFill>
              </a:rPr>
              <a:t>ngspice</a:t>
            </a:r>
            <a:endParaRPr sz="1500" b="1" dirty="0">
              <a:solidFill>
                <a:srgbClr val="13233A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715F3F-2527-4949-9B8A-42B57A21DF40}"/>
              </a:ext>
            </a:extLst>
          </p:cNvPr>
          <p:cNvSpPr>
            <a:spLocks noGrp="1"/>
          </p:cNvSpPr>
          <p:nvPr/>
        </p:nvSpPr>
        <p:spPr>
          <a:xfrm>
            <a:off x="7000875" y="1762125"/>
            <a:ext cx="16668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Métricas</a:t>
            </a:r>
          </a:p>
          <a:p>
            <a:pPr algn="ctr"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eléctricas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684E79-A959-451A-96DB-FFD6A9D953D6}"/>
              </a:ext>
            </a:extLst>
          </p:cNvPr>
          <p:cNvSpPr>
            <a:spLocks noGrp="1"/>
          </p:cNvSpPr>
          <p:nvPr/>
        </p:nvSpPr>
        <p:spPr>
          <a:xfrm>
            <a:off x="4095750" y="4762500"/>
            <a:ext cx="16668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Ajuste de</a:t>
            </a:r>
          </a:p>
          <a:p>
            <a:pPr algn="ctr"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valores</a:t>
            </a:r>
          </a:p>
        </p:txBody>
      </p:sp>
      <p:cxnSp>
        <p:nvCxnSpPr>
          <p:cNvPr id="29" name="Straight Arrow Connector 28"/>
          <p:cNvCxnSpPr>
            <a:stCxn id="8" idx="3"/>
            <a:endCxn id="9" idx="1"/>
          </p:cNvCxnSpPr>
          <p:nvPr/>
        </p:nvCxnSpPr>
        <p:spPr>
          <a:xfrm>
            <a:off x="3000375" y="2143125"/>
            <a:ext cx="1095374" cy="0"/>
          </a:xfrm>
          <a:prstGeom prst="straightConnector1">
            <a:avLst/>
          </a:prstGeom>
          <a:ln w="19050">
            <a:solidFill>
              <a:srgbClr val="667085"/>
            </a:solidFill>
            <a:prstDash val="solid"/>
            <a:tailEnd type="arrow" w="med" len="med"/>
          </a:ln>
        </p:spPr>
      </p:cxnSp>
      <p:cxnSp>
        <p:nvCxnSpPr>
          <p:cNvPr id="30" name="Straight Arrow Connector 29"/>
          <p:cNvCxnSpPr>
            <a:stCxn id="9" idx="3"/>
            <a:endCxn id="10" idx="1"/>
          </p:cNvCxnSpPr>
          <p:nvPr/>
        </p:nvCxnSpPr>
        <p:spPr>
          <a:xfrm>
            <a:off x="5762624" y="2143125"/>
            <a:ext cx="1238251" cy="0"/>
          </a:xfrm>
          <a:prstGeom prst="straightConnector1">
            <a:avLst/>
          </a:prstGeom>
          <a:ln w="19050">
            <a:solidFill>
              <a:srgbClr val="667085"/>
            </a:solidFill>
            <a:prstDash val="solid"/>
            <a:tailEnd type="arrow" w="med" len="med"/>
          </a:ln>
        </p:spPr>
      </p:cxnSp>
      <p:cxnSp>
        <p:nvCxnSpPr>
          <p:cNvPr id="31" name="Connector: Elbow 30"/>
          <p:cNvCxnSpPr>
            <a:stCxn id="10" idx="2"/>
            <a:endCxn id="7" idx="3"/>
          </p:cNvCxnSpPr>
          <p:nvPr/>
        </p:nvCxnSpPr>
        <p:spPr>
          <a:xfrm flipH="1">
            <a:off x="6953250" y="2524125"/>
            <a:ext cx="881063" cy="809625"/>
          </a:xfrm>
          <a:prstGeom prst="bentConnector5">
            <a:avLst>
              <a:gd name="adj1" fmla="val 0"/>
              <a:gd name="adj2" fmla="val 28235"/>
              <a:gd name="adj3" fmla="val 74054"/>
            </a:avLst>
          </a:prstGeom>
          <a:ln w="19050">
            <a:solidFill>
              <a:srgbClr val="B88A44"/>
            </a:solidFill>
            <a:prstDash val="solid"/>
            <a:tailEnd type="arrow" w="med" len="med"/>
          </a:ln>
        </p:spPr>
      </p:cxnSp>
      <p:cxnSp>
        <p:nvCxnSpPr>
          <p:cNvPr id="32" name="Connector: Elbow 31"/>
          <p:cNvCxnSpPr>
            <a:stCxn id="7" idx="2"/>
            <a:endCxn id="11" idx="0"/>
          </p:cNvCxnSpPr>
          <p:nvPr/>
        </p:nvCxnSpPr>
        <p:spPr>
          <a:xfrm flipH="1">
            <a:off x="4929188" y="3810000"/>
            <a:ext cx="928688" cy="9525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B88A44"/>
            </a:solidFill>
            <a:prstDash val="solid"/>
            <a:tailEnd type="arrow" w="med" len="med"/>
          </a:ln>
        </p:spPr>
      </p:cxnSp>
      <p:cxnSp>
        <p:nvCxnSpPr>
          <p:cNvPr id="33" name="Connector: Elbow 32"/>
          <p:cNvCxnSpPr>
            <a:stCxn id="11" idx="1"/>
            <a:endCxn id="8" idx="2"/>
          </p:cNvCxnSpPr>
          <p:nvPr/>
        </p:nvCxnSpPr>
        <p:spPr>
          <a:xfrm flipH="1" flipV="1">
            <a:off x="2166938" y="2524125"/>
            <a:ext cx="1928813" cy="2619375"/>
          </a:xfrm>
          <a:prstGeom prst="bentConnector2">
            <a:avLst/>
          </a:prstGeom>
          <a:ln w="19050">
            <a:solidFill>
              <a:srgbClr val="B88A44"/>
            </a:solidFill>
            <a:prstDash val="solid"/>
            <a:tailEnd type="arrow" w="med" len="med"/>
          </a:ln>
        </p:spPr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A4EE85B-3CDC-4452-A57C-5AF5682EFFDB}"/>
              </a:ext>
            </a:extLst>
          </p:cNvPr>
          <p:cNvSpPr>
            <a:spLocks noGrp="1"/>
          </p:cNvSpPr>
          <p:nvPr/>
        </p:nvSpPr>
        <p:spPr>
          <a:xfrm>
            <a:off x="8143875" y="4143375"/>
            <a:ext cx="233362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B88A44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El sistema no solo genera: valida físicamente y corrige dentro del ciclo.</a:t>
            </a:r>
          </a:p>
        </p:txBody>
      </p:sp>
    </p:spTree>
    <p:extLst>
      <p:ext uri="{BB962C8B-B14F-4D97-AF65-F5344CB8AC3E}">
        <p14:creationId xmlns:p14="http://schemas.microsoft.com/office/powerpoint/2010/main" val="2141235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8DB6470-E9BA-460C-9C9D-A4D1661DD7A5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71DE44-B922-4ECD-9AD5-8E805D55A96B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D32301-F73A-480E-93D5-CA8159A8795D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2133D2-AA70-455B-A38B-D2B138F53821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72EFE9-4F58-4FDF-A90B-B58F9810778B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Cierre técnico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38FABB-7CE3-4E2C-93AD-48F118AD051D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14/14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74DE5F-AB6D-43C9-B817-2C8E07153D8C}"/>
              </a:ext>
            </a:extLst>
          </p:cNvPr>
          <p:cNvSpPr>
            <a:spLocks noGrp="1"/>
          </p:cNvSpPr>
          <p:nvPr/>
        </p:nvSpPr>
        <p:spPr>
          <a:xfrm>
            <a:off x="1428750" y="1428750"/>
            <a:ext cx="71437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3233A"/>
                </a:solidFill>
              </a:defRPr>
            </a:pPr>
            <a:r>
              <a:rPr sz="1725" b="1">
                <a:solidFill>
                  <a:srgbClr val="13233A"/>
                </a:solidFill>
              </a:rPr>
              <a:t>1. Lenguaje natural</a:t>
            </a:r>
          </a:p>
          <a:p>
            <a:pPr algn="l">
              <a:defRPr sz="1725" b="1">
                <a:solidFill>
                  <a:srgbClr val="13233A"/>
                </a:solidFill>
              </a:defRPr>
            </a:pPr>
            <a:r>
              <a:rPr sz="1725" b="1">
                <a:solidFill>
                  <a:srgbClr val="13233A"/>
                </a:solidFill>
              </a:rPr>
              <a:t>se transforma en intención técnica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B6C6CDE-9E6D-4177-B11E-FDFC1C94583B}"/>
              </a:ext>
            </a:extLst>
          </p:cNvPr>
          <p:cNvSpPr>
            <a:spLocks noGrp="1"/>
          </p:cNvSpPr>
          <p:nvPr/>
        </p:nvSpPr>
        <p:spPr>
          <a:xfrm>
            <a:off x="1428750" y="2571750"/>
            <a:ext cx="71437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3233A"/>
                </a:solidFill>
              </a:defRPr>
            </a:pPr>
            <a:r>
              <a:rPr sz="1725" b="1">
                <a:solidFill>
                  <a:srgbClr val="13233A"/>
                </a:solidFill>
              </a:rPr>
              <a:t>2. Agentes</a:t>
            </a:r>
          </a:p>
          <a:p>
            <a:pPr algn="l">
              <a:defRPr sz="1725" b="1">
                <a:solidFill>
                  <a:srgbClr val="13233A"/>
                </a:solidFill>
              </a:defRPr>
            </a:pPr>
            <a:r>
              <a:rPr sz="1725" b="1">
                <a:solidFill>
                  <a:srgbClr val="13233A"/>
                </a:solidFill>
              </a:rPr>
              <a:t>dividen y ejecutan el proceso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0900D27-A735-460F-8AEF-ED41C195A6E4}"/>
              </a:ext>
            </a:extLst>
          </p:cNvPr>
          <p:cNvSpPr>
            <a:spLocks noGrp="1"/>
          </p:cNvSpPr>
          <p:nvPr/>
        </p:nvSpPr>
        <p:spPr>
          <a:xfrm>
            <a:off x="1428750" y="3714750"/>
            <a:ext cx="7143750" cy="781050"/>
          </a:xfrm>
          <a:prstGeom prst="roundRect">
            <a:avLst>
              <a:gd name="adj" fmla="val 9756"/>
            </a:avLst>
          </a:prstGeom>
          <a:solidFill>
            <a:srgbClr val="7A003C"/>
          </a:solidFill>
          <a:ln w="9525">
            <a:solidFill>
              <a:srgbClr val="7A003C"/>
            </a:solidFill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3. ngspice + curador</a:t>
            </a:r>
          </a:p>
          <a:p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cierran el lazo de validación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2C7F4C-1275-4A2D-8AF4-2D152DF4CF16}"/>
              </a:ext>
            </a:extLst>
          </p:cNvPr>
          <p:cNvSpPr>
            <a:spLocks noGrp="1"/>
          </p:cNvSpPr>
          <p:nvPr/>
        </p:nvSpPr>
        <p:spPr>
          <a:xfrm>
            <a:off x="1524000" y="5000625"/>
            <a:ext cx="7620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13233A"/>
                </a:solidFill>
              </a:defRPr>
            </a:pPr>
            <a:r>
              <a:rPr sz="1875" b="1" i="0">
                <a:solidFill>
                  <a:srgbClr val="13233A"/>
                </a:solidFill>
              </a:rPr>
              <a:t>La aportación no está en generar un circuito una sola vez, sino en integrar generación, simulación y ajuste dentro de un mismo flujo.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7C7ED1-822F-4648-AA67-26FCB60E1444}"/>
              </a:ext>
            </a:extLst>
          </p:cNvPr>
          <p:cNvSpPr>
            <a:spLocks noGrp="1"/>
          </p:cNvSpPr>
          <p:nvPr/>
        </p:nvSpPr>
        <p:spPr>
          <a:xfrm>
            <a:off x="3857625" y="581025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7A003C"/>
                </a:solidFill>
              </a:defRPr>
            </a:pPr>
            <a:r>
              <a:rPr sz="2250" b="1" i="0" dirty="0">
                <a:solidFill>
                  <a:srgbClr val="7A003C"/>
                </a:solidFill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05051507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627</Words>
  <Application>Microsoft Office PowerPoint</Application>
  <DocSecurity>0</DocSecurity>
  <PresentationFormat>Widescreen</PresentationFormat>
  <Paragraphs>143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Antonio De Jesus Torres Martinez</cp:lastModifiedBy>
  <cp:revision>1</cp:revision>
  <dcterms:created xsi:type="dcterms:W3CDTF">2026-06-28T01:29:48Z</dcterms:created>
  <dcterms:modified xsi:type="dcterms:W3CDTF">2026-06-28T01:36:00Z</dcterms:modified>
</cp:coreProperties>
</file>